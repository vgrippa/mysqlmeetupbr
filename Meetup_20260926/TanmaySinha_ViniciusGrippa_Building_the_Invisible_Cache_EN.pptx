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3" r:id="rId17"/>
    <p:sldId id="270" r:id="rId18"/>
    <p:sldId id="271" r:id="rId19"/>
    <p:sldId id="275"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notesViewPr>
    <p:cSldViewPr snapToGrid="0" snapToObjects="1">
      <p:cViewPr varScale="1">
        <p:scale>
          <a:sx n="72" d="100"/>
          <a:sy n="72" d="100"/>
        </p:scale>
        <p:origin x="3664"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Readyset (deep cache)</c:v>
                </c:pt>
              </c:strCache>
            </c:strRef>
          </c:tx>
          <c:spPr>
            <a:ln w="28575" cap="flat">
              <a:solidFill>
                <a:srgbClr val="E5472F"/>
              </a:solidFill>
              <a:prstDash val="solid"/>
              <a:round/>
            </a:ln>
            <a:effectLst/>
          </c:spPr>
          <c:marker>
            <c:symbol val="circle"/>
            <c:size val="6"/>
            <c:spPr>
              <a:solidFill>
                <a:srgbClr val="E5472F"/>
              </a:solidFill>
              <a:ln w="9525" cap="flat">
                <a:solidFill>
                  <a:srgbClr val="E5472F"/>
                </a:solidFill>
                <a:prstDash val="solid"/>
                <a:round/>
              </a:ln>
              <a:effectLst/>
            </c:spPr>
          </c:marker>
          <c:cat>
            <c:strRef>
              <c:f>Sheet1!$A$2:$A$11</c:f>
              <c:strCache>
                <c:ptCount val="10"/>
                <c:pt idx="0">
                  <c:v>140</c:v>
                </c:pt>
                <c:pt idx="1">
                  <c:v>280</c:v>
                </c:pt>
                <c:pt idx="2">
                  <c:v>560</c:v>
                </c:pt>
                <c:pt idx="3">
                  <c:v>1,120</c:v>
                </c:pt>
                <c:pt idx="4">
                  <c:v>2,240</c:v>
                </c:pt>
                <c:pt idx="5">
                  <c:v>3,360</c:v>
                </c:pt>
                <c:pt idx="6">
                  <c:v>4,480</c:v>
                </c:pt>
                <c:pt idx="7">
                  <c:v>5,460</c:v>
                </c:pt>
                <c:pt idx="8">
                  <c:v>6,720</c:v>
                </c:pt>
                <c:pt idx="9">
                  <c:v>8,960</c:v>
                </c:pt>
              </c:strCache>
            </c:strRef>
          </c:cat>
          <c:val>
            <c:numRef>
              <c:f>Sheet1!$B$2:$B$11</c:f>
              <c:numCache>
                <c:formatCode>General</c:formatCode>
                <c:ptCount val="10"/>
                <c:pt idx="0">
                  <c:v>0.36899999999999999</c:v>
                </c:pt>
                <c:pt idx="1">
                  <c:v>0.752</c:v>
                </c:pt>
                <c:pt idx="2">
                  <c:v>1.6419999999999999</c:v>
                </c:pt>
                <c:pt idx="3">
                  <c:v>2.8180000000000001</c:v>
                </c:pt>
                <c:pt idx="4">
                  <c:v>3.9609999999999999</c:v>
                </c:pt>
                <c:pt idx="5">
                  <c:v>4.1180000000000003</c:v>
                </c:pt>
                <c:pt idx="6">
                  <c:v>4.242</c:v>
                </c:pt>
                <c:pt idx="7">
                  <c:v>4.2990000000000004</c:v>
                </c:pt>
                <c:pt idx="8">
                  <c:v>4.3319999999999999</c:v>
                </c:pt>
                <c:pt idx="9">
                  <c:v>4.1109999999999998</c:v>
                </c:pt>
              </c:numCache>
            </c:numRef>
          </c:val>
          <c:smooth val="0"/>
          <c:extLst>
            <c:ext xmlns:c16="http://schemas.microsoft.com/office/drawing/2014/chart" uri="{C3380CC4-5D6E-409C-BE32-E72D297353CC}">
              <c16:uniqueId val="{00000000-FA9C-BC4F-B05F-35014ADE20ED}"/>
            </c:ext>
          </c:extLst>
        </c:ser>
        <c:ser>
          <c:idx val="1"/>
          <c:order val="1"/>
          <c:tx>
            <c:strRef>
              <c:f>Sheet1!$C$1</c:f>
              <c:strCache>
                <c:ptCount val="1"/>
                <c:pt idx="0">
                  <c:v>Percona MySQL 8.4</c:v>
                </c:pt>
              </c:strCache>
            </c:strRef>
          </c:tx>
          <c:spPr>
            <a:ln w="28575" cap="flat">
              <a:solidFill>
                <a:srgbClr val="2E6FA8"/>
              </a:solidFill>
              <a:prstDash val="solid"/>
              <a:round/>
            </a:ln>
            <a:effectLst/>
          </c:spPr>
          <c:marker>
            <c:symbol val="circle"/>
            <c:size val="6"/>
            <c:spPr>
              <a:solidFill>
                <a:srgbClr val="2E6FA8"/>
              </a:solidFill>
              <a:ln w="9525" cap="flat">
                <a:solidFill>
                  <a:srgbClr val="2E6FA8"/>
                </a:solidFill>
                <a:prstDash val="solid"/>
                <a:round/>
              </a:ln>
              <a:effectLst/>
            </c:spPr>
          </c:marker>
          <c:cat>
            <c:strRef>
              <c:f>Sheet1!$A$2:$A$11</c:f>
              <c:strCache>
                <c:ptCount val="10"/>
                <c:pt idx="0">
                  <c:v>140</c:v>
                </c:pt>
                <c:pt idx="1">
                  <c:v>280</c:v>
                </c:pt>
                <c:pt idx="2">
                  <c:v>560</c:v>
                </c:pt>
                <c:pt idx="3">
                  <c:v>1,120</c:v>
                </c:pt>
                <c:pt idx="4">
                  <c:v>2,240</c:v>
                </c:pt>
                <c:pt idx="5">
                  <c:v>3,360</c:v>
                </c:pt>
                <c:pt idx="6">
                  <c:v>4,480</c:v>
                </c:pt>
                <c:pt idx="7">
                  <c:v>5,460</c:v>
                </c:pt>
                <c:pt idx="8">
                  <c:v>6,720</c:v>
                </c:pt>
                <c:pt idx="9">
                  <c:v>8,960</c:v>
                </c:pt>
              </c:strCache>
            </c:strRef>
          </c:cat>
          <c:val>
            <c:numRef>
              <c:f>Sheet1!$C$2:$C$11</c:f>
              <c:numCache>
                <c:formatCode>General</c:formatCode>
                <c:ptCount val="10"/>
                <c:pt idx="0">
                  <c:v>0.39</c:v>
                </c:pt>
                <c:pt idx="1">
                  <c:v>0.80100000000000005</c:v>
                </c:pt>
                <c:pt idx="2">
                  <c:v>1.3029999999999999</c:v>
                </c:pt>
                <c:pt idx="3">
                  <c:v>1.5740000000000001</c:v>
                </c:pt>
                <c:pt idx="4">
                  <c:v>1.5660000000000001</c:v>
                </c:pt>
                <c:pt idx="5">
                  <c:v>1.552</c:v>
                </c:pt>
                <c:pt idx="6">
                  <c:v>1.5329999999999999</c:v>
                </c:pt>
                <c:pt idx="7">
                  <c:v>1.5089999999999999</c:v>
                </c:pt>
                <c:pt idx="8">
                  <c:v>1.468</c:v>
                </c:pt>
                <c:pt idx="9">
                  <c:v>1.3979999999999999</c:v>
                </c:pt>
              </c:numCache>
            </c:numRef>
          </c:val>
          <c:smooth val="0"/>
          <c:extLst>
            <c:ext xmlns:c16="http://schemas.microsoft.com/office/drawing/2014/chart" uri="{C3380CC4-5D6E-409C-BE32-E72D297353CC}">
              <c16:uniqueId val="{00000001-FA9C-BC4F-B05F-35014ADE20E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ED9D0"/>
            </a:solidFill>
            <a:prstDash val="solid"/>
            <a:round/>
          </a:ln>
        </c:spPr>
        <c:txPr>
          <a:bodyPr/>
          <a:lstStyle/>
          <a:p>
            <a:pPr>
              <a:defRPr sz="900" b="0" i="0" u="none" strike="noStrike">
                <a:solidFill>
                  <a:srgbClr val="6B6B6B"/>
                </a:solidFill>
                <a:latin typeface="Courier New"/>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6E2DA"/>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900" b="0" i="0" u="none" strike="noStrike">
                <a:solidFill>
                  <a:srgbClr val="6B6B6B"/>
                </a:solidFill>
                <a:latin typeface="Courier New"/>
              </a:defRPr>
            </a:pPr>
            <a:endParaRPr lang="en-US"/>
          </a:p>
        </c:txPr>
        <c:crossAx val="2094734554"/>
        <c:crosses val="autoZero"/>
        <c:crossBetween val="between"/>
        <c:majorUnit val="1"/>
      </c:valAx>
      <c:spPr>
        <a:solidFill>
          <a:srgbClr val="F6F4EF"/>
        </a:solidFill>
        <a:ln>
          <a:noFill/>
        </a:ln>
        <a:effectLst/>
      </c:spPr>
    </c:plotArea>
    <c:legend>
      <c:legendPos val="b"/>
      <c:overlay val="0"/>
      <c:txPr>
        <a:bodyPr/>
        <a:lstStyle/>
        <a:p>
          <a:pPr>
            <a:defRPr sz="1000">
              <a:solidFill>
                <a:srgbClr val="141414"/>
              </a:solidFill>
              <a:latin typeface="Arial"/>
              <a:cs typeface="Arial"/>
            </a:defRPr>
          </a:pPr>
          <a:endParaRPr lang="en-US"/>
        </a:p>
      </c:txPr>
    </c:legend>
    <c:plotVisOnly val="1"/>
    <c:dispBlanksAs val="span"/>
    <c:showDLblsOverMax val="1"/>
  </c:chart>
  <c:spPr>
    <a:solidFill>
      <a:srgbClr val="F6F4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32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Bom dia. Thank you for having me back.</a:t>
            </a:r>
          </a:p>
          <a:p>
            <a:endParaRPr dirty="0"/>
          </a:p>
          <a:p>
            <a:r>
              <a:rPr dirty="0"/>
              <a:t>Last year I stood here and complained about read replicas for twenty minutes. Some of you were kind enough to nod. This year I want to finish the thought: if not replicas, then what? And the answer, it turns out, is something MySQL already had. Twenty-five years ago.</a:t>
            </a:r>
          </a:p>
          <a:p>
            <a:endParaRPr dirty="0"/>
          </a:p>
          <a:p>
            <a:r>
              <a:rPr dirty="0"/>
              <a:t>By the end of the next fifteen minutes I want you to believe that a cache your application never sees, and nobody ever has to expire, is something you can run in production today. Then Vini is going to show it to you live, at a rate of reads that would normally take a rack of replicas to handle.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Quickly, who's talking. I've been at Readyset two and a half years, building a modern way to scale databases. Before that I was a product executive at IBM, where I looked after a good part of the data and AI portfolio, most relevantly Db2. So I've spent about twenty years watching databases get bigger and the bills get bigger faster.</a:t>
            </a:r>
          </a:p>
          <a:p>
            <a:endParaRPr dirty="0"/>
          </a:p>
          <a:p>
            <a:r>
              <a:rPr dirty="0"/>
              <a:t>In my spare time, I enjoy traveling and hiking. We just got back from a week of camping in Denali with my nine-year-old.</a:t>
            </a:r>
          </a:p>
          <a:p>
            <a:endParaRPr dirty="0"/>
          </a:p>
          <a:p>
            <a:r>
              <a:rPr dirty="0"/>
              <a:t>Today I cover the economics and the argument. Vini covers the technology. If I get something technically wrong, he has permission to correct me from the side of the stage.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And this is Vini. Lead Database Engineer at Readyset, ex-Percona on MySQL and MongoDB, co-author of Learning MySQL, and the organizer of the MySQL community here in Brazil. Most of you know him better than you know me.</a:t>
            </a:r>
          </a:p>
          <a:p>
            <a:endParaRPr dirty="0"/>
          </a:p>
          <a:p>
            <a:r>
              <a:rPr dirty="0"/>
              <a:t>He runs the demo at the end, on a real application, with writes in the path.</a:t>
            </a:r>
          </a:p>
        </p:txBody>
      </p:sp>
    </p:spTree>
    <p:extLst>
      <p:ext uri="{BB962C8B-B14F-4D97-AF65-F5344CB8AC3E}">
        <p14:creationId xmlns:p14="http://schemas.microsoft.com/office/powerpoint/2010/main" val="1216894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whole talk fits on this slide, so let me just read it to you.</a:t>
            </a:r>
          </a:p>
          <a:p>
            <a:endParaRPr dirty="0"/>
          </a:p>
          <a:p>
            <a:r>
              <a:rPr dirty="0"/>
              <a:t>One. Scaling reads by copying the whole database has become the most expensive way to do it, and it's still getting more expensive. I'll show you the numbers.</a:t>
            </a:r>
          </a:p>
          <a:p>
            <a:endParaRPr dirty="0"/>
          </a:p>
          <a:p>
            <a:r>
              <a:rPr dirty="0"/>
              <a:t>Two. The MySQL query cache was retired for how it was built, not for what it was trying to do. The specification still holds. Monty's up after me, so I'm going to be very polite about this part.</a:t>
            </a:r>
          </a:p>
          <a:p>
            <a:endParaRPr dirty="0"/>
          </a:p>
          <a:p>
            <a:r>
              <a:rPr dirty="0"/>
              <a:t>Three. One cache node in front of MySQL, with no change to your application, can serve millions of reads a second and can even stay current with modern incremental view maintenance implementations.</a:t>
            </a:r>
          </a:p>
          <a:p>
            <a:endParaRPr dirty="0"/>
          </a:p>
          <a:p>
            <a:r>
              <a:rPr dirty="0"/>
              <a:t>That quote at the top is the thing I hear most from customers: nobody sets out wanting a cache. It's like nobody sets out wanting a second monitor. Then you try to work off a laptop in a hotel lobby for a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start with the unit that matters. Not the size of the bill, the cost to serve one query. Instance price, times how many instances, divided by how many queries they answer.</a:t>
            </a:r>
          </a:p>
          <a:p>
            <a:endParaRPr dirty="0"/>
          </a:p>
          <a:p>
            <a:r>
              <a:rPr dirty="0"/>
              <a:t>The replica model grows the middle term one full copy at a time. Every replica holds the whole dataset, replays every write, and is billed as a full instance. So at best, cost per query stays flat as you grow. It never gets cheaper.</a:t>
            </a:r>
          </a:p>
          <a:p>
            <a:endParaRPr dirty="0"/>
          </a:p>
          <a:p>
            <a:r>
              <a:rPr dirty="0"/>
              <a:t>This year the first term moved. DRAM contract prices roughly doubled quarter over quarter in the first quarter, with another 58 to 63 percent projected for the second.</a:t>
            </a:r>
          </a:p>
          <a:p>
            <a:endParaRPr dirty="0"/>
          </a:p>
          <a:p>
            <a:r>
              <a:rPr dirty="0"/>
              <a:t>That's not a chart on a slide anymore, you're seeing this in your invoices. Hetzner raised prices up to 50 percent in April and said, in writing, that the cost of buying hardware had gone up dramatically because </a:t>
            </a:r>
            <a:r>
              <a:rPr dirty="0" err="1"/>
              <a:t>hyperscalers</a:t>
            </a:r>
            <a:r>
              <a:rPr dirty="0"/>
              <a:t> are signing long-term deals to lock up supply needed for AI inference.</a:t>
            </a:r>
          </a:p>
          <a:p>
            <a:endParaRPr dirty="0"/>
          </a:p>
          <a:p>
            <a:r>
              <a:rPr dirty="0"/>
              <a:t>And the people running databases feel it because spend is rising faster than throughput, and the cost per query keeps climbing.</a:t>
            </a:r>
          </a:p>
          <a:p>
            <a:endParaRPr dirty="0"/>
          </a:p>
          <a:p>
            <a:r>
              <a:rPr dirty="0"/>
              <a:t>[aside] After my talk last year a DBA found me in the hallway and said, very politely, 'I agree with everything you said, and I run eleven replicas.' I asked why eleven. He said, 'Because twelve didn't get approved.' I think about him a lot.</a:t>
            </a:r>
          </a:p>
          <a:p>
            <a:endParaRPr dirty="0"/>
          </a:p>
          <a:p>
            <a:r>
              <a:rPr dirty="0"/>
              <a:t>The replica was always a coarse way to buy read capacity. What has changed in the past year is the price of the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Price is the part you can see. This year there's a second constraint, and it's newer.</a:t>
            </a:r>
          </a:p>
          <a:p>
            <a:endParaRPr dirty="0"/>
          </a:p>
          <a:p>
            <a:r>
              <a:rPr dirty="0"/>
              <a:t>An infrastructure engineer at a large developer platform, who I can't name, told us more or less this: I cannot get more hardware for replicas. I am told there isn't any.</a:t>
            </a:r>
          </a:p>
          <a:p>
            <a:endParaRPr dirty="0"/>
          </a:p>
          <a:p>
            <a:r>
              <a:rPr dirty="0"/>
              <a:t>That's becoming normal. 57 percent of DRAM shipments are going to data centers now. SK Hynix sold its entire 2026 output before 2026 started. And its CEO told Bloomberg in July that he expects the shortage to last beyond 2030.</a:t>
            </a:r>
          </a:p>
          <a:p>
            <a:endParaRPr dirty="0"/>
          </a:p>
          <a:p>
            <a:r>
              <a:rPr dirty="0"/>
              <a:t>The replica model has a hidden assumption: that another copy can be bought. In 2026 the queue for infrastructure forms behind the </a:t>
            </a:r>
            <a:r>
              <a:rPr dirty="0" err="1"/>
              <a:t>hyperscalers</a:t>
            </a:r>
            <a:r>
              <a:rPr dirty="0"/>
              <a:t>, and even inside the </a:t>
            </a:r>
            <a:r>
              <a:rPr dirty="0" err="1"/>
              <a:t>hyperscalers</a:t>
            </a:r>
            <a:r>
              <a:rPr dirty="0"/>
              <a:t>, AI is at the front of the line. A database team is somewhere near the back, holding a purchase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back to last year. Three things I said then, and still stand by. Replicas run the same plan on the same data, so a slow query stays slow on every copy. Each replica adds CPU, I/O and network; two replicas can mean three times the traffic. And every replica is one more full database to patch, monitor and fail over at three in the morning.</a:t>
            </a:r>
          </a:p>
          <a:p>
            <a:endParaRPr dirty="0"/>
          </a:p>
          <a:p>
            <a:r>
              <a:rPr dirty="0"/>
              <a:t>We believe the solution is a query cache with results stored in memory.</a:t>
            </a:r>
          </a:p>
          <a:p>
            <a:endParaRPr dirty="0"/>
          </a:p>
          <a:p>
            <a:r>
              <a:rPr dirty="0"/>
              <a:t>We did not invent that. MySQL shipped it in 2001. The design just couldn't keep up with what happened to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what MySQL shipped. On the second of December 2001, Monty committed the query cache to the 4.0 tree. Identical statement in, identical result out, straight from memory, no change to the application. Any write to a table invalidated the cached statements that touched it.</a:t>
            </a:r>
          </a:p>
          <a:p>
            <a:endParaRPr dirty="0"/>
          </a:p>
          <a:p>
            <a:r>
              <a:rPr dirty="0"/>
              <a:t>[aside] Monty is up next, so I'm going to say nice things about a commit from 2001 and then leave the stage quickly.</a:t>
            </a:r>
          </a:p>
          <a:p>
            <a:endParaRPr dirty="0"/>
          </a:p>
          <a:p>
            <a:r>
              <a:rPr dirty="0"/>
              <a:t>As a specification, that is still exactly what we want. A cache the application never sees, kept honest by writes. That's what we mean by an invisible cache. It shipped in 4.0, went default-off in 5.6, and left in 8.0. Sixteen years in the server. So the question is why it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reasons, and both are about how it was built.</a:t>
            </a:r>
          </a:p>
          <a:p>
            <a:endParaRPr dirty="0"/>
          </a:p>
          <a:p>
            <a:r>
              <a:rPr dirty="0"/>
              <a:t>First, one lock. A single mutex guarded the whole structure. Every hit, every miss, every insert, every invalidation waited its turn. With one or two cores in 2001, nobody noticed. On a 96-thread machine it is the bottleneck. Oracle's retirement post says it in plain words: known to not scale with high-throughput workloads on multi-core machines.</a:t>
            </a:r>
          </a:p>
          <a:p>
            <a:endParaRPr dirty="0"/>
          </a:p>
          <a:p>
            <a:r>
              <a:rPr dirty="0"/>
              <a:t>Second, coarse invalidation. Any write to a table threw away every cached statement that touched that table, whether or not the result had changed. Under any real write rate the cache was mostly empty and mostly overhead.</a:t>
            </a:r>
          </a:p>
          <a:p>
            <a:endParaRPr dirty="0"/>
          </a:p>
          <a:p>
            <a:r>
              <a:rPr dirty="0"/>
              <a:t>And the guidance on the way out was explicit: move caching closer to the client. With a query proxy in the middle, or do it in the application.</a:t>
            </a:r>
          </a:p>
          <a:p>
            <a:endParaRPr dirty="0"/>
          </a:p>
          <a:p>
            <a:r>
              <a:rPr dirty="0"/>
              <a:t>Which is what everyone did.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pattern most production codebases carry today. Build a key. Look it up. On a miss, run the SQL. Write it back with an expiry. Repeat for every read worth caching.</a:t>
            </a:r>
          </a:p>
          <a:p>
            <a:endParaRPr dirty="0"/>
          </a:p>
          <a:p>
            <a:r>
              <a:rPr dirty="0"/>
              <a:t>Each of those steps hides a distributed-systems problem. The key has to carry everything SQL knows about the session, or one user gets another user's rows. The expiry is a guess about the data, made when you write the code. And misses arrive together: Facebook had to add a lease protocol to </a:t>
            </a:r>
            <a:r>
              <a:rPr dirty="0" err="1"/>
              <a:t>memcache</a:t>
            </a:r>
            <a:r>
              <a:rPr dirty="0"/>
              <a:t> to bring that spike down from 17,000 database queries a second to 1,300.</a:t>
            </a:r>
          </a:p>
          <a:p>
            <a:endParaRPr dirty="0"/>
          </a:p>
          <a:p>
            <a:r>
              <a:rPr dirty="0"/>
              <a:t>So caching moved out of the database and became a distributed-systems project for the application team. A reasonable quick fix in 2017; it has taken fifteen years and a hardware shortage to notice it needs fixing properly. That's where we come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me state what we want as an invariant, because a feature list is easy to fudge and an invariant isn't.</a:t>
            </a:r>
          </a:p>
          <a:p>
            <a:endParaRPr dirty="0"/>
          </a:p>
          <a:p>
            <a:r>
              <a:rPr dirty="0"/>
              <a:t>A system with caches must produce exactly the same results as the same system with the caches removed. A cache may change how long an answer takes. It may never change the answer.</a:t>
            </a:r>
          </a:p>
          <a:p>
            <a:endParaRPr dirty="0"/>
          </a:p>
          <a:p>
            <a:r>
              <a:rPr dirty="0"/>
              <a:t>Four properties follow. Transparent: SQL in, SQL out, one connection string changes and nothing else. Change-driven: freshness follows the data changing, not a clock. Safe under load: concurrent misses collapse to one, and every hit is checked against the caller's permissions. Unowned: no team writes invalidation rules or tunes intervals.</a:t>
            </a:r>
          </a:p>
          <a:p>
            <a:endParaRPr dirty="0"/>
          </a:p>
          <a:p>
            <a:r>
              <a:rPr dirty="0"/>
              <a:t>Hold those four. Next slide, I score the three ways people cache SQL today against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Three ways people cache SQL today, scored against those four properties.</a:t>
            </a:r>
          </a:p>
          <a:p>
            <a:endParaRPr dirty="0"/>
          </a:p>
          <a:p>
            <a:r>
              <a:rPr dirty="0"/>
              <a:t>The 2001 query cache does better than its reputation: invisible to the application, change-driven if bluntly, and nobody owned it. Where it fails is under load: one lock, fifty milliseconds, then it gives up. Compare that with the commonly accepted Redis/</a:t>
            </a:r>
            <a:r>
              <a:rPr dirty="0" err="1"/>
              <a:t>Valkey</a:t>
            </a:r>
            <a:r>
              <a:rPr dirty="0"/>
              <a:t> based solution in the right hand column - the hand-built cache, misses all four.</a:t>
            </a:r>
          </a:p>
          <a:p>
            <a:endParaRPr dirty="0"/>
          </a:p>
          <a:p>
            <a:r>
              <a:rPr dirty="0"/>
              <a:t>Every hollow mark is a distributed-systems problem left to whoever runs the cache.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how we meet all four. It's called the Readyset Platform, and for today it's three parts.</a:t>
            </a:r>
          </a:p>
          <a:p>
            <a:endParaRPr dirty="0"/>
          </a:p>
          <a:p>
            <a:r>
              <a:rPr dirty="0"/>
              <a:t>QueryPilot sits on the wire in front of MySQL, where it sees every statement and the query frequency at the same time. It routes each statement, decides how to serve it, and revisits that decision as traffic moves.</a:t>
            </a:r>
          </a:p>
          <a:p>
            <a:endParaRPr dirty="0"/>
          </a:p>
          <a:p>
            <a:r>
              <a:rPr dirty="0"/>
              <a:t>The cache underneath it has two engines, and I'll take them one at a time on the next two slides: results in memory with a learned refresh, and views maintained from the replication stream. QueryPilot picks per query.</a:t>
            </a:r>
          </a:p>
          <a:p>
            <a:endParaRPr dirty="0"/>
          </a:p>
          <a:p>
            <a:r>
              <a:rPr dirty="0"/>
              <a:t>Guard checks what a query is allowed to touch before anything reaches the database, so the safety verdict is settled before the performance one.</a:t>
            </a:r>
          </a:p>
          <a:p>
            <a:endParaRPr dirty="0"/>
          </a:p>
          <a:p>
            <a:r>
              <a:rPr dirty="0"/>
              <a:t>From the application's side, none of this exists. SQL in, SQL out, one connection string changed. Freshness is a ceiling you set per query. And it fails open: any doubt inside the cache, the query goes to the database. That's the invariant from two slides ago, met by construction.</a:t>
            </a:r>
          </a:p>
          <a:p>
            <a:endParaRPr dirty="0"/>
          </a:p>
          <a:p>
            <a:r>
              <a:rPr dirty="0"/>
              <a:t>For this room: MySQL wire protocol. It also speaks Postgres. That's a footnote today.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First engine. Internally we call it the shallow cache; plainly, it's the MySQL query cache rebuilt for the machine we have now, and built for SQL rather than borrowed from a key-value store. The part I want to spend my minute on is the fourth property.</a:t>
            </a:r>
          </a:p>
          <a:p>
            <a:endParaRPr dirty="0"/>
          </a:p>
          <a:p>
            <a:r>
              <a:rPr dirty="0"/>
              <a:t>Remember the hand-built cache: someone picks an expiry for every key, and it's a guess. Here nobody picks. Every time a result is refreshed, the cache checks whether the answer changed. If it did, that result's refresh interval shrinks; if it didn't, it grows. Each result finds its own rhythm, inside a ceiling. That's the adaptive cache.</a:t>
            </a:r>
          </a:p>
          <a:p>
            <a:endParaRPr dirty="0"/>
          </a:p>
          <a:p>
            <a:r>
              <a:rPr dirty="0"/>
              <a:t>So the fourth property, unowned, is met here: no team tunes an interval, and with automatic caching you set nothing at all. It's the property the last twenty years of caching put on the application team, and it's the one this engine takes back. The next slide is the second engine, where the clock disappears entirely.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Second engine. We call this one the deep cache, and it removes the clock entirely.</a:t>
            </a:r>
          </a:p>
          <a:p>
            <a:endParaRPr dirty="0"/>
          </a:p>
          <a:p>
            <a:r>
              <a:rPr dirty="0"/>
              <a:t>It's fed by the replication stream, the same </a:t>
            </a:r>
            <a:r>
              <a:rPr dirty="0" err="1"/>
              <a:t>binlog</a:t>
            </a:r>
            <a:r>
              <a:rPr dirty="0"/>
              <a:t> a replica consumes, into a dataflow graph where each SQL operator is a node. The cost of a write is proportional to what changed, not to the size of the table, and only keys that have been queried are materialized, so it holds your hot set, not your dataset. None of the theory is ours: materialized view maintenance from the 1990s, and the Noria work at MIT in 2018.</a:t>
            </a:r>
          </a:p>
          <a:p>
            <a:endParaRPr dirty="0"/>
          </a:p>
          <a:p>
            <a:r>
              <a:rPr dirty="0"/>
              <a:t>So there is no expiry to set. Two engines, one node in front of MySQL. The question becomes how much that one node can do. This is how the invisible cache comes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on the same grid. The Readyset Platform, scored against the four properties.</a:t>
            </a:r>
          </a:p>
          <a:p>
            <a:endParaRPr lang="en-US" dirty="0"/>
          </a:p>
          <a:p>
            <a:r>
              <a:rPr lang="en-US" dirty="0"/>
              <a:t>Transparent: SQL in, SQL out, one connection string. Change-driven: the cache is told what changed, by the adaptive refresh or by the replication stream. Safe under load: misses collapse to one, and Guard checks every hit against the caller's permissions. Unowned: nobody writes an invalidation rule or tunes an interval.</a:t>
            </a:r>
          </a:p>
          <a:p>
            <a:endParaRPr lang="en-US" dirty="0"/>
          </a:p>
          <a:p>
            <a:r>
              <a:rPr lang="en-US" dirty="0"/>
              <a:t>Four for four. This is the query cache MySQL specified in 2001, built for the MySQL deployments of 2026. Before handing off to Vini, I want to close with one final slide that tests how far a single cache node can go.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Last month Marcelo asked a different question from the usual benchmark. Not how much faster the cache is than the database, but how much work one cache node can do before the cache itself is the limit.</a:t>
            </a:r>
          </a:p>
          <a:p>
            <a:endParaRPr dirty="0"/>
          </a:p>
          <a:p>
            <a:r>
              <a:rPr dirty="0"/>
              <a:t>On one 48-core machine: 4.38 million queries per second, a p95 of 2.26 milliseconds, 2.9 billion requests, zero misses. Same host, same day, Percona MySQL 8.4 peaked at 1.57 million, so about 2.75 times, at roughly a third of the CPU per query. And I'll say the caveats before you do: this is done in a test environment to gauge the upper limits.</a:t>
            </a:r>
          </a:p>
          <a:p>
            <a:endParaRPr dirty="0"/>
          </a:p>
          <a:p>
            <a:r>
              <a:rPr dirty="0"/>
              <a:t>But it answers the question I set up: one node can carry the read path that used to take a rack of replicas. At this ceiling the machine runs out of network CPU before the cache runs out of anything. Vini is going to show you what that looks like on a much smaller box, with a real application, and writes in the path.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That's the argument. Copying the database to scale reads multiplies the one component whose price doubled this year, and the cache MySQL retired had the right specification all along.</a:t>
            </a:r>
          </a:p>
          <a:p>
            <a:endParaRPr dirty="0"/>
          </a:p>
          <a:p>
            <a:r>
              <a:rPr dirty="0"/>
              <a:t>Vini, over to you. Three things to watch. Reads per second before and after. What the primary's CPU does while the cache is serving. And what a cached answer does when a write lands, because nobody is going to expire anything.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go: Readyset is back at 11:10 with Too Much ACID, Not Enough Reality, a guided tour of what your SELECT thinks happened. </a:t>
            </a:r>
            <a:r>
              <a:rPr lang="en-US" dirty="0" err="1"/>
              <a:t>Obrigado</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1737360"/>
            <a:ext cx="7315200" cy="274320"/>
          </a:xfrm>
          <a:prstGeom prst="rect">
            <a:avLst/>
          </a:prstGeom>
          <a:noFill/>
          <a:ln/>
        </p:spPr>
        <p:txBody>
          <a:bodyPr wrap="square" lIns="0" tIns="0" rIns="0" bIns="0" rtlCol="0" anchor="ctr"/>
          <a:lstStyle/>
          <a:p>
            <a:pPr marL="0" indent="0">
              <a:buNone/>
            </a:pPr>
            <a:r>
              <a:rPr lang="en-US" sz="1200" dirty="0">
                <a:solidFill>
                  <a:srgbClr val="E5472F"/>
                </a:solidFill>
                <a:latin typeface="Courier New" pitchFamily="34" charset="0"/>
                <a:ea typeface="Courier New" pitchFamily="34" charset="-122"/>
                <a:cs typeface="Courier New" pitchFamily="34" charset="-120"/>
              </a:rPr>
              <a:t>MySQL Brazil 2026</a:t>
            </a:r>
            <a:endParaRPr lang="en-US" sz="1200" dirty="0"/>
          </a:p>
        </p:txBody>
      </p:sp>
      <p:sp>
        <p:nvSpPr>
          <p:cNvPr id="6" name="Text 4"/>
          <p:cNvSpPr txBox="1"/>
          <p:nvPr/>
        </p:nvSpPr>
        <p:spPr>
          <a:xfrm>
            <a:off x="548640" y="2057400"/>
            <a:ext cx="10515600" cy="1463040"/>
          </a:xfrm>
          <a:prstGeom prst="rect">
            <a:avLst/>
          </a:prstGeom>
          <a:noFill/>
          <a:ln/>
        </p:spPr>
        <p:txBody>
          <a:bodyPr wrap="square" lIns="0" tIns="0" rIns="0" bIns="0" rtlCol="0" anchor="t"/>
          <a:lstStyle/>
          <a:p>
            <a:pPr marL="0" indent="0">
              <a:buNone/>
            </a:pPr>
            <a:r>
              <a:rPr lang="en-US" sz="5400" b="1" dirty="0">
                <a:solidFill>
                  <a:srgbClr val="FFFFFF"/>
                </a:solidFill>
                <a:latin typeface="Arial" pitchFamily="34" charset="0"/>
                <a:ea typeface="Arial" pitchFamily="34" charset="-122"/>
                <a:cs typeface="Arial" pitchFamily="34" charset="-120"/>
              </a:rPr>
              <a:t>Building the </a:t>
            </a:r>
            <a:r>
              <a:rPr lang="en-US" sz="5400" b="1" dirty="0">
                <a:solidFill>
                  <a:srgbClr val="E5472F"/>
                </a:solidFill>
                <a:latin typeface="Arial" pitchFamily="34" charset="0"/>
                <a:ea typeface="Arial" pitchFamily="34" charset="-122"/>
                <a:cs typeface="Arial" pitchFamily="34" charset="-120"/>
              </a:rPr>
              <a:t>Invisible Cache</a:t>
            </a:r>
            <a:endParaRPr lang="en-US" sz="5400" dirty="0"/>
          </a:p>
        </p:txBody>
      </p:sp>
      <p:sp>
        <p:nvSpPr>
          <p:cNvPr id="7" name="Text 5"/>
          <p:cNvSpPr txBox="1"/>
          <p:nvPr/>
        </p:nvSpPr>
        <p:spPr>
          <a:xfrm>
            <a:off x="548640" y="3611880"/>
            <a:ext cx="9601200" cy="640080"/>
          </a:xfrm>
          <a:prstGeom prst="rect">
            <a:avLst/>
          </a:prstGeom>
          <a:noFill/>
          <a:ln/>
        </p:spPr>
        <p:txBody>
          <a:bodyPr wrap="square" lIns="0" tIns="0" rIns="0" bIns="0" rtlCol="0" anchor="t"/>
          <a:lstStyle/>
          <a:p>
            <a:pPr marL="0" indent="0">
              <a:buNone/>
            </a:pPr>
            <a:r>
              <a:rPr lang="en-US" sz="1700" i="1" dirty="0">
                <a:solidFill>
                  <a:srgbClr val="A3A3A3"/>
                </a:solidFill>
                <a:latin typeface="Arial" pitchFamily="34" charset="0"/>
                <a:ea typeface="Arial" pitchFamily="34" charset="-122"/>
                <a:cs typeface="Arial" pitchFamily="34" charset="-120"/>
              </a:rPr>
              <a:t>Why copying the database is no longer the way to scale reads, and what takes the query cache’s place.</a:t>
            </a:r>
            <a:endParaRPr lang="en-US" sz="1700" dirty="0"/>
          </a:p>
        </p:txBody>
      </p:sp>
      <p:sp>
        <p:nvSpPr>
          <p:cNvPr id="8" name="Shape 6"/>
          <p:cNvSpPr/>
          <p:nvPr/>
        </p:nvSpPr>
        <p:spPr>
          <a:xfrm>
            <a:off x="548640" y="4617720"/>
            <a:ext cx="548640" cy="0"/>
          </a:xfrm>
          <a:prstGeom prst="line">
            <a:avLst/>
          </a:prstGeom>
          <a:noFill/>
          <a:ln w="25400">
            <a:solidFill>
              <a:srgbClr val="E5472F"/>
            </a:solidFill>
            <a:prstDash val="solid"/>
          </a:ln>
        </p:spPr>
        <p:txBody>
          <a:bodyPr/>
          <a:lstStyle/>
          <a:p>
            <a:endParaRPr lang="en-US"/>
          </a:p>
        </p:txBody>
      </p:sp>
      <p:sp>
        <p:nvSpPr>
          <p:cNvPr id="9" name="Text 7"/>
          <p:cNvSpPr txBox="1"/>
          <p:nvPr/>
        </p:nvSpPr>
        <p:spPr>
          <a:xfrm>
            <a:off x="548640" y="4709160"/>
            <a:ext cx="54864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Tanmay Sinha</a:t>
            </a:r>
            <a:endParaRPr lang="en-US" sz="1600" dirty="0"/>
          </a:p>
        </p:txBody>
      </p:sp>
      <p:sp>
        <p:nvSpPr>
          <p:cNvPr id="10" name="Text 8"/>
          <p:cNvSpPr txBox="1"/>
          <p:nvPr/>
        </p:nvSpPr>
        <p:spPr>
          <a:xfrm>
            <a:off x="548640" y="5029200"/>
            <a:ext cx="5486400" cy="274320"/>
          </a:xfrm>
          <a:prstGeom prst="rect">
            <a:avLst/>
          </a:prstGeom>
          <a:noFill/>
          <a:ln/>
        </p:spPr>
        <p:txBody>
          <a:bodyPr wrap="square" lIns="0" tIns="0" rIns="0" bIns="0" rtlCol="0" anchor="ctr"/>
          <a:lstStyle/>
          <a:p>
            <a:pPr marL="0" indent="0">
              <a:buNone/>
            </a:pPr>
            <a:r>
              <a:rPr lang="en-US" sz="1300" dirty="0">
                <a:solidFill>
                  <a:srgbClr val="A3A3A3"/>
                </a:solidFill>
                <a:latin typeface="Arial" pitchFamily="34" charset="0"/>
                <a:ea typeface="Arial" pitchFamily="34" charset="-122"/>
                <a:cs typeface="Arial" pitchFamily="34" charset="-120"/>
              </a:rPr>
              <a:t>VP of Product · Readyset</a:t>
            </a:r>
            <a:endParaRPr lang="en-US" sz="1300" dirty="0"/>
          </a:p>
        </p:txBody>
      </p:sp>
      <p:sp>
        <p:nvSpPr>
          <p:cNvPr id="11" name="Text 9"/>
          <p:cNvSpPr txBox="1"/>
          <p:nvPr/>
        </p:nvSpPr>
        <p:spPr>
          <a:xfrm>
            <a:off x="548640" y="5440680"/>
            <a:ext cx="54864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Vinicius Grippa</a:t>
            </a:r>
            <a:endParaRPr lang="en-US" sz="1600" dirty="0"/>
          </a:p>
        </p:txBody>
      </p:sp>
      <p:sp>
        <p:nvSpPr>
          <p:cNvPr id="12" name="Text 10"/>
          <p:cNvSpPr txBox="1"/>
          <p:nvPr/>
        </p:nvSpPr>
        <p:spPr>
          <a:xfrm>
            <a:off x="548640" y="5760720"/>
            <a:ext cx="5486400" cy="274320"/>
          </a:xfrm>
          <a:prstGeom prst="rect">
            <a:avLst/>
          </a:prstGeom>
          <a:noFill/>
          <a:ln/>
        </p:spPr>
        <p:txBody>
          <a:bodyPr wrap="square" lIns="0" tIns="0" rIns="0" bIns="0" rtlCol="0" anchor="ctr"/>
          <a:lstStyle/>
          <a:p>
            <a:pPr marL="0" indent="0">
              <a:buNone/>
            </a:pPr>
            <a:r>
              <a:rPr lang="en-US" sz="1300" dirty="0">
                <a:solidFill>
                  <a:srgbClr val="A3A3A3"/>
                </a:solidFill>
                <a:latin typeface="Arial" pitchFamily="34" charset="0"/>
                <a:ea typeface="Arial" pitchFamily="34" charset="-122"/>
                <a:cs typeface="Arial" pitchFamily="34" charset="-120"/>
              </a:rPr>
              <a:t>Lead Database Engineer · Readyset</a:t>
            </a:r>
            <a:endParaRPr lang="en-US" sz="1300" dirty="0"/>
          </a:p>
        </p:txBody>
      </p:sp>
      <p:sp>
        <p:nvSpPr>
          <p:cNvPr id="13" name="Shape 11"/>
          <p:cNvSpPr/>
          <p:nvPr/>
        </p:nvSpPr>
        <p:spPr>
          <a:xfrm>
            <a:off x="9326880" y="4480560"/>
            <a:ext cx="1097280" cy="1097280"/>
          </a:xfrm>
          <a:prstGeom prst="roundRect">
            <a:avLst>
              <a:gd name="adj" fmla="val 8333"/>
            </a:avLst>
          </a:prstGeom>
          <a:solidFill>
            <a:srgbClr val="232323"/>
          </a:solidFill>
          <a:ln w="12700">
            <a:solidFill>
              <a:srgbClr val="232323"/>
            </a:solidFill>
            <a:prstDash val="solid"/>
          </a:ln>
        </p:spPr>
        <p:txBody>
          <a:bodyPr/>
          <a:lstStyle/>
          <a:p>
            <a:endParaRPr lang="en-US"/>
          </a:p>
        </p:txBody>
      </p:sp>
      <p:sp>
        <p:nvSpPr>
          <p:cNvPr id="14" name="Shape 12"/>
          <p:cNvSpPr/>
          <p:nvPr/>
        </p:nvSpPr>
        <p:spPr>
          <a:xfrm>
            <a:off x="10332720" y="3474720"/>
            <a:ext cx="1097280" cy="1097280"/>
          </a:xfrm>
          <a:prstGeom prst="roundRect">
            <a:avLst>
              <a:gd name="adj" fmla="val 8333"/>
            </a:avLst>
          </a:prstGeom>
          <a:solidFill>
            <a:srgbClr val="232323"/>
          </a:solidFill>
          <a:ln w="12700">
            <a:solidFill>
              <a:srgbClr val="232323"/>
            </a:solidFill>
            <a:prstDash val="solid"/>
          </a:ln>
        </p:spPr>
        <p:txBody>
          <a:bodyPr/>
          <a:lstStyle/>
          <a:p>
            <a:endParaRPr lang="en-US"/>
          </a:p>
        </p:txBody>
      </p:sp>
      <p:pic>
        <p:nvPicPr>
          <p:cNvPr id="15" name="Picture 14"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 about the speaker</a:t>
            </a:r>
            <a:endParaRPr lang="en-US" sz="1100" dirty="0"/>
          </a:p>
        </p:txBody>
      </p:sp>
      <p:sp>
        <p:nvSpPr>
          <p:cNvPr id="6" name="Text 4"/>
          <p:cNvSpPr txBox="1"/>
          <p:nvPr/>
        </p:nvSpPr>
        <p:spPr>
          <a:xfrm>
            <a:off x="548640" y="731520"/>
            <a:ext cx="11094415" cy="640080"/>
          </a:xfrm>
          <a:prstGeom prst="rect">
            <a:avLst/>
          </a:prstGeom>
          <a:noFill/>
          <a:ln/>
        </p:spPr>
        <p:txBody>
          <a:bodyPr wrap="square" lIns="0" tIns="0" rIns="0" bIns="0" rtlCol="0" anchor="t"/>
          <a:lstStyle/>
          <a:p>
            <a:pPr marL="0" indent="0">
              <a:lnSpc>
                <a:spcPct val="105000"/>
              </a:lnSpc>
              <a:buNone/>
            </a:pPr>
            <a:r>
              <a:rPr lang="en-US" sz="3400" b="1" dirty="0">
                <a:solidFill>
                  <a:srgbClr val="141414"/>
                </a:solidFill>
                <a:latin typeface="Arial" pitchFamily="34" charset="0"/>
                <a:ea typeface="Arial" pitchFamily="34" charset="-122"/>
                <a:cs typeface="Arial" pitchFamily="34" charset="-120"/>
              </a:rPr>
              <a:t>Tanmay Sinha</a:t>
            </a:r>
            <a:endParaRPr lang="en-US" sz="3400" dirty="0"/>
          </a:p>
        </p:txBody>
      </p:sp>
      <p:sp>
        <p:nvSpPr>
          <p:cNvPr id="7" name="Shape 5"/>
          <p:cNvSpPr/>
          <p:nvPr/>
        </p:nvSpPr>
        <p:spPr>
          <a:xfrm>
            <a:off x="548640" y="1417320"/>
            <a:ext cx="11094415" cy="0"/>
          </a:xfrm>
          <a:prstGeom prst="line">
            <a:avLst/>
          </a:prstGeom>
          <a:noFill/>
          <a:ln w="9525">
            <a:solidFill>
              <a:srgbClr val="141414"/>
            </a:solidFill>
            <a:prstDash val="solid"/>
          </a:ln>
        </p:spPr>
        <p:txBody>
          <a:bodyPr/>
          <a:lstStyle/>
          <a:p>
            <a:endParaRPr lang="en-US"/>
          </a:p>
        </p:txBody>
      </p:sp>
      <p:sp>
        <p:nvSpPr>
          <p:cNvPr id="8" name="Text 6"/>
          <p:cNvSpPr txBox="1"/>
          <p:nvPr/>
        </p:nvSpPr>
        <p:spPr>
          <a:xfrm>
            <a:off x="548640" y="1554480"/>
            <a:ext cx="5486400" cy="320040"/>
          </a:xfrm>
          <a:prstGeom prst="rect">
            <a:avLst/>
          </a:prstGeom>
          <a:noFill/>
          <a:ln/>
        </p:spPr>
        <p:txBody>
          <a:bodyPr wrap="square" lIns="0" tIns="0" rIns="0" bIns="0" rtlCol="0" anchor="ctr"/>
          <a:lstStyle/>
          <a:p>
            <a:pPr marL="0" indent="0">
              <a:buNone/>
            </a:pPr>
            <a:r>
              <a:rPr lang="en-US" sz="1500" dirty="0">
                <a:solidFill>
                  <a:srgbClr val="6B6B6B"/>
                </a:solidFill>
                <a:latin typeface="Arial" pitchFamily="34" charset="0"/>
                <a:ea typeface="Arial" pitchFamily="34" charset="-122"/>
                <a:cs typeface="Arial" pitchFamily="34" charset="-120"/>
              </a:rPr>
              <a:t>VP of Product, Readyset</a:t>
            </a:r>
            <a:endParaRPr lang="en-US" sz="1500" dirty="0"/>
          </a:p>
        </p:txBody>
      </p:sp>
      <p:sp>
        <p:nvSpPr>
          <p:cNvPr id="11" name="Shape 9"/>
          <p:cNvSpPr/>
          <p:nvPr/>
        </p:nvSpPr>
        <p:spPr>
          <a:xfrm>
            <a:off x="3840480" y="2231136"/>
            <a:ext cx="82296" cy="82296"/>
          </a:xfrm>
          <a:prstGeom prst="ellipse">
            <a:avLst/>
          </a:prstGeom>
          <a:solidFill>
            <a:srgbClr val="E5472F"/>
          </a:solidFill>
          <a:ln w="12700">
            <a:solidFill>
              <a:srgbClr val="E5472F"/>
            </a:solidFill>
            <a:prstDash val="solid"/>
          </a:ln>
        </p:spPr>
        <p:txBody>
          <a:bodyPr/>
          <a:lstStyle/>
          <a:p>
            <a:endParaRPr lang="en-US"/>
          </a:p>
        </p:txBody>
      </p:sp>
      <p:sp>
        <p:nvSpPr>
          <p:cNvPr id="12" name="Text 10"/>
          <p:cNvSpPr txBox="1"/>
          <p:nvPr/>
        </p:nvSpPr>
        <p:spPr>
          <a:xfrm>
            <a:off x="4069080" y="2148840"/>
            <a:ext cx="7543800" cy="411480"/>
          </a:xfrm>
          <a:prstGeom prst="rect">
            <a:avLst/>
          </a:prstGeom>
          <a:noFill/>
          <a:ln/>
        </p:spPr>
        <p:txBody>
          <a:bodyPr wrap="square" lIns="0" tIns="0" rIns="0" bIns="0" rtlCol="0" anchor="t"/>
          <a:lstStyle/>
          <a:p>
            <a:pPr marL="0" indent="0">
              <a:lnSpc>
                <a:spcPct val="112000"/>
              </a:lnSpc>
              <a:buNone/>
            </a:pPr>
            <a:r>
              <a:rPr lang="en-US" sz="1500" b="1" dirty="0">
                <a:solidFill>
                  <a:srgbClr val="141414"/>
                </a:solidFill>
                <a:latin typeface="Arial" pitchFamily="34" charset="0"/>
                <a:ea typeface="Arial" pitchFamily="34" charset="-122"/>
                <a:cs typeface="Arial" pitchFamily="34" charset="-120"/>
              </a:rPr>
              <a:t>Two and a half years at Readyset, </a:t>
            </a:r>
            <a:r>
              <a:rPr lang="en-US" sz="1500" dirty="0">
                <a:solidFill>
                  <a:srgbClr val="141414"/>
                </a:solidFill>
                <a:latin typeface="Arial" pitchFamily="34" charset="0"/>
                <a:ea typeface="Arial" pitchFamily="34" charset="-122"/>
                <a:cs typeface="Arial" pitchFamily="34" charset="-120"/>
              </a:rPr>
              <a:t>building the modern database scaling platform.</a:t>
            </a:r>
            <a:endParaRPr lang="en-US" sz="1500" dirty="0"/>
          </a:p>
        </p:txBody>
      </p:sp>
      <p:sp>
        <p:nvSpPr>
          <p:cNvPr id="13" name="Shape 11"/>
          <p:cNvSpPr/>
          <p:nvPr/>
        </p:nvSpPr>
        <p:spPr>
          <a:xfrm>
            <a:off x="3840480" y="2688336"/>
            <a:ext cx="82296" cy="82296"/>
          </a:xfrm>
          <a:prstGeom prst="ellipse">
            <a:avLst/>
          </a:prstGeom>
          <a:solidFill>
            <a:srgbClr val="E5472F"/>
          </a:solidFill>
          <a:ln w="12700">
            <a:solidFill>
              <a:srgbClr val="E5472F"/>
            </a:solidFill>
            <a:prstDash val="solid"/>
          </a:ln>
        </p:spPr>
        <p:txBody>
          <a:bodyPr/>
          <a:lstStyle/>
          <a:p>
            <a:endParaRPr lang="en-US"/>
          </a:p>
        </p:txBody>
      </p:sp>
      <p:sp>
        <p:nvSpPr>
          <p:cNvPr id="14" name="Text 12"/>
          <p:cNvSpPr txBox="1"/>
          <p:nvPr/>
        </p:nvSpPr>
        <p:spPr>
          <a:xfrm>
            <a:off x="4069080" y="2606040"/>
            <a:ext cx="7543800" cy="411480"/>
          </a:xfrm>
          <a:prstGeom prst="rect">
            <a:avLst/>
          </a:prstGeom>
          <a:noFill/>
          <a:ln/>
        </p:spPr>
        <p:txBody>
          <a:bodyPr wrap="square" lIns="0" tIns="0" rIns="0" bIns="0" rtlCol="0" anchor="t"/>
          <a:lstStyle/>
          <a:p>
            <a:pPr marL="0" indent="0">
              <a:lnSpc>
                <a:spcPct val="112000"/>
              </a:lnSpc>
              <a:buNone/>
            </a:pPr>
            <a:r>
              <a:rPr lang="en-US" sz="1500" b="1" dirty="0">
                <a:solidFill>
                  <a:srgbClr val="141414"/>
                </a:solidFill>
                <a:latin typeface="Arial" pitchFamily="34" charset="0"/>
                <a:ea typeface="Arial" pitchFamily="34" charset="-122"/>
                <a:cs typeface="Arial" pitchFamily="34" charset="-120"/>
              </a:rPr>
              <a:t>Before that, product executive for IBM Db2. </a:t>
            </a:r>
            <a:endParaRPr lang="en-US" sz="1500" dirty="0"/>
          </a:p>
        </p:txBody>
      </p:sp>
      <p:sp>
        <p:nvSpPr>
          <p:cNvPr id="15" name="Shape 13"/>
          <p:cNvSpPr/>
          <p:nvPr/>
        </p:nvSpPr>
        <p:spPr>
          <a:xfrm>
            <a:off x="3840480" y="3145536"/>
            <a:ext cx="82296" cy="82296"/>
          </a:xfrm>
          <a:prstGeom prst="ellipse">
            <a:avLst/>
          </a:prstGeom>
          <a:solidFill>
            <a:srgbClr val="E5472F"/>
          </a:solidFill>
          <a:ln w="12700">
            <a:solidFill>
              <a:srgbClr val="E5472F"/>
            </a:solidFill>
            <a:prstDash val="solid"/>
          </a:ln>
        </p:spPr>
        <p:txBody>
          <a:bodyPr/>
          <a:lstStyle/>
          <a:p>
            <a:endParaRPr lang="en-US"/>
          </a:p>
        </p:txBody>
      </p:sp>
      <p:sp>
        <p:nvSpPr>
          <p:cNvPr id="16" name="Text 14"/>
          <p:cNvSpPr txBox="1"/>
          <p:nvPr/>
        </p:nvSpPr>
        <p:spPr>
          <a:xfrm>
            <a:off x="4069080" y="3063240"/>
            <a:ext cx="7543800" cy="640080"/>
          </a:xfrm>
          <a:prstGeom prst="rect">
            <a:avLst/>
          </a:prstGeom>
          <a:noFill/>
          <a:ln/>
        </p:spPr>
        <p:txBody>
          <a:bodyPr wrap="square" lIns="0" tIns="0" rIns="0" bIns="0" rtlCol="0" anchor="t"/>
          <a:lstStyle/>
          <a:p>
            <a:pPr marL="0" indent="0">
              <a:lnSpc>
                <a:spcPct val="112000"/>
              </a:lnSpc>
              <a:buNone/>
            </a:pPr>
            <a:r>
              <a:rPr lang="en-US" sz="1500" b="1" dirty="0">
                <a:solidFill>
                  <a:srgbClr val="141414"/>
                </a:solidFill>
                <a:latin typeface="Arial" pitchFamily="34" charset="0"/>
                <a:ea typeface="Arial" pitchFamily="34" charset="-122"/>
                <a:cs typeface="Arial" pitchFamily="34" charset="-120"/>
              </a:rPr>
              <a:t>Twenty years building and scaling data platforms: </a:t>
            </a:r>
            <a:r>
              <a:rPr lang="en-US" sz="1500" dirty="0">
                <a:solidFill>
                  <a:srgbClr val="141414"/>
                </a:solidFill>
                <a:latin typeface="Arial" pitchFamily="34" charset="0"/>
                <a:ea typeface="Arial" pitchFamily="34" charset="-122"/>
                <a:cs typeface="Arial" pitchFamily="34" charset="-120"/>
              </a:rPr>
              <a:t>on-premises, then cloud, now infrastructure for AI workloads.</a:t>
            </a:r>
            <a:endParaRPr lang="en-US" sz="1500" dirty="0"/>
          </a:p>
        </p:txBody>
      </p:sp>
      <p:sp>
        <p:nvSpPr>
          <p:cNvPr id="17" name="Shape 15"/>
          <p:cNvSpPr/>
          <p:nvPr/>
        </p:nvSpPr>
        <p:spPr>
          <a:xfrm>
            <a:off x="3840480" y="3831336"/>
            <a:ext cx="82296" cy="82296"/>
          </a:xfrm>
          <a:prstGeom prst="ellipse">
            <a:avLst/>
          </a:prstGeom>
          <a:solidFill>
            <a:srgbClr val="E5472F"/>
          </a:solidFill>
          <a:ln w="12700">
            <a:solidFill>
              <a:srgbClr val="E5472F"/>
            </a:solidFill>
            <a:prstDash val="solid"/>
          </a:ln>
        </p:spPr>
        <p:txBody>
          <a:bodyPr/>
          <a:lstStyle/>
          <a:p>
            <a:endParaRPr lang="en-US"/>
          </a:p>
        </p:txBody>
      </p:sp>
      <p:sp>
        <p:nvSpPr>
          <p:cNvPr id="18" name="Text 16"/>
          <p:cNvSpPr txBox="1"/>
          <p:nvPr/>
        </p:nvSpPr>
        <p:spPr>
          <a:xfrm>
            <a:off x="4069080" y="3749040"/>
            <a:ext cx="7543800" cy="640080"/>
          </a:xfrm>
          <a:prstGeom prst="rect">
            <a:avLst/>
          </a:prstGeom>
          <a:noFill/>
          <a:ln/>
        </p:spPr>
        <p:txBody>
          <a:bodyPr wrap="square" lIns="0" tIns="0" rIns="0" bIns="0" rtlCol="0" anchor="t"/>
          <a:lstStyle/>
          <a:p>
            <a:pPr marL="0" indent="0">
              <a:lnSpc>
                <a:spcPct val="112000"/>
              </a:lnSpc>
              <a:buNone/>
            </a:pPr>
            <a:r>
              <a:rPr lang="en-US" sz="1500" b="1" dirty="0">
                <a:solidFill>
                  <a:srgbClr val="141414"/>
                </a:solidFill>
                <a:latin typeface="Arial" pitchFamily="34" charset="0"/>
                <a:ea typeface="Arial" pitchFamily="34" charset="-122"/>
                <a:cs typeface="Arial" pitchFamily="34" charset="-120"/>
              </a:rPr>
              <a:t>Spoke here last year: </a:t>
            </a:r>
            <a:r>
              <a:rPr lang="en-US" sz="1500" dirty="0">
                <a:solidFill>
                  <a:srgbClr val="141414"/>
                </a:solidFill>
                <a:latin typeface="Arial" pitchFamily="34" charset="0"/>
                <a:ea typeface="Arial" pitchFamily="34" charset="-122"/>
                <a:cs typeface="Arial" pitchFamily="34" charset="-120"/>
              </a:rPr>
              <a:t>Beyond Read Replicas: Introducing QueryPilot for MySQL Scaling.</a:t>
            </a:r>
            <a:endParaRPr lang="en-US" sz="1500" dirty="0"/>
          </a:p>
        </p:txBody>
      </p:sp>
      <p:sp>
        <p:nvSpPr>
          <p:cNvPr id="19" name="Shape 17"/>
          <p:cNvSpPr/>
          <p:nvPr/>
        </p:nvSpPr>
        <p:spPr>
          <a:xfrm>
            <a:off x="3840480" y="4517136"/>
            <a:ext cx="82296" cy="82296"/>
          </a:xfrm>
          <a:prstGeom prst="ellipse">
            <a:avLst/>
          </a:prstGeom>
          <a:solidFill>
            <a:srgbClr val="E5472F"/>
          </a:solidFill>
          <a:ln w="12700">
            <a:solidFill>
              <a:srgbClr val="E5472F"/>
            </a:solidFill>
            <a:prstDash val="solid"/>
          </a:ln>
        </p:spPr>
        <p:txBody>
          <a:bodyPr/>
          <a:lstStyle/>
          <a:p>
            <a:endParaRPr lang="en-US"/>
          </a:p>
        </p:txBody>
      </p:sp>
      <p:sp>
        <p:nvSpPr>
          <p:cNvPr id="20" name="Text 18"/>
          <p:cNvSpPr txBox="1"/>
          <p:nvPr/>
        </p:nvSpPr>
        <p:spPr>
          <a:xfrm>
            <a:off x="4069080" y="4434840"/>
            <a:ext cx="7543800" cy="411480"/>
          </a:xfrm>
          <a:prstGeom prst="rect">
            <a:avLst/>
          </a:prstGeom>
          <a:noFill/>
          <a:ln/>
        </p:spPr>
        <p:txBody>
          <a:bodyPr wrap="square" lIns="0" tIns="0" rIns="0" bIns="0" rtlCol="0" anchor="t"/>
          <a:lstStyle/>
          <a:p>
            <a:pPr marL="0" indent="0">
              <a:lnSpc>
                <a:spcPct val="112000"/>
              </a:lnSpc>
              <a:buNone/>
            </a:pPr>
            <a:r>
              <a:rPr lang="en-US" sz="1500" b="1" dirty="0">
                <a:solidFill>
                  <a:srgbClr val="141414"/>
                </a:solidFill>
                <a:latin typeface="Arial" pitchFamily="34" charset="0"/>
                <a:ea typeface="Arial" pitchFamily="34" charset="-122"/>
                <a:cs typeface="Arial" pitchFamily="34" charset="-120"/>
              </a:rPr>
              <a:t>Just back from camping in Denali </a:t>
            </a:r>
            <a:r>
              <a:rPr lang="en-US" sz="1500" dirty="0">
                <a:solidFill>
                  <a:srgbClr val="141414"/>
                </a:solidFill>
                <a:latin typeface="Arial" pitchFamily="34" charset="0"/>
                <a:ea typeface="Arial" pitchFamily="34" charset="-122"/>
                <a:cs typeface="Arial" pitchFamily="34" charset="-120"/>
              </a:rPr>
              <a:t>with my nine-year-old.</a:t>
            </a:r>
            <a:endParaRPr lang="en-US" sz="1500" dirty="0"/>
          </a:p>
        </p:txBody>
      </p:sp>
      <p:sp>
        <p:nvSpPr>
          <p:cNvPr id="21" name="Shape 19"/>
          <p:cNvSpPr/>
          <p:nvPr/>
        </p:nvSpPr>
        <p:spPr>
          <a:xfrm>
            <a:off x="3840480" y="4983480"/>
            <a:ext cx="7772400" cy="731520"/>
          </a:xfrm>
          <a:prstGeom prst="roundRect">
            <a:avLst>
              <a:gd name="adj" fmla="val 10000"/>
            </a:avLst>
          </a:prstGeom>
          <a:solidFill>
            <a:srgbClr val="141414"/>
          </a:solidFill>
          <a:ln w="12700">
            <a:solidFill>
              <a:srgbClr val="141414"/>
            </a:solidFill>
            <a:prstDash val="solid"/>
          </a:ln>
        </p:spPr>
        <p:txBody>
          <a:bodyPr/>
          <a:lstStyle/>
          <a:p>
            <a:endParaRPr lang="en-US"/>
          </a:p>
        </p:txBody>
      </p:sp>
      <p:sp>
        <p:nvSpPr>
          <p:cNvPr id="22" name="Text 20"/>
          <p:cNvSpPr txBox="1"/>
          <p:nvPr/>
        </p:nvSpPr>
        <p:spPr>
          <a:xfrm>
            <a:off x="4114800" y="4983480"/>
            <a:ext cx="7223760" cy="73152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today  </a:t>
            </a:r>
            <a:r>
              <a:rPr lang="en-US" sz="1450" dirty="0">
                <a:solidFill>
                  <a:srgbClr val="FFFFFF"/>
                </a:solidFill>
                <a:latin typeface="Arial" pitchFamily="34" charset="0"/>
                <a:ea typeface="Arial" pitchFamily="34" charset="-122"/>
                <a:cs typeface="Arial" pitchFamily="34" charset="-120"/>
              </a:rPr>
              <a:t>I cover the economics and the argument. Vini dives deeper into the technology.</a:t>
            </a:r>
            <a:endParaRPr lang="en-US" sz="950" dirty="0"/>
          </a:p>
        </p:txBody>
      </p:sp>
      <p:pic>
        <p:nvPicPr>
          <p:cNvPr id="24" name="Picture 23">
            <a:extLst>
              <a:ext uri="{FF2B5EF4-FFF2-40B4-BE49-F238E27FC236}">
                <a16:creationId xmlns:a16="http://schemas.microsoft.com/office/drawing/2014/main" id="{20A2039C-A702-0EFA-F6BA-8621F7624813}"/>
              </a:ext>
            </a:extLst>
          </p:cNvPr>
          <p:cNvPicPr>
            <a:picLocks noChangeAspect="1"/>
          </p:cNvPicPr>
          <p:nvPr/>
        </p:nvPicPr>
        <p:blipFill>
          <a:blip r:embed="rId3"/>
          <a:srcRect l="-87" r="43978"/>
          <a:stretch>
            <a:fillRect/>
          </a:stretch>
        </p:blipFill>
        <p:spPr>
          <a:xfrm>
            <a:off x="494731" y="1956816"/>
            <a:ext cx="2900483" cy="3877056"/>
          </a:xfrm>
          <a:prstGeom prst="rect">
            <a:avLst/>
          </a:prstGeom>
          <a:ln>
            <a:noFill/>
          </a:ln>
          <a:effectLst>
            <a:softEdge rad="112500"/>
          </a:effectLst>
        </p:spPr>
      </p:pic>
      <p:pic>
        <p:nvPicPr>
          <p:cNvPr id="25" name="Picture 24" descr="user_logo_trim.png"/>
          <p:cNvPicPr>
            <a:picLocks noChangeAspect="1"/>
          </p:cNvPicPr>
          <p:nvPr/>
        </p:nvPicPr>
        <p:blipFill>
          <a:blip r:embed="rId4"/>
          <a:stretch>
            <a:fillRect/>
          </a:stretch>
        </p:blipFill>
        <p:spPr>
          <a:xfrm>
            <a:off x="548640" y="6364224"/>
            <a:ext cx="1016485" cy="219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8EBD-5317-838B-1823-C47F91AF9224}"/>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43554E59-D9CB-3ADE-7344-C5949BF68EB2}"/>
              </a:ext>
            </a:extLst>
          </p:cNvPr>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 about the speaker</a:t>
            </a:r>
            <a:endParaRPr lang="en-US" sz="1100" dirty="0"/>
          </a:p>
        </p:txBody>
      </p:sp>
      <p:sp>
        <p:nvSpPr>
          <p:cNvPr id="6" name="Text 4">
            <a:extLst>
              <a:ext uri="{FF2B5EF4-FFF2-40B4-BE49-F238E27FC236}">
                <a16:creationId xmlns:a16="http://schemas.microsoft.com/office/drawing/2014/main" id="{45EC96DE-B466-6C34-7934-1A17841DBF1C}"/>
              </a:ext>
            </a:extLst>
          </p:cNvPr>
          <p:cNvSpPr txBox="1"/>
          <p:nvPr/>
        </p:nvSpPr>
        <p:spPr>
          <a:xfrm>
            <a:off x="548640" y="731520"/>
            <a:ext cx="11094415" cy="640080"/>
          </a:xfrm>
          <a:prstGeom prst="rect">
            <a:avLst/>
          </a:prstGeom>
          <a:noFill/>
          <a:ln/>
        </p:spPr>
        <p:txBody>
          <a:bodyPr wrap="square" lIns="0" tIns="0" rIns="0" bIns="0" rtlCol="0" anchor="t"/>
          <a:lstStyle/>
          <a:p>
            <a:pPr marL="0" indent="0">
              <a:lnSpc>
                <a:spcPct val="105000"/>
              </a:lnSpc>
              <a:buNone/>
            </a:pPr>
            <a:r>
              <a:rPr lang="en-US" sz="3400" b="1" dirty="0">
                <a:solidFill>
                  <a:srgbClr val="141414"/>
                </a:solidFill>
                <a:latin typeface="Arial" pitchFamily="34" charset="0"/>
                <a:ea typeface="Arial" pitchFamily="34" charset="-122"/>
                <a:cs typeface="Arial" pitchFamily="34" charset="-120"/>
              </a:rPr>
              <a:t>Vini (Vinicius) Grippa</a:t>
            </a:r>
            <a:endParaRPr lang="en-US" sz="3400" dirty="0"/>
          </a:p>
        </p:txBody>
      </p:sp>
      <p:sp>
        <p:nvSpPr>
          <p:cNvPr id="7" name="Shape 5">
            <a:extLst>
              <a:ext uri="{FF2B5EF4-FFF2-40B4-BE49-F238E27FC236}">
                <a16:creationId xmlns:a16="http://schemas.microsoft.com/office/drawing/2014/main" id="{FB970314-F3F6-2617-7A81-C0828624E972}"/>
              </a:ext>
            </a:extLst>
          </p:cNvPr>
          <p:cNvSpPr/>
          <p:nvPr/>
        </p:nvSpPr>
        <p:spPr>
          <a:xfrm>
            <a:off x="548640" y="1417320"/>
            <a:ext cx="11094415" cy="0"/>
          </a:xfrm>
          <a:prstGeom prst="line">
            <a:avLst/>
          </a:prstGeom>
          <a:noFill/>
          <a:ln w="9525">
            <a:solidFill>
              <a:srgbClr val="141414"/>
            </a:solidFill>
            <a:prstDash val="solid"/>
          </a:ln>
        </p:spPr>
        <p:txBody>
          <a:bodyPr/>
          <a:lstStyle/>
          <a:p>
            <a:endParaRPr lang="en-US"/>
          </a:p>
        </p:txBody>
      </p:sp>
      <p:sp>
        <p:nvSpPr>
          <p:cNvPr id="11" name="Shape 9">
            <a:extLst>
              <a:ext uri="{FF2B5EF4-FFF2-40B4-BE49-F238E27FC236}">
                <a16:creationId xmlns:a16="http://schemas.microsoft.com/office/drawing/2014/main" id="{C109A127-8D8C-233E-1BEA-F24982F0A720}"/>
              </a:ext>
            </a:extLst>
          </p:cNvPr>
          <p:cNvSpPr/>
          <p:nvPr/>
        </p:nvSpPr>
        <p:spPr>
          <a:xfrm>
            <a:off x="3840480" y="2231136"/>
            <a:ext cx="82296" cy="82296"/>
          </a:xfrm>
          <a:prstGeom prst="ellipse">
            <a:avLst/>
          </a:prstGeom>
          <a:solidFill>
            <a:srgbClr val="E5472F"/>
          </a:solidFill>
          <a:ln w="12700">
            <a:solidFill>
              <a:srgbClr val="E5472F"/>
            </a:solidFill>
            <a:prstDash val="solid"/>
          </a:ln>
        </p:spPr>
        <p:txBody>
          <a:bodyPr/>
          <a:lstStyle/>
          <a:p>
            <a:endParaRPr lang="en-US"/>
          </a:p>
        </p:txBody>
      </p:sp>
      <p:sp>
        <p:nvSpPr>
          <p:cNvPr id="12" name="Text 10">
            <a:extLst>
              <a:ext uri="{FF2B5EF4-FFF2-40B4-BE49-F238E27FC236}">
                <a16:creationId xmlns:a16="http://schemas.microsoft.com/office/drawing/2014/main" id="{FE1FE33B-11B0-3B66-EF07-45C3FE826390}"/>
              </a:ext>
            </a:extLst>
          </p:cNvPr>
          <p:cNvSpPr txBox="1"/>
          <p:nvPr/>
        </p:nvSpPr>
        <p:spPr>
          <a:xfrm>
            <a:off x="4069080" y="2148840"/>
            <a:ext cx="7543800" cy="411480"/>
          </a:xfrm>
          <a:prstGeom prst="rect">
            <a:avLst/>
          </a:prstGeom>
          <a:noFill/>
          <a:ln/>
        </p:spPr>
        <p:txBody>
          <a:bodyPr wrap="square" lIns="0" tIns="0" rIns="0" bIns="0" rtlCol="0" anchor="t"/>
          <a:lstStyle/>
          <a:p>
            <a:pPr>
              <a:lnSpc>
                <a:spcPct val="112000"/>
              </a:lnSpc>
            </a:pPr>
            <a:r>
              <a:rPr lang="en-US" sz="1500" b="1" dirty="0">
                <a:solidFill>
                  <a:srgbClr val="141414"/>
                </a:solidFill>
                <a:latin typeface="Arial" pitchFamily="34" charset="0"/>
                <a:ea typeface="Arial" pitchFamily="34" charset="-122"/>
                <a:cs typeface="Arial" pitchFamily="34" charset="-120"/>
              </a:rPr>
              <a:t>Lead Database Engineer at Readyset</a:t>
            </a:r>
          </a:p>
        </p:txBody>
      </p:sp>
      <p:sp>
        <p:nvSpPr>
          <p:cNvPr id="13" name="Shape 11">
            <a:extLst>
              <a:ext uri="{FF2B5EF4-FFF2-40B4-BE49-F238E27FC236}">
                <a16:creationId xmlns:a16="http://schemas.microsoft.com/office/drawing/2014/main" id="{19A66BF4-2E90-57D7-1414-DF5AD61ABB36}"/>
              </a:ext>
            </a:extLst>
          </p:cNvPr>
          <p:cNvSpPr/>
          <p:nvPr/>
        </p:nvSpPr>
        <p:spPr>
          <a:xfrm>
            <a:off x="3840480" y="2688336"/>
            <a:ext cx="82296" cy="82296"/>
          </a:xfrm>
          <a:prstGeom prst="ellipse">
            <a:avLst/>
          </a:prstGeom>
          <a:solidFill>
            <a:srgbClr val="E5472F"/>
          </a:solidFill>
          <a:ln w="12700">
            <a:solidFill>
              <a:srgbClr val="E5472F"/>
            </a:solidFill>
            <a:prstDash val="solid"/>
          </a:ln>
        </p:spPr>
        <p:txBody>
          <a:bodyPr/>
          <a:lstStyle/>
          <a:p>
            <a:endParaRPr lang="en-US"/>
          </a:p>
        </p:txBody>
      </p:sp>
      <p:sp>
        <p:nvSpPr>
          <p:cNvPr id="14" name="Text 12">
            <a:extLst>
              <a:ext uri="{FF2B5EF4-FFF2-40B4-BE49-F238E27FC236}">
                <a16:creationId xmlns:a16="http://schemas.microsoft.com/office/drawing/2014/main" id="{76F49E1F-92B5-F070-5398-BEE4709F95E8}"/>
              </a:ext>
            </a:extLst>
          </p:cNvPr>
          <p:cNvSpPr txBox="1"/>
          <p:nvPr/>
        </p:nvSpPr>
        <p:spPr>
          <a:xfrm>
            <a:off x="4069080" y="2606040"/>
            <a:ext cx="7543800" cy="411480"/>
          </a:xfrm>
          <a:prstGeom prst="rect">
            <a:avLst/>
          </a:prstGeom>
          <a:noFill/>
          <a:ln/>
        </p:spPr>
        <p:txBody>
          <a:bodyPr wrap="square" lIns="0" tIns="0" rIns="0" bIns="0" rtlCol="0" anchor="t"/>
          <a:lstStyle/>
          <a:p>
            <a:pPr>
              <a:lnSpc>
                <a:spcPct val="112000"/>
              </a:lnSpc>
            </a:pPr>
            <a:r>
              <a:rPr lang="en-US" sz="1500" dirty="0">
                <a:solidFill>
                  <a:srgbClr val="141414"/>
                </a:solidFill>
                <a:latin typeface="Arial" pitchFamily="34" charset="0"/>
                <a:ea typeface="Arial" pitchFamily="34" charset="-122"/>
                <a:cs typeface="Arial" pitchFamily="34" charset="-120"/>
              </a:rPr>
              <a:t>Ex-Percona working with MySQL and MongoDB </a:t>
            </a:r>
            <a:endParaRPr lang="en-US" sz="1500" dirty="0"/>
          </a:p>
        </p:txBody>
      </p:sp>
      <p:sp>
        <p:nvSpPr>
          <p:cNvPr id="15" name="Shape 13">
            <a:extLst>
              <a:ext uri="{FF2B5EF4-FFF2-40B4-BE49-F238E27FC236}">
                <a16:creationId xmlns:a16="http://schemas.microsoft.com/office/drawing/2014/main" id="{F400AFBD-BE85-1EF3-3CDD-7E6A51573FF5}"/>
              </a:ext>
            </a:extLst>
          </p:cNvPr>
          <p:cNvSpPr/>
          <p:nvPr/>
        </p:nvSpPr>
        <p:spPr>
          <a:xfrm>
            <a:off x="3840480" y="3145536"/>
            <a:ext cx="82296" cy="82296"/>
          </a:xfrm>
          <a:prstGeom prst="ellipse">
            <a:avLst/>
          </a:prstGeom>
          <a:solidFill>
            <a:srgbClr val="E5472F"/>
          </a:solidFill>
          <a:ln w="12700">
            <a:solidFill>
              <a:srgbClr val="E5472F"/>
            </a:solidFill>
            <a:prstDash val="solid"/>
          </a:ln>
        </p:spPr>
        <p:txBody>
          <a:bodyPr/>
          <a:lstStyle/>
          <a:p>
            <a:endParaRPr lang="en-US"/>
          </a:p>
        </p:txBody>
      </p:sp>
      <p:sp>
        <p:nvSpPr>
          <p:cNvPr id="16" name="Text 14">
            <a:extLst>
              <a:ext uri="{FF2B5EF4-FFF2-40B4-BE49-F238E27FC236}">
                <a16:creationId xmlns:a16="http://schemas.microsoft.com/office/drawing/2014/main" id="{5D1487C7-B881-1AF5-3DCF-D2ADC8B0742F}"/>
              </a:ext>
            </a:extLst>
          </p:cNvPr>
          <p:cNvSpPr txBox="1"/>
          <p:nvPr/>
        </p:nvSpPr>
        <p:spPr>
          <a:xfrm>
            <a:off x="4069080" y="3063240"/>
            <a:ext cx="7543800" cy="640080"/>
          </a:xfrm>
          <a:prstGeom prst="rect">
            <a:avLst/>
          </a:prstGeom>
          <a:noFill/>
          <a:ln/>
        </p:spPr>
        <p:txBody>
          <a:bodyPr wrap="square" lIns="0" tIns="0" rIns="0" bIns="0" rtlCol="0" anchor="t"/>
          <a:lstStyle/>
          <a:p>
            <a:pPr>
              <a:lnSpc>
                <a:spcPct val="112000"/>
              </a:lnSpc>
            </a:pPr>
            <a:r>
              <a:rPr lang="en-US" sz="1500" dirty="0">
                <a:solidFill>
                  <a:srgbClr val="141414"/>
                </a:solidFill>
                <a:latin typeface="Arial" pitchFamily="34" charset="0"/>
                <a:ea typeface="Arial" pitchFamily="34" charset="-122"/>
                <a:cs typeface="Arial" pitchFamily="34" charset="-120"/>
              </a:rPr>
              <a:t>Co-author of the book Learning MySQL</a:t>
            </a:r>
          </a:p>
        </p:txBody>
      </p:sp>
      <p:sp>
        <p:nvSpPr>
          <p:cNvPr id="17" name="Shape 15">
            <a:extLst>
              <a:ext uri="{FF2B5EF4-FFF2-40B4-BE49-F238E27FC236}">
                <a16:creationId xmlns:a16="http://schemas.microsoft.com/office/drawing/2014/main" id="{68082DEB-97C1-D75D-C473-F20CC4CF635A}"/>
              </a:ext>
            </a:extLst>
          </p:cNvPr>
          <p:cNvSpPr/>
          <p:nvPr/>
        </p:nvSpPr>
        <p:spPr>
          <a:xfrm>
            <a:off x="3840480" y="3831336"/>
            <a:ext cx="82296" cy="82296"/>
          </a:xfrm>
          <a:prstGeom prst="ellipse">
            <a:avLst/>
          </a:prstGeom>
          <a:solidFill>
            <a:srgbClr val="E5472F"/>
          </a:solidFill>
          <a:ln w="12700">
            <a:solidFill>
              <a:srgbClr val="E5472F"/>
            </a:solidFill>
            <a:prstDash val="solid"/>
          </a:ln>
        </p:spPr>
        <p:txBody>
          <a:bodyPr/>
          <a:lstStyle/>
          <a:p>
            <a:endParaRPr lang="en-US"/>
          </a:p>
        </p:txBody>
      </p:sp>
      <p:sp>
        <p:nvSpPr>
          <p:cNvPr id="18" name="Text 16">
            <a:extLst>
              <a:ext uri="{FF2B5EF4-FFF2-40B4-BE49-F238E27FC236}">
                <a16:creationId xmlns:a16="http://schemas.microsoft.com/office/drawing/2014/main" id="{70757A18-C590-E145-FE52-FC7916DB5FE4}"/>
              </a:ext>
            </a:extLst>
          </p:cNvPr>
          <p:cNvSpPr txBox="1"/>
          <p:nvPr/>
        </p:nvSpPr>
        <p:spPr>
          <a:xfrm>
            <a:off x="4069080" y="3749040"/>
            <a:ext cx="7543800" cy="640080"/>
          </a:xfrm>
          <a:prstGeom prst="rect">
            <a:avLst/>
          </a:prstGeom>
          <a:noFill/>
          <a:ln/>
        </p:spPr>
        <p:txBody>
          <a:bodyPr wrap="square" lIns="0" tIns="0" rIns="0" bIns="0" rtlCol="0" anchor="t"/>
          <a:lstStyle/>
          <a:p>
            <a:pPr>
              <a:lnSpc>
                <a:spcPct val="112000"/>
              </a:lnSpc>
            </a:pPr>
            <a:r>
              <a:rPr lang="en-US" sz="1500" b="1" dirty="0">
                <a:solidFill>
                  <a:srgbClr val="141414"/>
                </a:solidFill>
                <a:latin typeface="Arial" pitchFamily="34" charset="0"/>
                <a:ea typeface="Arial" pitchFamily="34" charset="-122"/>
                <a:cs typeface="Arial" pitchFamily="34" charset="-120"/>
              </a:rPr>
              <a:t>Organizer of the MySQL community in Brazil (MUG)</a:t>
            </a:r>
            <a:endParaRPr lang="en-US" sz="1500" dirty="0"/>
          </a:p>
        </p:txBody>
      </p:sp>
      <p:pic>
        <p:nvPicPr>
          <p:cNvPr id="24" name="Picture 23">
            <a:extLst>
              <a:ext uri="{FF2B5EF4-FFF2-40B4-BE49-F238E27FC236}">
                <a16:creationId xmlns:a16="http://schemas.microsoft.com/office/drawing/2014/main" id="{448E5147-72C3-081E-2FC6-5A36CD085828}"/>
              </a:ext>
            </a:extLst>
          </p:cNvPr>
          <p:cNvPicPr>
            <a:picLocks noChangeAspect="1"/>
          </p:cNvPicPr>
          <p:nvPr/>
        </p:nvPicPr>
        <p:blipFill>
          <a:blip r:embed="rId3"/>
          <a:srcRect l="267" r="267"/>
          <a:stretch/>
        </p:blipFill>
        <p:spPr>
          <a:xfrm>
            <a:off x="494731" y="1956816"/>
            <a:ext cx="2900483" cy="3877056"/>
          </a:xfrm>
          <a:prstGeom prst="rect">
            <a:avLst/>
          </a:prstGeom>
          <a:ln>
            <a:noFill/>
          </a:ln>
          <a:effectLst>
            <a:softEdge rad="112500"/>
          </a:effectLst>
        </p:spPr>
      </p:pic>
      <p:pic>
        <p:nvPicPr>
          <p:cNvPr id="25" name="Picture 24" descr="user_logo_trim.png">
            <a:extLst>
              <a:ext uri="{FF2B5EF4-FFF2-40B4-BE49-F238E27FC236}">
                <a16:creationId xmlns:a16="http://schemas.microsoft.com/office/drawing/2014/main" id="{61FF0178-1DA0-C2B1-A70A-521BE6B1ADDC}"/>
              </a:ext>
            </a:extLst>
          </p:cNvPr>
          <p:cNvPicPr>
            <a:picLocks noChangeAspect="1"/>
          </p:cNvPicPr>
          <p:nvPr/>
        </p:nvPicPr>
        <p:blipFill>
          <a:blip r:embed="rId4"/>
          <a:stretch>
            <a:fillRect/>
          </a:stretch>
        </p:blipFill>
        <p:spPr>
          <a:xfrm>
            <a:off x="548640" y="6364224"/>
            <a:ext cx="1016485" cy="219456"/>
          </a:xfrm>
          <a:prstGeom prst="rect">
            <a:avLst/>
          </a:prstGeom>
        </p:spPr>
      </p:pic>
      <p:pic>
        <p:nvPicPr>
          <p:cNvPr id="3" name="Google Shape;305;p55" descr="Learning MySQL, 2nd Edition [Book]">
            <a:extLst>
              <a:ext uri="{FF2B5EF4-FFF2-40B4-BE49-F238E27FC236}">
                <a16:creationId xmlns:a16="http://schemas.microsoft.com/office/drawing/2014/main" id="{AA4B6963-5B79-DF92-89A4-73C8BABF6ED9}"/>
              </a:ext>
            </a:extLst>
          </p:cNvPr>
          <p:cNvPicPr preferRelativeResize="0"/>
          <p:nvPr/>
        </p:nvPicPr>
        <p:blipFill rotWithShape="1">
          <a:blip r:embed="rId5">
            <a:alphaModFix/>
          </a:blip>
          <a:srcRect/>
          <a:stretch/>
        </p:blipFill>
        <p:spPr>
          <a:xfrm>
            <a:off x="3840480" y="4457449"/>
            <a:ext cx="982909" cy="1290887"/>
          </a:xfrm>
          <a:prstGeom prst="rect">
            <a:avLst/>
          </a:prstGeom>
          <a:noFill/>
          <a:ln>
            <a:noFill/>
          </a:ln>
        </p:spPr>
      </p:pic>
      <p:pic>
        <p:nvPicPr>
          <p:cNvPr id="4" name="Google Shape;306;p55">
            <a:extLst>
              <a:ext uri="{FF2B5EF4-FFF2-40B4-BE49-F238E27FC236}">
                <a16:creationId xmlns:a16="http://schemas.microsoft.com/office/drawing/2014/main" id="{CB913608-097D-8D54-8A6E-5BFF101A2F9B}"/>
              </a:ext>
            </a:extLst>
          </p:cNvPr>
          <p:cNvPicPr preferRelativeResize="0"/>
          <p:nvPr/>
        </p:nvPicPr>
        <p:blipFill rotWithShape="1">
          <a:blip r:embed="rId6">
            <a:alphaModFix/>
          </a:blip>
          <a:srcRect/>
          <a:stretch/>
        </p:blipFill>
        <p:spPr>
          <a:xfrm>
            <a:off x="5499351" y="4735170"/>
            <a:ext cx="3509326" cy="664122"/>
          </a:xfrm>
          <a:prstGeom prst="rect">
            <a:avLst/>
          </a:prstGeom>
          <a:noFill/>
          <a:ln>
            <a:noFill/>
          </a:ln>
        </p:spPr>
      </p:pic>
    </p:spTree>
    <p:extLst>
      <p:ext uri="{BB962C8B-B14F-4D97-AF65-F5344CB8AC3E}">
        <p14:creationId xmlns:p14="http://schemas.microsoft.com/office/powerpoint/2010/main" val="312158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 the argument</a:t>
            </a:r>
            <a:endParaRPr lang="en-US" sz="1100" dirty="0"/>
          </a:p>
        </p:txBody>
      </p:sp>
      <p:sp>
        <p:nvSpPr>
          <p:cNvPr id="6" name="Text 4"/>
          <p:cNvSpPr txBox="1"/>
          <p:nvPr/>
        </p:nvSpPr>
        <p:spPr>
          <a:xfrm>
            <a:off x="548640" y="868680"/>
            <a:ext cx="10789920" cy="1554480"/>
          </a:xfrm>
          <a:prstGeom prst="rect">
            <a:avLst/>
          </a:prstGeom>
          <a:noFill/>
          <a:ln/>
        </p:spPr>
        <p:txBody>
          <a:bodyPr wrap="square" lIns="0" tIns="0" rIns="0" bIns="0" rtlCol="0" anchor="t"/>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“Nobody sets out wanting a cache. You end up needing one.”</a:t>
            </a:r>
            <a:endParaRPr lang="en-US" sz="3400" dirty="0"/>
          </a:p>
        </p:txBody>
      </p:sp>
      <p:sp>
        <p:nvSpPr>
          <p:cNvPr id="7" name="Text 5"/>
          <p:cNvSpPr txBox="1"/>
          <p:nvPr/>
        </p:nvSpPr>
        <p:spPr>
          <a:xfrm>
            <a:off x="548640" y="2926080"/>
            <a:ext cx="640080" cy="548640"/>
          </a:xfrm>
          <a:prstGeom prst="rect">
            <a:avLst/>
          </a:prstGeom>
          <a:noFill/>
          <a:ln/>
        </p:spPr>
        <p:txBody>
          <a:bodyPr wrap="square" lIns="0" tIns="0" rIns="0" bIns="0" rtlCol="0" anchor="t"/>
          <a:lstStyle/>
          <a:p>
            <a:pPr marL="0" indent="0">
              <a:buNone/>
            </a:pPr>
            <a:r>
              <a:rPr lang="en-US" sz="2200" dirty="0">
                <a:solidFill>
                  <a:srgbClr val="E5472F"/>
                </a:solidFill>
                <a:latin typeface="Courier New" pitchFamily="34" charset="0"/>
                <a:ea typeface="Courier New" pitchFamily="34" charset="-122"/>
                <a:cs typeface="Courier New" pitchFamily="34" charset="-120"/>
              </a:rPr>
              <a:t>01</a:t>
            </a:r>
            <a:endParaRPr lang="en-US" sz="2200" dirty="0"/>
          </a:p>
        </p:txBody>
      </p:sp>
      <p:sp>
        <p:nvSpPr>
          <p:cNvPr id="8" name="Text 6"/>
          <p:cNvSpPr txBox="1"/>
          <p:nvPr/>
        </p:nvSpPr>
        <p:spPr>
          <a:xfrm>
            <a:off x="1371600" y="2926080"/>
            <a:ext cx="10058400" cy="685800"/>
          </a:xfrm>
          <a:prstGeom prst="rect">
            <a:avLst/>
          </a:prstGeom>
          <a:noFill/>
          <a:ln/>
        </p:spPr>
        <p:txBody>
          <a:bodyPr wrap="square" lIns="0" tIns="0" rIns="0" bIns="0" rtlCol="0" anchor="t"/>
          <a:lstStyle/>
          <a:p>
            <a:pPr marL="0" indent="0">
              <a:lnSpc>
                <a:spcPct val="110000"/>
              </a:lnSpc>
              <a:buNone/>
            </a:pPr>
            <a:r>
              <a:rPr lang="en-US" sz="1800" dirty="0">
                <a:solidFill>
                  <a:srgbClr val="E6E6E6"/>
                </a:solidFill>
                <a:latin typeface="Arial" pitchFamily="34" charset="0"/>
                <a:ea typeface="Arial" pitchFamily="34" charset="-122"/>
                <a:cs typeface="Arial" pitchFamily="34" charset="-120"/>
              </a:rPr>
              <a:t>Scaling reads by copying the whole database has become the most expensive way to do it, and the price is still rising.</a:t>
            </a:r>
            <a:endParaRPr lang="en-US" sz="1800" dirty="0"/>
          </a:p>
        </p:txBody>
      </p:sp>
      <p:sp>
        <p:nvSpPr>
          <p:cNvPr id="9" name="Text 7"/>
          <p:cNvSpPr txBox="1"/>
          <p:nvPr/>
        </p:nvSpPr>
        <p:spPr>
          <a:xfrm>
            <a:off x="548640" y="3794760"/>
            <a:ext cx="640080" cy="548640"/>
          </a:xfrm>
          <a:prstGeom prst="rect">
            <a:avLst/>
          </a:prstGeom>
          <a:noFill/>
          <a:ln/>
        </p:spPr>
        <p:txBody>
          <a:bodyPr wrap="square" lIns="0" tIns="0" rIns="0" bIns="0" rtlCol="0" anchor="t"/>
          <a:lstStyle/>
          <a:p>
            <a:pPr marL="0" indent="0">
              <a:buNone/>
            </a:pPr>
            <a:r>
              <a:rPr lang="en-US" sz="2200" dirty="0">
                <a:solidFill>
                  <a:srgbClr val="E5472F"/>
                </a:solidFill>
                <a:latin typeface="Courier New" pitchFamily="34" charset="0"/>
                <a:ea typeface="Courier New" pitchFamily="34" charset="-122"/>
                <a:cs typeface="Courier New" pitchFamily="34" charset="-120"/>
              </a:rPr>
              <a:t>02</a:t>
            </a:r>
            <a:endParaRPr lang="en-US" sz="2200" dirty="0"/>
          </a:p>
        </p:txBody>
      </p:sp>
      <p:sp>
        <p:nvSpPr>
          <p:cNvPr id="10" name="Text 8"/>
          <p:cNvSpPr txBox="1"/>
          <p:nvPr/>
        </p:nvSpPr>
        <p:spPr>
          <a:xfrm>
            <a:off x="1371600" y="3794760"/>
            <a:ext cx="10058400" cy="685800"/>
          </a:xfrm>
          <a:prstGeom prst="rect">
            <a:avLst/>
          </a:prstGeom>
          <a:noFill/>
          <a:ln/>
        </p:spPr>
        <p:txBody>
          <a:bodyPr wrap="square" lIns="0" tIns="0" rIns="0" bIns="0" rtlCol="0" anchor="t"/>
          <a:lstStyle/>
          <a:p>
            <a:pPr marL="0" indent="0">
              <a:lnSpc>
                <a:spcPct val="110000"/>
              </a:lnSpc>
              <a:buNone/>
            </a:pPr>
            <a:r>
              <a:rPr lang="en-US" sz="1800" dirty="0">
                <a:solidFill>
                  <a:srgbClr val="E6E6E6"/>
                </a:solidFill>
                <a:latin typeface="Arial" pitchFamily="34" charset="0"/>
                <a:ea typeface="Arial" pitchFamily="34" charset="-122"/>
                <a:cs typeface="Arial" pitchFamily="34" charset="-120"/>
              </a:rPr>
              <a:t>The MySQL query cache was retired for how it was built. Its specification still holds.</a:t>
            </a:r>
            <a:endParaRPr lang="en-US" sz="1800" dirty="0"/>
          </a:p>
        </p:txBody>
      </p:sp>
      <p:sp>
        <p:nvSpPr>
          <p:cNvPr id="11" name="Text 9"/>
          <p:cNvSpPr txBox="1"/>
          <p:nvPr/>
        </p:nvSpPr>
        <p:spPr>
          <a:xfrm>
            <a:off x="548640" y="4663440"/>
            <a:ext cx="640080" cy="548640"/>
          </a:xfrm>
          <a:prstGeom prst="rect">
            <a:avLst/>
          </a:prstGeom>
          <a:noFill/>
          <a:ln/>
        </p:spPr>
        <p:txBody>
          <a:bodyPr wrap="square" lIns="0" tIns="0" rIns="0" bIns="0" rtlCol="0" anchor="t"/>
          <a:lstStyle/>
          <a:p>
            <a:pPr marL="0" indent="0">
              <a:buNone/>
            </a:pPr>
            <a:r>
              <a:rPr lang="en-US" sz="2200" dirty="0">
                <a:solidFill>
                  <a:srgbClr val="E5472F"/>
                </a:solidFill>
                <a:latin typeface="Courier New" pitchFamily="34" charset="0"/>
                <a:ea typeface="Courier New" pitchFamily="34" charset="-122"/>
                <a:cs typeface="Courier New" pitchFamily="34" charset="-120"/>
              </a:rPr>
              <a:t>03</a:t>
            </a:r>
            <a:endParaRPr lang="en-US" sz="2200" dirty="0"/>
          </a:p>
        </p:txBody>
      </p:sp>
      <p:sp>
        <p:nvSpPr>
          <p:cNvPr id="12" name="Text 10"/>
          <p:cNvSpPr txBox="1"/>
          <p:nvPr/>
        </p:nvSpPr>
        <p:spPr>
          <a:xfrm>
            <a:off x="1371600" y="4663440"/>
            <a:ext cx="10058400" cy="685800"/>
          </a:xfrm>
          <a:prstGeom prst="rect">
            <a:avLst/>
          </a:prstGeom>
          <a:noFill/>
          <a:ln/>
        </p:spPr>
        <p:txBody>
          <a:bodyPr wrap="square" lIns="0" tIns="0" rIns="0" bIns="0" rtlCol="0" anchor="t"/>
          <a:lstStyle/>
          <a:p>
            <a:pPr marL="0" indent="0">
              <a:lnSpc>
                <a:spcPct val="110000"/>
              </a:lnSpc>
              <a:buNone/>
            </a:pPr>
            <a:r>
              <a:rPr lang="en-US" sz="1800" dirty="0">
                <a:solidFill>
                  <a:srgbClr val="E6E6E6"/>
                </a:solidFill>
                <a:latin typeface="Arial" pitchFamily="34" charset="0"/>
                <a:ea typeface="Arial" pitchFamily="34" charset="-122"/>
                <a:cs typeface="Arial" pitchFamily="34" charset="-120"/>
              </a:rPr>
              <a:t>One cache node in front of MySQL, with no application change, can serve millions of reads per second and can even stay correct as the data changes using IVM.</a:t>
            </a:r>
            <a:endParaRPr lang="en-US" sz="1800" dirty="0"/>
          </a:p>
        </p:txBody>
      </p:sp>
      <p:pic>
        <p:nvPicPr>
          <p:cNvPr id="13" name="Picture 12"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01 · the economics of reads</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Cost per query is rising, and the default fix multiplies it.</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103120"/>
            <a:ext cx="4572000" cy="1234440"/>
          </a:xfrm>
          <a:prstGeom prst="roundRect">
            <a:avLst>
              <a:gd name="adj" fmla="val 5926"/>
            </a:avLst>
          </a:prstGeom>
          <a:solidFill>
            <a:srgbClr val="141414"/>
          </a:solidFill>
          <a:ln w="12700">
            <a:solidFill>
              <a:srgbClr val="141414"/>
            </a:solidFill>
            <a:prstDash val="solid"/>
          </a:ln>
        </p:spPr>
        <p:txBody>
          <a:bodyPr/>
          <a:lstStyle/>
          <a:p>
            <a:endParaRPr lang="en-US"/>
          </a:p>
        </p:txBody>
      </p:sp>
      <p:sp>
        <p:nvSpPr>
          <p:cNvPr id="9" name="Text 7"/>
          <p:cNvSpPr txBox="1"/>
          <p:nvPr/>
        </p:nvSpPr>
        <p:spPr>
          <a:xfrm>
            <a:off x="822960" y="2212848"/>
            <a:ext cx="4023360"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cost per query</a:t>
            </a:r>
            <a:endParaRPr lang="en-US" sz="950" dirty="0"/>
          </a:p>
        </p:txBody>
      </p:sp>
      <p:sp>
        <p:nvSpPr>
          <p:cNvPr id="10" name="Text 8"/>
          <p:cNvSpPr txBox="1"/>
          <p:nvPr/>
        </p:nvSpPr>
        <p:spPr>
          <a:xfrm>
            <a:off x="822960" y="2468880"/>
            <a:ext cx="4023360" cy="411480"/>
          </a:xfrm>
          <a:prstGeom prst="rect">
            <a:avLst/>
          </a:prstGeom>
          <a:noFill/>
          <a:ln/>
        </p:spPr>
        <p:txBody>
          <a:bodyPr wrap="square" lIns="0" tIns="0" rIns="0" bIns="0" rtlCol="0" anchor="ctr"/>
          <a:lstStyle/>
          <a:p>
            <a:pPr marL="0" indent="0">
              <a:buNone/>
            </a:pPr>
            <a:r>
              <a:rPr lang="en-US" sz="1450" dirty="0">
                <a:solidFill>
                  <a:srgbClr val="A3A3A3"/>
                </a:solidFill>
                <a:latin typeface="Courier New" pitchFamily="34" charset="0"/>
                <a:ea typeface="Courier New" pitchFamily="34" charset="-122"/>
                <a:cs typeface="Courier New" pitchFamily="34" charset="-120"/>
              </a:rPr>
              <a:t>= </a:t>
            </a:r>
            <a:r>
              <a:rPr lang="en-US" sz="1450" b="1" dirty="0">
                <a:solidFill>
                  <a:srgbClr val="FFFFFF"/>
                </a:solidFill>
                <a:latin typeface="Courier New" pitchFamily="34" charset="0"/>
                <a:ea typeface="Courier New" pitchFamily="34" charset="-122"/>
                <a:cs typeface="Courier New" pitchFamily="34" charset="-120"/>
              </a:rPr>
              <a:t>instance price</a:t>
            </a:r>
            <a:r>
              <a:rPr lang="en-US" sz="1450" dirty="0">
                <a:solidFill>
                  <a:srgbClr val="A3A3A3"/>
                </a:solidFill>
                <a:latin typeface="Courier New" pitchFamily="34" charset="0"/>
                <a:ea typeface="Courier New" pitchFamily="34" charset="-122"/>
                <a:cs typeface="Courier New" pitchFamily="34" charset="-120"/>
              </a:rPr>
              <a:t> × </a:t>
            </a:r>
            <a:r>
              <a:rPr lang="en-US" sz="1450" b="1" dirty="0">
                <a:solidFill>
                  <a:srgbClr val="FFFFFF"/>
                </a:solidFill>
                <a:latin typeface="Courier New" pitchFamily="34" charset="0"/>
                <a:ea typeface="Courier New" pitchFamily="34" charset="-122"/>
                <a:cs typeface="Courier New" pitchFamily="34" charset="-120"/>
              </a:rPr>
              <a:t>copies</a:t>
            </a:r>
            <a:r>
              <a:rPr lang="en-US" sz="1450" dirty="0">
                <a:solidFill>
                  <a:srgbClr val="A3A3A3"/>
                </a:solidFill>
                <a:latin typeface="Courier New" pitchFamily="34" charset="0"/>
                <a:ea typeface="Courier New" pitchFamily="34" charset="-122"/>
                <a:cs typeface="Courier New" pitchFamily="34" charset="-120"/>
              </a:rPr>
              <a:t> ÷ </a:t>
            </a:r>
            <a:r>
              <a:rPr lang="en-US" sz="1450" b="1" dirty="0">
                <a:solidFill>
                  <a:srgbClr val="FFFFFF"/>
                </a:solidFill>
                <a:latin typeface="Courier New" pitchFamily="34" charset="0"/>
                <a:ea typeface="Courier New" pitchFamily="34" charset="-122"/>
                <a:cs typeface="Courier New" pitchFamily="34" charset="-120"/>
              </a:rPr>
              <a:t>queries</a:t>
            </a:r>
            <a:endParaRPr lang="en-US" sz="1450" dirty="0"/>
          </a:p>
        </p:txBody>
      </p:sp>
      <p:sp>
        <p:nvSpPr>
          <p:cNvPr id="11" name="Text 9"/>
          <p:cNvSpPr txBox="1"/>
          <p:nvPr/>
        </p:nvSpPr>
        <p:spPr>
          <a:xfrm>
            <a:off x="822960" y="2907792"/>
            <a:ext cx="4023360" cy="320040"/>
          </a:xfrm>
          <a:prstGeom prst="rect">
            <a:avLst/>
          </a:prstGeom>
          <a:noFill/>
          <a:ln/>
        </p:spPr>
        <p:txBody>
          <a:bodyPr wrap="square" lIns="0" tIns="0" rIns="0" bIns="0" rtlCol="0" anchor="ctr"/>
          <a:lstStyle/>
          <a:p>
            <a:pPr marL="0" indent="0">
              <a:buNone/>
            </a:pPr>
            <a:r>
              <a:rPr lang="en-US" sz="1250" i="1" dirty="0">
                <a:solidFill>
                  <a:srgbClr val="A3A3A3"/>
                </a:solidFill>
                <a:latin typeface="Arial" pitchFamily="34" charset="0"/>
                <a:ea typeface="Arial" pitchFamily="34" charset="-122"/>
                <a:cs typeface="Arial" pitchFamily="34" charset="-120"/>
              </a:rPr>
              <a:t>Replication grows the copies. 2026 grew the price.</a:t>
            </a:r>
            <a:endParaRPr lang="en-US" sz="1250" dirty="0"/>
          </a:p>
        </p:txBody>
      </p:sp>
      <p:sp>
        <p:nvSpPr>
          <p:cNvPr id="12" name="Text 10"/>
          <p:cNvSpPr txBox="1"/>
          <p:nvPr/>
        </p:nvSpPr>
        <p:spPr>
          <a:xfrm>
            <a:off x="548640" y="3520440"/>
            <a:ext cx="2057400" cy="640080"/>
          </a:xfrm>
          <a:prstGeom prst="rect">
            <a:avLst/>
          </a:prstGeom>
          <a:noFill/>
          <a:ln/>
        </p:spPr>
        <p:txBody>
          <a:bodyPr wrap="square" lIns="0" tIns="0" rIns="0" bIns="0" rtlCol="0" anchor="ctr"/>
          <a:lstStyle/>
          <a:p>
            <a:pPr marL="0" indent="0">
              <a:buNone/>
            </a:pPr>
            <a:r>
              <a:rPr lang="en-US" sz="3200" b="1" dirty="0">
                <a:solidFill>
                  <a:srgbClr val="141414"/>
                </a:solidFill>
                <a:latin typeface="Arial" pitchFamily="34" charset="0"/>
                <a:ea typeface="Arial" pitchFamily="34" charset="-122"/>
                <a:cs typeface="Arial" pitchFamily="34" charset="-120"/>
              </a:rPr>
              <a:t>+93–98%</a:t>
            </a:r>
            <a:endParaRPr lang="en-US" sz="3200" dirty="0"/>
          </a:p>
        </p:txBody>
      </p:sp>
      <p:sp>
        <p:nvSpPr>
          <p:cNvPr id="13" name="Text 11"/>
          <p:cNvSpPr txBox="1"/>
          <p:nvPr/>
        </p:nvSpPr>
        <p:spPr>
          <a:xfrm>
            <a:off x="2697480" y="3520440"/>
            <a:ext cx="2423160" cy="640080"/>
          </a:xfrm>
          <a:prstGeom prst="rect">
            <a:avLst/>
          </a:prstGeom>
          <a:noFill/>
          <a:ln/>
        </p:spPr>
        <p:txBody>
          <a:bodyPr wrap="square" lIns="0" tIns="0" rIns="0" bIns="0" rtlCol="0" anchor="ctr"/>
          <a:lstStyle/>
          <a:p>
            <a:pPr marL="0" indent="0">
              <a:lnSpc>
                <a:spcPct val="110000"/>
              </a:lnSpc>
              <a:buNone/>
            </a:pPr>
            <a:r>
              <a:rPr lang="en-US" sz="1250" dirty="0">
                <a:solidFill>
                  <a:srgbClr val="141414"/>
                </a:solidFill>
                <a:latin typeface="Arial" pitchFamily="34" charset="0"/>
                <a:ea typeface="Arial" pitchFamily="34" charset="-122"/>
                <a:cs typeface="Arial" pitchFamily="34" charset="-120"/>
              </a:rPr>
              <a:t>Conventional DRAM contract prices, quarter over quarter, 1Q 2026. [4]</a:t>
            </a:r>
            <a:endParaRPr lang="en-US" sz="1250" dirty="0"/>
          </a:p>
        </p:txBody>
      </p:sp>
      <p:sp>
        <p:nvSpPr>
          <p:cNvPr id="14" name="Text 12"/>
          <p:cNvSpPr txBox="1"/>
          <p:nvPr/>
        </p:nvSpPr>
        <p:spPr>
          <a:xfrm>
            <a:off x="548640" y="4224528"/>
            <a:ext cx="2057400" cy="640080"/>
          </a:xfrm>
          <a:prstGeom prst="rect">
            <a:avLst/>
          </a:prstGeom>
          <a:noFill/>
          <a:ln/>
        </p:spPr>
        <p:txBody>
          <a:bodyPr wrap="square" lIns="0" tIns="0" rIns="0" bIns="0" rtlCol="0" anchor="ctr"/>
          <a:lstStyle/>
          <a:p>
            <a:pPr marL="0" indent="0">
              <a:buNone/>
            </a:pPr>
            <a:r>
              <a:rPr lang="en-US" sz="3200" b="1" dirty="0">
                <a:solidFill>
                  <a:srgbClr val="141414"/>
                </a:solidFill>
                <a:latin typeface="Arial" pitchFamily="34" charset="0"/>
                <a:ea typeface="Arial" pitchFamily="34" charset="-122"/>
                <a:cs typeface="Arial" pitchFamily="34" charset="-120"/>
              </a:rPr>
              <a:t>+50%</a:t>
            </a:r>
            <a:endParaRPr lang="en-US" sz="3200" dirty="0"/>
          </a:p>
        </p:txBody>
      </p:sp>
      <p:sp>
        <p:nvSpPr>
          <p:cNvPr id="15" name="Text 13"/>
          <p:cNvSpPr txBox="1"/>
          <p:nvPr/>
        </p:nvSpPr>
        <p:spPr>
          <a:xfrm>
            <a:off x="2697480" y="4224528"/>
            <a:ext cx="2423160" cy="640080"/>
          </a:xfrm>
          <a:prstGeom prst="rect">
            <a:avLst/>
          </a:prstGeom>
          <a:noFill/>
          <a:ln/>
        </p:spPr>
        <p:txBody>
          <a:bodyPr wrap="square" lIns="0" tIns="0" rIns="0" bIns="0" rtlCol="0" anchor="ctr"/>
          <a:lstStyle/>
          <a:p>
            <a:pPr marL="0" indent="0">
              <a:lnSpc>
                <a:spcPct val="110000"/>
              </a:lnSpc>
              <a:buNone/>
            </a:pPr>
            <a:r>
              <a:rPr lang="en-US" sz="1250" dirty="0">
                <a:solidFill>
                  <a:srgbClr val="141414"/>
                </a:solidFill>
                <a:latin typeface="Arial" pitchFamily="34" charset="0"/>
                <a:ea typeface="Arial" pitchFamily="34" charset="-122"/>
                <a:cs typeface="Arial" pitchFamily="34" charset="-120"/>
              </a:rPr>
              <a:t>Hetzner list prices, April 2026; many services above 30%. [6]</a:t>
            </a:r>
            <a:endParaRPr lang="en-US" sz="1250" dirty="0"/>
          </a:p>
        </p:txBody>
      </p:sp>
      <p:sp>
        <p:nvSpPr>
          <p:cNvPr id="16" name="Shape 14"/>
          <p:cNvSpPr/>
          <p:nvPr/>
        </p:nvSpPr>
        <p:spPr>
          <a:xfrm>
            <a:off x="5486400" y="2971800"/>
            <a:ext cx="1737360" cy="914400"/>
          </a:xfrm>
          <a:prstGeom prst="roundRect">
            <a:avLst>
              <a:gd name="adj" fmla="val 6000"/>
            </a:avLst>
          </a:prstGeom>
          <a:solidFill>
            <a:srgbClr val="141414"/>
          </a:solidFill>
          <a:ln w="9525">
            <a:solidFill>
              <a:srgbClr val="141414"/>
            </a:solidFill>
            <a:prstDash val="solid"/>
          </a:ln>
        </p:spPr>
        <p:txBody>
          <a:bodyPr/>
          <a:lstStyle/>
          <a:p>
            <a:endParaRPr lang="en-US"/>
          </a:p>
        </p:txBody>
      </p:sp>
      <p:sp>
        <p:nvSpPr>
          <p:cNvPr id="17" name="Text 15"/>
          <p:cNvSpPr txBox="1"/>
          <p:nvPr/>
        </p:nvSpPr>
        <p:spPr>
          <a:xfrm>
            <a:off x="5486400" y="2971800"/>
            <a:ext cx="1737360" cy="91440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Primary</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every write</a:t>
            </a:r>
            <a:endParaRPr lang="en-US" sz="1150" dirty="0"/>
          </a:p>
        </p:txBody>
      </p:sp>
      <p:sp>
        <p:nvSpPr>
          <p:cNvPr id="18" name="Shape 16"/>
          <p:cNvSpPr/>
          <p:nvPr/>
        </p:nvSpPr>
        <p:spPr>
          <a:xfrm>
            <a:off x="8503920" y="2103120"/>
            <a:ext cx="1554480" cy="640080"/>
          </a:xfrm>
          <a:prstGeom prst="roundRect">
            <a:avLst>
              <a:gd name="adj" fmla="val 8571"/>
            </a:avLst>
          </a:prstGeom>
          <a:solidFill>
            <a:srgbClr val="FFFFFF"/>
          </a:solidFill>
          <a:ln w="9525">
            <a:solidFill>
              <a:srgbClr val="DED9D0"/>
            </a:solidFill>
            <a:prstDash val="solid"/>
          </a:ln>
        </p:spPr>
        <p:txBody>
          <a:bodyPr/>
          <a:lstStyle/>
          <a:p>
            <a:endParaRPr lang="en-US"/>
          </a:p>
        </p:txBody>
      </p:sp>
      <p:sp>
        <p:nvSpPr>
          <p:cNvPr id="19" name="Text 17"/>
          <p:cNvSpPr txBox="1"/>
          <p:nvPr/>
        </p:nvSpPr>
        <p:spPr>
          <a:xfrm>
            <a:off x="8503920" y="2103120"/>
            <a:ext cx="1554480" cy="64008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Replica 1</a:t>
            </a:r>
            <a:endParaRPr lang="en-US" sz="1150" dirty="0"/>
          </a:p>
        </p:txBody>
      </p:sp>
      <p:sp>
        <p:nvSpPr>
          <p:cNvPr id="20" name="Shape 18"/>
          <p:cNvSpPr/>
          <p:nvPr/>
        </p:nvSpPr>
        <p:spPr>
          <a:xfrm flipV="1">
            <a:off x="7223760" y="2423160"/>
            <a:ext cx="1280160" cy="1005840"/>
          </a:xfrm>
          <a:prstGeom prst="line">
            <a:avLst/>
          </a:prstGeom>
          <a:noFill/>
          <a:ln w="15875">
            <a:solidFill>
              <a:srgbClr val="141414"/>
            </a:solidFill>
            <a:prstDash val="solid"/>
            <a:tailEnd type="triangle"/>
          </a:ln>
        </p:spPr>
        <p:txBody>
          <a:bodyPr/>
          <a:lstStyle/>
          <a:p>
            <a:endParaRPr lang="en-US"/>
          </a:p>
        </p:txBody>
      </p:sp>
      <p:sp>
        <p:nvSpPr>
          <p:cNvPr id="21" name="Text 19"/>
          <p:cNvSpPr txBox="1"/>
          <p:nvPr/>
        </p:nvSpPr>
        <p:spPr>
          <a:xfrm>
            <a:off x="10195560" y="2121408"/>
            <a:ext cx="1463040" cy="603504"/>
          </a:xfrm>
          <a:prstGeom prst="rect">
            <a:avLst/>
          </a:prstGeom>
          <a:noFill/>
          <a:ln/>
        </p:spPr>
        <p:txBody>
          <a:bodyPr wrap="square" lIns="0" tIns="0" rIns="0" bIns="0" rtlCol="0" anchor="ctr"/>
          <a:lstStyle/>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full dataset</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every write re-applied</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billed as a full instance</a:t>
            </a:r>
            <a:endParaRPr lang="en-US" sz="800" dirty="0"/>
          </a:p>
        </p:txBody>
      </p:sp>
      <p:sp>
        <p:nvSpPr>
          <p:cNvPr id="22" name="Shape 20"/>
          <p:cNvSpPr/>
          <p:nvPr/>
        </p:nvSpPr>
        <p:spPr>
          <a:xfrm>
            <a:off x="8503920" y="3063240"/>
            <a:ext cx="1554480" cy="640080"/>
          </a:xfrm>
          <a:prstGeom prst="roundRect">
            <a:avLst>
              <a:gd name="adj" fmla="val 8571"/>
            </a:avLst>
          </a:prstGeom>
          <a:solidFill>
            <a:srgbClr val="FFFFFF"/>
          </a:solidFill>
          <a:ln w="9525">
            <a:solidFill>
              <a:srgbClr val="DED9D0"/>
            </a:solidFill>
            <a:prstDash val="solid"/>
          </a:ln>
        </p:spPr>
        <p:txBody>
          <a:bodyPr/>
          <a:lstStyle/>
          <a:p>
            <a:endParaRPr lang="en-US"/>
          </a:p>
        </p:txBody>
      </p:sp>
      <p:sp>
        <p:nvSpPr>
          <p:cNvPr id="23" name="Text 21"/>
          <p:cNvSpPr txBox="1"/>
          <p:nvPr/>
        </p:nvSpPr>
        <p:spPr>
          <a:xfrm>
            <a:off x="8503920" y="3063240"/>
            <a:ext cx="1554480" cy="64008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Replica 2</a:t>
            </a:r>
            <a:endParaRPr lang="en-US" sz="1150" dirty="0"/>
          </a:p>
        </p:txBody>
      </p:sp>
      <p:sp>
        <p:nvSpPr>
          <p:cNvPr id="24" name="Shape 22"/>
          <p:cNvSpPr/>
          <p:nvPr/>
        </p:nvSpPr>
        <p:spPr>
          <a:xfrm flipV="1">
            <a:off x="7223760" y="3383280"/>
            <a:ext cx="1280160" cy="45720"/>
          </a:xfrm>
          <a:prstGeom prst="line">
            <a:avLst/>
          </a:prstGeom>
          <a:noFill/>
          <a:ln w="15875">
            <a:solidFill>
              <a:srgbClr val="141414"/>
            </a:solidFill>
            <a:prstDash val="solid"/>
            <a:tailEnd type="triangle"/>
          </a:ln>
        </p:spPr>
        <p:txBody>
          <a:bodyPr/>
          <a:lstStyle/>
          <a:p>
            <a:endParaRPr lang="en-US"/>
          </a:p>
        </p:txBody>
      </p:sp>
      <p:sp>
        <p:nvSpPr>
          <p:cNvPr id="25" name="Text 23"/>
          <p:cNvSpPr txBox="1"/>
          <p:nvPr/>
        </p:nvSpPr>
        <p:spPr>
          <a:xfrm>
            <a:off x="10195560" y="3081528"/>
            <a:ext cx="1463040" cy="603504"/>
          </a:xfrm>
          <a:prstGeom prst="rect">
            <a:avLst/>
          </a:prstGeom>
          <a:noFill/>
          <a:ln/>
        </p:spPr>
        <p:txBody>
          <a:bodyPr wrap="square" lIns="0" tIns="0" rIns="0" bIns="0" rtlCol="0" anchor="ctr"/>
          <a:lstStyle/>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full dataset</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every write re-applied</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billed as a full instance</a:t>
            </a:r>
            <a:endParaRPr lang="en-US" sz="800" dirty="0"/>
          </a:p>
        </p:txBody>
      </p:sp>
      <p:sp>
        <p:nvSpPr>
          <p:cNvPr id="26" name="Shape 24"/>
          <p:cNvSpPr/>
          <p:nvPr/>
        </p:nvSpPr>
        <p:spPr>
          <a:xfrm>
            <a:off x="8503920" y="4023360"/>
            <a:ext cx="1554480" cy="640080"/>
          </a:xfrm>
          <a:prstGeom prst="roundRect">
            <a:avLst>
              <a:gd name="adj" fmla="val 8571"/>
            </a:avLst>
          </a:prstGeom>
          <a:solidFill>
            <a:srgbClr val="FFFFFF"/>
          </a:solidFill>
          <a:ln w="9525">
            <a:solidFill>
              <a:srgbClr val="DED9D0"/>
            </a:solidFill>
            <a:prstDash val="solid"/>
          </a:ln>
        </p:spPr>
        <p:txBody>
          <a:bodyPr/>
          <a:lstStyle/>
          <a:p>
            <a:endParaRPr lang="en-US"/>
          </a:p>
        </p:txBody>
      </p:sp>
      <p:sp>
        <p:nvSpPr>
          <p:cNvPr id="27" name="Text 25"/>
          <p:cNvSpPr txBox="1"/>
          <p:nvPr/>
        </p:nvSpPr>
        <p:spPr>
          <a:xfrm>
            <a:off x="8503920" y="4023360"/>
            <a:ext cx="1554480" cy="64008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Replica 3</a:t>
            </a:r>
            <a:endParaRPr lang="en-US" sz="1150" dirty="0"/>
          </a:p>
        </p:txBody>
      </p:sp>
      <p:sp>
        <p:nvSpPr>
          <p:cNvPr id="28" name="Shape 26"/>
          <p:cNvSpPr/>
          <p:nvPr/>
        </p:nvSpPr>
        <p:spPr>
          <a:xfrm>
            <a:off x="7223760" y="3429000"/>
            <a:ext cx="1280160" cy="914400"/>
          </a:xfrm>
          <a:prstGeom prst="line">
            <a:avLst/>
          </a:prstGeom>
          <a:noFill/>
          <a:ln w="15875">
            <a:solidFill>
              <a:srgbClr val="141414"/>
            </a:solidFill>
            <a:prstDash val="solid"/>
            <a:tailEnd type="triangle"/>
          </a:ln>
        </p:spPr>
        <p:txBody>
          <a:bodyPr/>
          <a:lstStyle/>
          <a:p>
            <a:endParaRPr lang="en-US"/>
          </a:p>
        </p:txBody>
      </p:sp>
      <p:sp>
        <p:nvSpPr>
          <p:cNvPr id="29" name="Text 27"/>
          <p:cNvSpPr txBox="1"/>
          <p:nvPr/>
        </p:nvSpPr>
        <p:spPr>
          <a:xfrm>
            <a:off x="10195560" y="4041648"/>
            <a:ext cx="1463040" cy="603504"/>
          </a:xfrm>
          <a:prstGeom prst="rect">
            <a:avLst/>
          </a:prstGeom>
          <a:noFill/>
          <a:ln/>
        </p:spPr>
        <p:txBody>
          <a:bodyPr wrap="square" lIns="0" tIns="0" rIns="0" bIns="0" rtlCol="0" anchor="ctr"/>
          <a:lstStyle/>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full dataset</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every write re-applied</a:t>
            </a:r>
            <a:endParaRPr lang="en-US" sz="800" dirty="0"/>
          </a:p>
          <a:p>
            <a:pPr marL="0" indent="0">
              <a:lnSpc>
                <a:spcPct val="105000"/>
              </a:lnSpc>
              <a:buNone/>
            </a:pPr>
            <a:r>
              <a:rPr lang="en-US" sz="800" dirty="0">
                <a:solidFill>
                  <a:srgbClr val="6B6B6B"/>
                </a:solidFill>
                <a:latin typeface="Courier New" pitchFamily="34" charset="0"/>
                <a:ea typeface="Courier New" pitchFamily="34" charset="-122"/>
                <a:cs typeface="Courier New" pitchFamily="34" charset="-120"/>
              </a:rPr>
              <a:t>billed as a full instance</a:t>
            </a:r>
            <a:endParaRPr lang="en-US" sz="800" dirty="0"/>
          </a:p>
        </p:txBody>
      </p:sp>
      <p:sp>
        <p:nvSpPr>
          <p:cNvPr id="30" name="Text 28"/>
          <p:cNvSpPr txBox="1"/>
          <p:nvPr/>
        </p:nvSpPr>
        <p:spPr>
          <a:xfrm>
            <a:off x="5486400" y="4681728"/>
            <a:ext cx="6172200" cy="320040"/>
          </a:xfrm>
          <a:prstGeom prst="rect">
            <a:avLst/>
          </a:prstGeom>
          <a:noFill/>
          <a:ln/>
        </p:spPr>
        <p:txBody>
          <a:bodyPr wrap="square" lIns="0" tIns="0" rIns="0" bIns="0" rtlCol="0" anchor="ctr"/>
          <a:lstStyle/>
          <a:p>
            <a:pPr marL="0" indent="0">
              <a:buNone/>
            </a:pPr>
            <a:r>
              <a:rPr lang="en-US" sz="1200" i="1" dirty="0">
                <a:solidFill>
                  <a:srgbClr val="6B6B6B"/>
                </a:solidFill>
                <a:latin typeface="Arial" pitchFamily="34" charset="0"/>
                <a:ea typeface="Arial" pitchFamily="34" charset="-122"/>
                <a:cs typeface="Arial" pitchFamily="34" charset="-120"/>
              </a:rPr>
              <a:t>Every copy is a full instance, at the new price. [3]</a:t>
            </a:r>
            <a:endParaRPr lang="en-US" sz="1200" dirty="0"/>
          </a:p>
        </p:txBody>
      </p:sp>
      <p:sp>
        <p:nvSpPr>
          <p:cNvPr id="31" name="Shape 29"/>
          <p:cNvSpPr/>
          <p:nvPr/>
        </p:nvSpPr>
        <p:spPr>
          <a:xfrm>
            <a:off x="548640" y="5074920"/>
            <a:ext cx="11094415" cy="640080"/>
          </a:xfrm>
          <a:prstGeom prst="roundRect">
            <a:avLst>
              <a:gd name="adj" fmla="val 11429"/>
            </a:avLst>
          </a:prstGeom>
          <a:solidFill>
            <a:srgbClr val="141414"/>
          </a:solidFill>
          <a:ln w="12700">
            <a:solidFill>
              <a:srgbClr val="141414"/>
            </a:solidFill>
            <a:prstDash val="solid"/>
          </a:ln>
        </p:spPr>
        <p:txBody>
          <a:bodyPr/>
          <a:lstStyle/>
          <a:p>
            <a:endParaRPr lang="en-US"/>
          </a:p>
        </p:txBody>
      </p:sp>
      <p:sp>
        <p:nvSpPr>
          <p:cNvPr id="32" name="Text 30"/>
          <p:cNvSpPr txBox="1"/>
          <p:nvPr/>
        </p:nvSpPr>
        <p:spPr>
          <a:xfrm>
            <a:off x="822960" y="5074920"/>
            <a:ext cx="10545775" cy="64008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Database spend rising faster than throughput: “the cost per query keeps climbing.” Futurum Group survey of cloud-database decision-makers, May 2026. [2]</a:t>
            </a:r>
            <a:endParaRPr lang="en-US" sz="1450" dirty="0"/>
          </a:p>
        </p:txBody>
      </p:sp>
      <p:sp>
        <p:nvSpPr>
          <p:cNvPr id="33" name="Text 31"/>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[2] Futurum Group &amp; ScyllaDB, “New Research on Cloud Database Trends”, 12 May 2026.   [3] AWS, Amazon RDS User Guide: read replicas “are billed as standard DB instances at the same rates as the DB instance class used for the replica.”   [4] TrendForce, 1 Jun 2026.   [6] The Register, 24 Feb 2026.</a:t>
            </a:r>
            <a:endParaRPr lang="en-US" sz="800" dirty="0"/>
          </a:p>
        </p:txBody>
      </p:sp>
      <p:pic>
        <p:nvPicPr>
          <p:cNvPr id="34" name="Picture 33"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01 · the economics of reads</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FFFFFF"/>
                </a:solidFill>
                <a:latin typeface="Arial" pitchFamily="34" charset="0"/>
                <a:ea typeface="Arial" pitchFamily="34" charset="-122"/>
                <a:cs typeface="Arial" pitchFamily="34" charset="-120"/>
              </a:rPr>
              <a:t>A brand-new constraint – Availability (of infrastructure).</a:t>
            </a:r>
            <a:endParaRPr lang="en-US" sz="3000" dirty="0"/>
          </a:p>
        </p:txBody>
      </p:sp>
      <p:sp>
        <p:nvSpPr>
          <p:cNvPr id="7" name="Shape 5"/>
          <p:cNvSpPr/>
          <p:nvPr/>
        </p:nvSpPr>
        <p:spPr>
          <a:xfrm>
            <a:off x="548640" y="1344168"/>
            <a:ext cx="11094415" cy="0"/>
          </a:xfrm>
          <a:prstGeom prst="line">
            <a:avLst/>
          </a:prstGeom>
          <a:noFill/>
          <a:ln w="9525">
            <a:solidFill>
              <a:srgbClr val="5A5A5A"/>
            </a:solidFill>
            <a:prstDash val="solid"/>
          </a:ln>
        </p:spPr>
        <p:txBody>
          <a:bodyPr/>
          <a:lstStyle/>
          <a:p>
            <a:endParaRPr lang="en-US"/>
          </a:p>
        </p:txBody>
      </p:sp>
      <p:sp>
        <p:nvSpPr>
          <p:cNvPr id="8" name="Text 6"/>
          <p:cNvSpPr txBox="1"/>
          <p:nvPr/>
        </p:nvSpPr>
        <p:spPr>
          <a:xfrm>
            <a:off x="548640" y="2011680"/>
            <a:ext cx="6583680" cy="1737360"/>
          </a:xfrm>
          <a:prstGeom prst="rect">
            <a:avLst/>
          </a:prstGeom>
          <a:noFill/>
          <a:ln/>
        </p:spPr>
        <p:txBody>
          <a:bodyPr wrap="square" lIns="0" tIns="0" rIns="0" bIns="0" rtlCol="0" anchor="t"/>
          <a:lstStyle/>
          <a:p>
            <a:pPr marL="0" indent="0">
              <a:lnSpc>
                <a:spcPct val="110000"/>
              </a:lnSpc>
              <a:buNone/>
            </a:pPr>
            <a:r>
              <a:rPr lang="en-US" sz="3000" b="1" dirty="0">
                <a:solidFill>
                  <a:srgbClr val="FFFFFF"/>
                </a:solidFill>
                <a:latin typeface="Arial" pitchFamily="34" charset="0"/>
                <a:ea typeface="Arial" pitchFamily="34" charset="-122"/>
                <a:cs typeface="Arial" pitchFamily="34" charset="-120"/>
              </a:rPr>
              <a:t>“I cannot get more hardware for replicas. I am told there isn’t any.”</a:t>
            </a:r>
            <a:endParaRPr lang="en-US" sz="3000" dirty="0"/>
          </a:p>
        </p:txBody>
      </p:sp>
      <p:sp>
        <p:nvSpPr>
          <p:cNvPr id="9" name="Text 7"/>
          <p:cNvSpPr txBox="1"/>
          <p:nvPr/>
        </p:nvSpPr>
        <p:spPr>
          <a:xfrm>
            <a:off x="548640" y="3794760"/>
            <a:ext cx="6400800" cy="457200"/>
          </a:xfrm>
          <a:prstGeom prst="rect">
            <a:avLst/>
          </a:prstGeom>
          <a:noFill/>
          <a:ln/>
        </p:spPr>
        <p:txBody>
          <a:bodyPr wrap="square" lIns="0" tIns="0" rIns="0" bIns="0" rtlCol="0" anchor="t"/>
          <a:lstStyle/>
          <a:p>
            <a:pPr marL="0" indent="0">
              <a:buNone/>
            </a:pPr>
            <a:r>
              <a:rPr lang="en-US" sz="1000" dirty="0">
                <a:solidFill>
                  <a:srgbClr val="A3A3A3"/>
                </a:solidFill>
                <a:latin typeface="Courier New" pitchFamily="34" charset="0"/>
                <a:ea typeface="Courier New" pitchFamily="34" charset="-122"/>
                <a:cs typeface="Courier New" pitchFamily="34" charset="-120"/>
              </a:rPr>
              <a:t>Infrastructure engineer at a large developer platform, 2026. Paraphrased; name withheld.</a:t>
            </a:r>
            <a:endParaRPr lang="en-US" sz="1000" dirty="0"/>
          </a:p>
        </p:txBody>
      </p:sp>
      <p:sp>
        <p:nvSpPr>
          <p:cNvPr id="10" name="Shape 8"/>
          <p:cNvSpPr/>
          <p:nvPr/>
        </p:nvSpPr>
        <p:spPr>
          <a:xfrm>
            <a:off x="548640" y="4480560"/>
            <a:ext cx="6583680" cy="822960"/>
          </a:xfrm>
          <a:prstGeom prst="roundRect">
            <a:avLst>
              <a:gd name="adj" fmla="val 8889"/>
            </a:avLst>
          </a:prstGeom>
          <a:solidFill>
            <a:srgbClr val="1F1F1F"/>
          </a:solidFill>
          <a:ln w="9525">
            <a:solidFill>
              <a:srgbClr val="3A3A3A"/>
            </a:solidFill>
            <a:prstDash val="solid"/>
          </a:ln>
        </p:spPr>
        <p:txBody>
          <a:bodyPr/>
          <a:lstStyle/>
          <a:p>
            <a:endParaRPr lang="en-US"/>
          </a:p>
        </p:txBody>
      </p:sp>
      <p:sp>
        <p:nvSpPr>
          <p:cNvPr id="11" name="Text 9"/>
          <p:cNvSpPr txBox="1"/>
          <p:nvPr/>
        </p:nvSpPr>
        <p:spPr>
          <a:xfrm>
            <a:off x="822960" y="4480560"/>
            <a:ext cx="6035040" cy="822960"/>
          </a:xfrm>
          <a:prstGeom prst="rect">
            <a:avLst/>
          </a:prstGeom>
          <a:noFill/>
          <a:ln/>
        </p:spPr>
        <p:txBody>
          <a:bodyPr wrap="square" lIns="0" tIns="0" rIns="0" bIns="0" rtlCol="0" anchor="ctr"/>
          <a:lstStyle/>
          <a:p>
            <a:pPr marL="0" indent="0">
              <a:lnSpc>
                <a:spcPct val="110000"/>
              </a:lnSpc>
              <a:buNone/>
            </a:pPr>
            <a:r>
              <a:rPr lang="en-US" sz="1400" dirty="0">
                <a:solidFill>
                  <a:srgbClr val="FFFFFF"/>
                </a:solidFill>
                <a:latin typeface="Arial" pitchFamily="34" charset="0"/>
                <a:ea typeface="Arial" pitchFamily="34" charset="-122"/>
                <a:cs typeface="Arial" pitchFamily="34" charset="-120"/>
              </a:rPr>
              <a:t>The replica model assumes another copy can be bought. In 2026 the queue for infrastructure forms behind the hyperscalers. Even within hyperscalers, AI gets to be in front of the queue.</a:t>
            </a:r>
            <a:endParaRPr lang="en-US" sz="1400" dirty="0"/>
          </a:p>
        </p:txBody>
      </p:sp>
      <p:sp>
        <p:nvSpPr>
          <p:cNvPr id="12" name="Shape 10"/>
          <p:cNvSpPr/>
          <p:nvPr/>
        </p:nvSpPr>
        <p:spPr>
          <a:xfrm>
            <a:off x="7589520" y="2011680"/>
            <a:ext cx="4053535" cy="987552"/>
          </a:xfrm>
          <a:prstGeom prst="roundRect">
            <a:avLst>
              <a:gd name="adj" fmla="val 7407"/>
            </a:avLst>
          </a:prstGeom>
          <a:solidFill>
            <a:srgbClr val="1F1F1F"/>
          </a:solidFill>
          <a:ln w="9525">
            <a:solidFill>
              <a:srgbClr val="3A3A3A"/>
            </a:solidFill>
            <a:prstDash val="solid"/>
          </a:ln>
        </p:spPr>
        <p:txBody>
          <a:bodyPr/>
          <a:lstStyle/>
          <a:p>
            <a:endParaRPr lang="en-US"/>
          </a:p>
        </p:txBody>
      </p:sp>
      <p:sp>
        <p:nvSpPr>
          <p:cNvPr id="13" name="Text 11"/>
          <p:cNvSpPr txBox="1"/>
          <p:nvPr/>
        </p:nvSpPr>
        <p:spPr>
          <a:xfrm>
            <a:off x="7863840" y="2121408"/>
            <a:ext cx="3504895" cy="3657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57%</a:t>
            </a:r>
            <a:endParaRPr lang="en-US" sz="2200" dirty="0"/>
          </a:p>
        </p:txBody>
      </p:sp>
      <p:sp>
        <p:nvSpPr>
          <p:cNvPr id="14" name="Text 12"/>
          <p:cNvSpPr txBox="1"/>
          <p:nvPr/>
        </p:nvSpPr>
        <p:spPr>
          <a:xfrm>
            <a:off x="7863840" y="2487168"/>
            <a:ext cx="3504895" cy="457200"/>
          </a:xfrm>
          <a:prstGeom prst="rect">
            <a:avLst/>
          </a:prstGeom>
          <a:noFill/>
          <a:ln/>
        </p:spPr>
        <p:txBody>
          <a:bodyPr wrap="square" lIns="0" tIns="0" rIns="0" bIns="0" rtlCol="0" anchor="t"/>
          <a:lstStyle/>
          <a:p>
            <a:pPr marL="0" indent="0">
              <a:lnSpc>
                <a:spcPct val="105000"/>
              </a:lnSpc>
              <a:buNone/>
            </a:pPr>
            <a:r>
              <a:rPr lang="en-US" sz="1150" dirty="0">
                <a:solidFill>
                  <a:srgbClr val="E6E6E6"/>
                </a:solidFill>
                <a:latin typeface="Arial" pitchFamily="34" charset="0"/>
                <a:ea typeface="Arial" pitchFamily="34" charset="-122"/>
                <a:cs typeface="Arial" pitchFamily="34" charset="-120"/>
              </a:rPr>
              <a:t>of DRAM shipments now go to data centers; 65% of DRAM revenue. [17]</a:t>
            </a:r>
            <a:endParaRPr lang="en-US" sz="1150" dirty="0"/>
          </a:p>
        </p:txBody>
      </p:sp>
      <p:sp>
        <p:nvSpPr>
          <p:cNvPr id="15" name="Shape 13"/>
          <p:cNvSpPr/>
          <p:nvPr/>
        </p:nvSpPr>
        <p:spPr>
          <a:xfrm>
            <a:off x="7589520" y="3145536"/>
            <a:ext cx="4053535" cy="987552"/>
          </a:xfrm>
          <a:prstGeom prst="roundRect">
            <a:avLst>
              <a:gd name="adj" fmla="val 7407"/>
            </a:avLst>
          </a:prstGeom>
          <a:solidFill>
            <a:srgbClr val="1F1F1F"/>
          </a:solidFill>
          <a:ln w="9525">
            <a:solidFill>
              <a:srgbClr val="3A3A3A"/>
            </a:solidFill>
            <a:prstDash val="solid"/>
          </a:ln>
        </p:spPr>
        <p:txBody>
          <a:bodyPr/>
          <a:lstStyle/>
          <a:p>
            <a:endParaRPr lang="en-US"/>
          </a:p>
        </p:txBody>
      </p:sp>
      <p:sp>
        <p:nvSpPr>
          <p:cNvPr id="16" name="Text 14"/>
          <p:cNvSpPr txBox="1"/>
          <p:nvPr/>
        </p:nvSpPr>
        <p:spPr>
          <a:xfrm>
            <a:off x="7863840" y="3255264"/>
            <a:ext cx="3504895" cy="3657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Sold out</a:t>
            </a:r>
            <a:endParaRPr lang="en-US" sz="2200" dirty="0"/>
          </a:p>
        </p:txBody>
      </p:sp>
      <p:sp>
        <p:nvSpPr>
          <p:cNvPr id="17" name="Text 15"/>
          <p:cNvSpPr txBox="1"/>
          <p:nvPr/>
        </p:nvSpPr>
        <p:spPr>
          <a:xfrm>
            <a:off x="7863840" y="3621024"/>
            <a:ext cx="3504895" cy="457200"/>
          </a:xfrm>
          <a:prstGeom prst="rect">
            <a:avLst/>
          </a:prstGeom>
          <a:noFill/>
          <a:ln/>
        </p:spPr>
        <p:txBody>
          <a:bodyPr wrap="square" lIns="0" tIns="0" rIns="0" bIns="0" rtlCol="0" anchor="t"/>
          <a:lstStyle/>
          <a:p>
            <a:pPr marL="0" indent="0">
              <a:lnSpc>
                <a:spcPct val="105000"/>
              </a:lnSpc>
              <a:buNone/>
            </a:pPr>
            <a:r>
              <a:rPr lang="en-US" sz="1150" dirty="0">
                <a:solidFill>
                  <a:srgbClr val="E6E6E6"/>
                </a:solidFill>
                <a:latin typeface="Arial" pitchFamily="34" charset="0"/>
                <a:ea typeface="Arial" pitchFamily="34" charset="-122"/>
                <a:cs typeface="Arial" pitchFamily="34" charset="-120"/>
              </a:rPr>
              <a:t>SK Hynix committed its entire 2026 output before the year began. [18]</a:t>
            </a:r>
            <a:endParaRPr lang="en-US" sz="1150" dirty="0"/>
          </a:p>
        </p:txBody>
      </p:sp>
      <p:sp>
        <p:nvSpPr>
          <p:cNvPr id="18" name="Shape 16"/>
          <p:cNvSpPr/>
          <p:nvPr/>
        </p:nvSpPr>
        <p:spPr>
          <a:xfrm>
            <a:off x="7589520" y="4279392"/>
            <a:ext cx="4053535" cy="987552"/>
          </a:xfrm>
          <a:prstGeom prst="roundRect">
            <a:avLst>
              <a:gd name="adj" fmla="val 7407"/>
            </a:avLst>
          </a:prstGeom>
          <a:solidFill>
            <a:srgbClr val="1F1F1F"/>
          </a:solidFill>
          <a:ln w="9525">
            <a:solidFill>
              <a:srgbClr val="3A3A3A"/>
            </a:solidFill>
            <a:prstDash val="solid"/>
          </a:ln>
        </p:spPr>
        <p:txBody>
          <a:bodyPr/>
          <a:lstStyle/>
          <a:p>
            <a:endParaRPr lang="en-US"/>
          </a:p>
        </p:txBody>
      </p:sp>
      <p:sp>
        <p:nvSpPr>
          <p:cNvPr id="19" name="Text 17"/>
          <p:cNvSpPr txBox="1"/>
          <p:nvPr/>
        </p:nvSpPr>
        <p:spPr>
          <a:xfrm>
            <a:off x="7863840" y="4389120"/>
            <a:ext cx="3504895" cy="3657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Beyond 2030</a:t>
            </a:r>
            <a:endParaRPr lang="en-US" sz="2200" dirty="0"/>
          </a:p>
        </p:txBody>
      </p:sp>
      <p:sp>
        <p:nvSpPr>
          <p:cNvPr id="20" name="Text 18"/>
          <p:cNvSpPr txBox="1"/>
          <p:nvPr/>
        </p:nvSpPr>
        <p:spPr>
          <a:xfrm>
            <a:off x="7863840" y="4754880"/>
            <a:ext cx="3504895" cy="457200"/>
          </a:xfrm>
          <a:prstGeom prst="rect">
            <a:avLst/>
          </a:prstGeom>
          <a:noFill/>
          <a:ln/>
        </p:spPr>
        <p:txBody>
          <a:bodyPr wrap="square" lIns="0" tIns="0" rIns="0" bIns="0" rtlCol="0" anchor="t"/>
          <a:lstStyle/>
          <a:p>
            <a:pPr marL="0" indent="0">
              <a:lnSpc>
                <a:spcPct val="105000"/>
              </a:lnSpc>
              <a:buNone/>
            </a:pPr>
            <a:r>
              <a:rPr lang="en-US" sz="1150" dirty="0">
                <a:solidFill>
                  <a:srgbClr val="E6E6E6"/>
                </a:solidFill>
                <a:latin typeface="Arial" pitchFamily="34" charset="0"/>
                <a:ea typeface="Arial" pitchFamily="34" charset="-122"/>
                <a:cs typeface="Arial" pitchFamily="34" charset="-120"/>
              </a:rPr>
              <a:t>How long SK Hynix’s CEO expects the shortage to last. [18]</a:t>
            </a:r>
            <a:endParaRPr lang="en-US" sz="1150" dirty="0"/>
          </a:p>
        </p:txBody>
      </p:sp>
      <p:sp>
        <p:nvSpPr>
          <p:cNvPr id="21" name="Text 19"/>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A3A3A3"/>
                </a:solidFill>
                <a:latin typeface="Courier New" pitchFamily="34" charset="0"/>
                <a:ea typeface="Courier New" pitchFamily="34" charset="-122"/>
                <a:cs typeface="Courier New" pitchFamily="34" charset="-120"/>
              </a:rPr>
              <a:t>[17] Counterpoint Research, Memory Tracker, 29 Jun 2026, as reported by TechTimes, 1 Jul 2026.   [18] Bloomberg, “SK Hynix Sells Full 2026 Chip Slate in Strong AI Demand Sign”, 28 Oct 2025; Bloomberg, “SK Hynix CEO Expects Memory Crunch to Last Beyond 2030”, 10 Jul 2026.</a:t>
            </a:r>
            <a:endParaRPr lang="en-US" sz="800" dirty="0"/>
          </a:p>
        </p:txBody>
      </p:sp>
      <p:pic>
        <p:nvPicPr>
          <p:cNvPr id="22" name="Picture 21"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02 · last year’s conclusion</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Last year’s conclusion points at a cache</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103120"/>
            <a:ext cx="5120640" cy="2697480"/>
          </a:xfrm>
          <a:prstGeom prst="roundRect">
            <a:avLst>
              <a:gd name="adj" fmla="val 2712"/>
            </a:avLst>
          </a:prstGeom>
          <a:solidFill>
            <a:srgbClr val="FFFFFF"/>
          </a:solidFill>
          <a:ln w="9525">
            <a:solidFill>
              <a:srgbClr val="DED9D0"/>
            </a:solidFill>
            <a:prstDash val="solid"/>
          </a:ln>
        </p:spPr>
        <p:txBody>
          <a:bodyPr/>
          <a:lstStyle/>
          <a:p>
            <a:endParaRPr lang="en-US"/>
          </a:p>
        </p:txBody>
      </p:sp>
      <p:sp>
        <p:nvSpPr>
          <p:cNvPr id="9" name="Text 7"/>
          <p:cNvSpPr txBox="1"/>
          <p:nvPr/>
        </p:nvSpPr>
        <p:spPr>
          <a:xfrm>
            <a:off x="822960" y="2304288"/>
            <a:ext cx="4572000"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MySQL Brazil 2025 · what we concluded [16]</a:t>
            </a:r>
            <a:endParaRPr lang="en-US" sz="950" dirty="0"/>
          </a:p>
        </p:txBody>
      </p:sp>
      <p:sp>
        <p:nvSpPr>
          <p:cNvPr id="10" name="Shape 8"/>
          <p:cNvSpPr/>
          <p:nvPr/>
        </p:nvSpPr>
        <p:spPr>
          <a:xfrm>
            <a:off x="822960" y="2734056"/>
            <a:ext cx="82296" cy="82296"/>
          </a:xfrm>
          <a:prstGeom prst="ellipse">
            <a:avLst/>
          </a:prstGeom>
          <a:solidFill>
            <a:srgbClr val="E5472F"/>
          </a:solidFill>
          <a:ln w="12700">
            <a:solidFill>
              <a:srgbClr val="E5472F"/>
            </a:solidFill>
            <a:prstDash val="solid"/>
          </a:ln>
        </p:spPr>
        <p:txBody>
          <a:bodyPr/>
          <a:lstStyle/>
          <a:p>
            <a:endParaRPr lang="en-US"/>
          </a:p>
        </p:txBody>
      </p:sp>
      <p:sp>
        <p:nvSpPr>
          <p:cNvPr id="11" name="Text 9"/>
          <p:cNvSpPr txBox="1"/>
          <p:nvPr/>
        </p:nvSpPr>
        <p:spPr>
          <a:xfrm>
            <a:off x="1051560" y="2651760"/>
            <a:ext cx="4343400" cy="685800"/>
          </a:xfrm>
          <a:prstGeom prst="rect">
            <a:avLst/>
          </a:prstGeom>
          <a:noFill/>
          <a:ln/>
        </p:spPr>
        <p:txBody>
          <a:bodyPr wrap="square" lIns="0" tIns="0" rIns="0" bIns="0" rtlCol="0" anchor="t"/>
          <a:lstStyle/>
          <a:p>
            <a:pPr marL="0" indent="0">
              <a:lnSpc>
                <a:spcPct val="112000"/>
              </a:lnSpc>
              <a:buNone/>
            </a:pPr>
            <a:r>
              <a:rPr lang="en-US" sz="1300" b="1" dirty="0">
                <a:solidFill>
                  <a:srgbClr val="141414"/>
                </a:solidFill>
                <a:latin typeface="Arial" pitchFamily="34" charset="0"/>
                <a:ea typeface="Arial" pitchFamily="34" charset="-122"/>
                <a:cs typeface="Arial" pitchFamily="34" charset="-120"/>
              </a:rPr>
              <a:t>Replicas run the same plan on the same data. </a:t>
            </a:r>
            <a:r>
              <a:rPr lang="en-US" sz="1300" dirty="0">
                <a:solidFill>
                  <a:srgbClr val="141414"/>
                </a:solidFill>
                <a:latin typeface="Arial" pitchFamily="34" charset="0"/>
                <a:ea typeface="Arial" pitchFamily="34" charset="-122"/>
                <a:cs typeface="Arial" pitchFamily="34" charset="-120"/>
              </a:rPr>
              <a:t>A slow query stays slow on every copy.</a:t>
            </a:r>
            <a:endParaRPr lang="en-US" sz="1300" dirty="0"/>
          </a:p>
        </p:txBody>
      </p:sp>
      <p:sp>
        <p:nvSpPr>
          <p:cNvPr id="12" name="Shape 10"/>
          <p:cNvSpPr/>
          <p:nvPr/>
        </p:nvSpPr>
        <p:spPr>
          <a:xfrm>
            <a:off x="822960" y="3465576"/>
            <a:ext cx="82296" cy="82296"/>
          </a:xfrm>
          <a:prstGeom prst="ellipse">
            <a:avLst/>
          </a:prstGeom>
          <a:solidFill>
            <a:srgbClr val="E5472F"/>
          </a:solidFill>
          <a:ln w="12700">
            <a:solidFill>
              <a:srgbClr val="E5472F"/>
            </a:solidFill>
            <a:prstDash val="solid"/>
          </a:ln>
        </p:spPr>
        <p:txBody>
          <a:bodyPr/>
          <a:lstStyle/>
          <a:p>
            <a:endParaRPr lang="en-US"/>
          </a:p>
        </p:txBody>
      </p:sp>
      <p:sp>
        <p:nvSpPr>
          <p:cNvPr id="13" name="Text 11"/>
          <p:cNvSpPr txBox="1"/>
          <p:nvPr/>
        </p:nvSpPr>
        <p:spPr>
          <a:xfrm>
            <a:off x="1051560" y="3383280"/>
            <a:ext cx="4343400" cy="685800"/>
          </a:xfrm>
          <a:prstGeom prst="rect">
            <a:avLst/>
          </a:prstGeom>
          <a:noFill/>
          <a:ln/>
        </p:spPr>
        <p:txBody>
          <a:bodyPr wrap="square" lIns="0" tIns="0" rIns="0" bIns="0" rtlCol="0" anchor="t"/>
          <a:lstStyle/>
          <a:p>
            <a:pPr marL="0" indent="0">
              <a:lnSpc>
                <a:spcPct val="112000"/>
              </a:lnSpc>
              <a:buNone/>
            </a:pPr>
            <a:r>
              <a:rPr lang="en-US" sz="1300" b="1" dirty="0">
                <a:solidFill>
                  <a:srgbClr val="141414"/>
                </a:solidFill>
                <a:latin typeface="Arial" pitchFamily="34" charset="0"/>
                <a:ea typeface="Arial" pitchFamily="34" charset="-122"/>
                <a:cs typeface="Arial" pitchFamily="34" charset="-120"/>
              </a:rPr>
              <a:t>Each replica adds CPU, I/O and network. </a:t>
            </a:r>
            <a:r>
              <a:rPr lang="en-US" sz="1300" dirty="0">
                <a:solidFill>
                  <a:srgbClr val="141414"/>
                </a:solidFill>
                <a:latin typeface="Arial" pitchFamily="34" charset="0"/>
                <a:ea typeface="Arial" pitchFamily="34" charset="-122"/>
                <a:cs typeface="Arial" pitchFamily="34" charset="-120"/>
              </a:rPr>
              <a:t>Two replicas, up to 300% more traffic. [7]</a:t>
            </a:r>
            <a:endParaRPr lang="en-US" sz="1300" dirty="0"/>
          </a:p>
        </p:txBody>
      </p:sp>
      <p:sp>
        <p:nvSpPr>
          <p:cNvPr id="14" name="Shape 12"/>
          <p:cNvSpPr/>
          <p:nvPr/>
        </p:nvSpPr>
        <p:spPr>
          <a:xfrm>
            <a:off x="822960" y="4197096"/>
            <a:ext cx="82296" cy="82296"/>
          </a:xfrm>
          <a:prstGeom prst="ellipse">
            <a:avLst/>
          </a:prstGeom>
          <a:solidFill>
            <a:srgbClr val="E5472F"/>
          </a:solidFill>
          <a:ln w="12700">
            <a:solidFill>
              <a:srgbClr val="E5472F"/>
            </a:solidFill>
            <a:prstDash val="solid"/>
          </a:ln>
        </p:spPr>
        <p:txBody>
          <a:bodyPr/>
          <a:lstStyle/>
          <a:p>
            <a:endParaRPr lang="en-US"/>
          </a:p>
        </p:txBody>
      </p:sp>
      <p:sp>
        <p:nvSpPr>
          <p:cNvPr id="15" name="Text 13"/>
          <p:cNvSpPr txBox="1"/>
          <p:nvPr/>
        </p:nvSpPr>
        <p:spPr>
          <a:xfrm>
            <a:off x="1051560" y="4114800"/>
            <a:ext cx="4343400" cy="594360"/>
          </a:xfrm>
          <a:prstGeom prst="rect">
            <a:avLst/>
          </a:prstGeom>
          <a:noFill/>
          <a:ln/>
        </p:spPr>
        <p:txBody>
          <a:bodyPr wrap="square" lIns="0" tIns="0" rIns="0" bIns="0" rtlCol="0" anchor="t"/>
          <a:lstStyle/>
          <a:p>
            <a:pPr marL="0" indent="0">
              <a:lnSpc>
                <a:spcPct val="112000"/>
              </a:lnSpc>
              <a:buNone/>
            </a:pPr>
            <a:r>
              <a:rPr lang="en-US" sz="1300" b="1" dirty="0">
                <a:solidFill>
                  <a:srgbClr val="141414"/>
                </a:solidFill>
                <a:latin typeface="Arial" pitchFamily="34" charset="0"/>
                <a:ea typeface="Arial" pitchFamily="34" charset="-122"/>
                <a:cs typeface="Arial" pitchFamily="34" charset="-120"/>
              </a:rPr>
              <a:t>Every replica is another full database </a:t>
            </a:r>
            <a:r>
              <a:rPr lang="en-US" sz="1300" dirty="0">
                <a:solidFill>
                  <a:srgbClr val="141414"/>
                </a:solidFill>
                <a:latin typeface="Arial" pitchFamily="34" charset="0"/>
                <a:ea typeface="Arial" pitchFamily="34" charset="-122"/>
                <a:cs typeface="Arial" pitchFamily="34" charset="-120"/>
              </a:rPr>
              <a:t>to patch, monitor and fail over.</a:t>
            </a:r>
            <a:endParaRPr lang="en-US" sz="1300" dirty="0"/>
          </a:p>
        </p:txBody>
      </p:sp>
      <p:sp>
        <p:nvSpPr>
          <p:cNvPr id="16" name="Text 14"/>
          <p:cNvSpPr txBox="1"/>
          <p:nvPr/>
        </p:nvSpPr>
        <p:spPr>
          <a:xfrm>
            <a:off x="6035040" y="2121408"/>
            <a:ext cx="5608015"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one copy of the data · results served from memory</a:t>
            </a:r>
            <a:endParaRPr lang="en-US" sz="950" dirty="0"/>
          </a:p>
        </p:txBody>
      </p:sp>
      <p:sp>
        <p:nvSpPr>
          <p:cNvPr id="17" name="Shape 15"/>
          <p:cNvSpPr/>
          <p:nvPr/>
        </p:nvSpPr>
        <p:spPr>
          <a:xfrm>
            <a:off x="6035040" y="3108960"/>
            <a:ext cx="1234440" cy="731520"/>
          </a:xfrm>
          <a:prstGeom prst="roundRect">
            <a:avLst>
              <a:gd name="adj" fmla="val 7500"/>
            </a:avLst>
          </a:prstGeom>
          <a:solidFill>
            <a:srgbClr val="FFFFFF"/>
          </a:solidFill>
          <a:ln w="9525">
            <a:solidFill>
              <a:srgbClr val="DED9D0"/>
            </a:solidFill>
            <a:prstDash val="solid"/>
          </a:ln>
        </p:spPr>
        <p:txBody>
          <a:bodyPr/>
          <a:lstStyle/>
          <a:p>
            <a:endParaRPr lang="en-US"/>
          </a:p>
        </p:txBody>
      </p:sp>
      <p:sp>
        <p:nvSpPr>
          <p:cNvPr id="18" name="Text 16"/>
          <p:cNvSpPr txBox="1"/>
          <p:nvPr/>
        </p:nvSpPr>
        <p:spPr>
          <a:xfrm>
            <a:off x="6035040" y="3108960"/>
            <a:ext cx="1234440" cy="7315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Application</a:t>
            </a:r>
            <a:endParaRPr lang="en-US" sz="1150" dirty="0"/>
          </a:p>
        </p:txBody>
      </p:sp>
      <p:sp>
        <p:nvSpPr>
          <p:cNvPr id="19" name="Shape 17"/>
          <p:cNvSpPr/>
          <p:nvPr/>
        </p:nvSpPr>
        <p:spPr>
          <a:xfrm>
            <a:off x="7955280" y="2971800"/>
            <a:ext cx="1691640" cy="1005840"/>
          </a:xfrm>
          <a:prstGeom prst="roundRect">
            <a:avLst>
              <a:gd name="adj" fmla="val 5455"/>
            </a:avLst>
          </a:prstGeom>
          <a:solidFill>
            <a:srgbClr val="E5472F"/>
          </a:solidFill>
          <a:ln w="9525">
            <a:solidFill>
              <a:srgbClr val="E5472F"/>
            </a:solidFill>
            <a:prstDash val="solid"/>
          </a:ln>
        </p:spPr>
        <p:txBody>
          <a:bodyPr/>
          <a:lstStyle/>
          <a:p>
            <a:endParaRPr lang="en-US"/>
          </a:p>
        </p:txBody>
      </p:sp>
      <p:sp>
        <p:nvSpPr>
          <p:cNvPr id="20" name="Text 18"/>
          <p:cNvSpPr txBox="1"/>
          <p:nvPr/>
        </p:nvSpPr>
        <p:spPr>
          <a:xfrm>
            <a:off x="7955280" y="2971800"/>
            <a:ext cx="1691640" cy="100584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Query cache</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results in memory</a:t>
            </a:r>
            <a:endParaRPr lang="en-US" sz="1150" dirty="0"/>
          </a:p>
        </p:txBody>
      </p:sp>
      <p:sp>
        <p:nvSpPr>
          <p:cNvPr id="21" name="Shape 19"/>
          <p:cNvSpPr/>
          <p:nvPr/>
        </p:nvSpPr>
        <p:spPr>
          <a:xfrm>
            <a:off x="10332720" y="3108960"/>
            <a:ext cx="1188720" cy="731520"/>
          </a:xfrm>
          <a:prstGeom prst="roundRect">
            <a:avLst>
              <a:gd name="adj" fmla="val 7500"/>
            </a:avLst>
          </a:prstGeom>
          <a:solidFill>
            <a:srgbClr val="141414"/>
          </a:solidFill>
          <a:ln w="9525">
            <a:solidFill>
              <a:srgbClr val="141414"/>
            </a:solidFill>
            <a:prstDash val="solid"/>
          </a:ln>
        </p:spPr>
        <p:txBody>
          <a:bodyPr/>
          <a:lstStyle/>
          <a:p>
            <a:endParaRPr lang="en-US"/>
          </a:p>
        </p:txBody>
      </p:sp>
      <p:sp>
        <p:nvSpPr>
          <p:cNvPr id="22" name="Text 20"/>
          <p:cNvSpPr txBox="1"/>
          <p:nvPr/>
        </p:nvSpPr>
        <p:spPr>
          <a:xfrm>
            <a:off x="10332720" y="3108960"/>
            <a:ext cx="1188720" cy="73152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Primary</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one copy</a:t>
            </a:r>
            <a:endParaRPr lang="en-US" sz="1150" dirty="0"/>
          </a:p>
        </p:txBody>
      </p:sp>
      <p:sp>
        <p:nvSpPr>
          <p:cNvPr id="23" name="Shape 21"/>
          <p:cNvSpPr/>
          <p:nvPr/>
        </p:nvSpPr>
        <p:spPr>
          <a:xfrm>
            <a:off x="7269480" y="3474720"/>
            <a:ext cx="685800" cy="0"/>
          </a:xfrm>
          <a:prstGeom prst="line">
            <a:avLst/>
          </a:prstGeom>
          <a:noFill/>
          <a:ln w="15875">
            <a:solidFill>
              <a:srgbClr val="141414"/>
            </a:solidFill>
            <a:prstDash val="solid"/>
            <a:tailEnd type="triangle"/>
          </a:ln>
        </p:spPr>
        <p:txBody>
          <a:bodyPr/>
          <a:lstStyle/>
          <a:p>
            <a:endParaRPr lang="en-US"/>
          </a:p>
        </p:txBody>
      </p:sp>
      <p:sp>
        <p:nvSpPr>
          <p:cNvPr id="24" name="Shape 22"/>
          <p:cNvSpPr/>
          <p:nvPr/>
        </p:nvSpPr>
        <p:spPr>
          <a:xfrm>
            <a:off x="9646920" y="3474720"/>
            <a:ext cx="685800" cy="0"/>
          </a:xfrm>
          <a:prstGeom prst="line">
            <a:avLst/>
          </a:prstGeom>
          <a:noFill/>
          <a:ln w="15875">
            <a:solidFill>
              <a:srgbClr val="141414"/>
            </a:solidFill>
            <a:prstDash val="solid"/>
            <a:tailEnd type="triangle"/>
          </a:ln>
        </p:spPr>
        <p:txBody>
          <a:bodyPr/>
          <a:lstStyle/>
          <a:p>
            <a:endParaRPr lang="en-US"/>
          </a:p>
        </p:txBody>
      </p:sp>
      <p:sp>
        <p:nvSpPr>
          <p:cNvPr id="25" name="Text 23"/>
          <p:cNvSpPr txBox="1"/>
          <p:nvPr/>
        </p:nvSpPr>
        <p:spPr>
          <a:xfrm>
            <a:off x="7132320" y="2724912"/>
            <a:ext cx="960120" cy="228600"/>
          </a:xfrm>
          <a:prstGeom prst="rect">
            <a:avLst/>
          </a:prstGeom>
          <a:noFill/>
          <a:ln/>
        </p:spPr>
        <p:txBody>
          <a:bodyPr wrap="square" lIns="0" tIns="0" rIns="0" bIns="0" rtlCol="0" anchor="ctr"/>
          <a:lstStyle/>
          <a:p>
            <a:pPr marL="0" indent="0" algn="ctr">
              <a:buNone/>
            </a:pPr>
            <a:r>
              <a:rPr lang="en-US" sz="850" dirty="0">
                <a:solidFill>
                  <a:srgbClr val="6B6B6B"/>
                </a:solidFill>
                <a:latin typeface="Courier New" pitchFamily="34" charset="0"/>
                <a:ea typeface="Courier New" pitchFamily="34" charset="-122"/>
                <a:cs typeface="Courier New" pitchFamily="34" charset="-120"/>
              </a:rPr>
              <a:t>reads</a:t>
            </a:r>
            <a:endParaRPr lang="en-US" sz="850" dirty="0"/>
          </a:p>
        </p:txBody>
      </p:sp>
      <p:sp>
        <p:nvSpPr>
          <p:cNvPr id="26" name="Text 24"/>
          <p:cNvSpPr txBox="1"/>
          <p:nvPr/>
        </p:nvSpPr>
        <p:spPr>
          <a:xfrm>
            <a:off x="9464040" y="2724912"/>
            <a:ext cx="1051560" cy="228600"/>
          </a:xfrm>
          <a:prstGeom prst="rect">
            <a:avLst/>
          </a:prstGeom>
          <a:noFill/>
          <a:ln/>
        </p:spPr>
        <p:txBody>
          <a:bodyPr wrap="square" lIns="0" tIns="0" rIns="0" bIns="0" rtlCol="0" anchor="ctr"/>
          <a:lstStyle/>
          <a:p>
            <a:pPr marL="0" indent="0" algn="ctr">
              <a:buNone/>
            </a:pPr>
            <a:r>
              <a:rPr lang="en-US" sz="850" dirty="0">
                <a:solidFill>
                  <a:srgbClr val="6B6B6B"/>
                </a:solidFill>
                <a:latin typeface="Courier New" pitchFamily="34" charset="0"/>
                <a:ea typeface="Courier New" pitchFamily="34" charset="-122"/>
                <a:cs typeface="Courier New" pitchFamily="34" charset="-120"/>
              </a:rPr>
              <a:t>miss · writes</a:t>
            </a:r>
            <a:endParaRPr lang="en-US" sz="850" dirty="0"/>
          </a:p>
        </p:txBody>
      </p:sp>
      <p:sp>
        <p:nvSpPr>
          <p:cNvPr id="27" name="Text 25"/>
          <p:cNvSpPr txBox="1"/>
          <p:nvPr/>
        </p:nvSpPr>
        <p:spPr>
          <a:xfrm>
            <a:off x="7955280" y="4069080"/>
            <a:ext cx="3566160" cy="685800"/>
          </a:xfrm>
          <a:prstGeom prst="rect">
            <a:avLst/>
          </a:prstGeom>
          <a:noFill/>
          <a:ln/>
        </p:spPr>
        <p:txBody>
          <a:bodyPr wrap="square" lIns="0" tIns="0" rIns="0" bIns="0" rtlCol="0" anchor="t"/>
          <a:lstStyle/>
          <a:p>
            <a:pPr marL="0" indent="0">
              <a:lnSpc>
                <a:spcPct val="115000"/>
              </a:lnSpc>
              <a:buNone/>
            </a:pPr>
            <a:r>
              <a:rPr lang="en-US" sz="850" dirty="0">
                <a:solidFill>
                  <a:srgbClr val="6B6B6B"/>
                </a:solidFill>
                <a:latin typeface="Courier New" pitchFamily="34" charset="0"/>
                <a:ea typeface="Courier New" pitchFamily="34" charset="-122"/>
                <a:cs typeface="Courier New" pitchFamily="34" charset="-120"/>
              </a:rPr>
              <a:t>identical statement in, identical result out</a:t>
            </a:r>
            <a:endParaRPr lang="en-US" sz="850" dirty="0"/>
          </a:p>
          <a:p>
            <a:pPr marL="0" indent="0">
              <a:lnSpc>
                <a:spcPct val="115000"/>
              </a:lnSpc>
              <a:buNone/>
            </a:pPr>
            <a:r>
              <a:rPr lang="en-US" sz="850" dirty="0">
                <a:solidFill>
                  <a:srgbClr val="6B6B6B"/>
                </a:solidFill>
                <a:latin typeface="Courier New" pitchFamily="34" charset="0"/>
                <a:ea typeface="Courier New" pitchFamily="34" charset="-122"/>
                <a:cs typeface="Courier New" pitchFamily="34" charset="-120"/>
              </a:rPr>
              <a:t>invalidated when a table changes</a:t>
            </a:r>
            <a:endParaRPr lang="en-US" sz="850" dirty="0"/>
          </a:p>
          <a:p>
            <a:pPr marL="0" indent="0">
              <a:lnSpc>
                <a:spcPct val="115000"/>
              </a:lnSpc>
              <a:buNone/>
            </a:pPr>
            <a:r>
              <a:rPr lang="en-US" sz="850" dirty="0">
                <a:solidFill>
                  <a:srgbClr val="6B6B6B"/>
                </a:solidFill>
                <a:latin typeface="Courier New" pitchFamily="34" charset="0"/>
                <a:ea typeface="Courier New" pitchFamily="34" charset="-122"/>
                <a:cs typeface="Courier New" pitchFamily="34" charset="-120"/>
              </a:rPr>
              <a:t>no change to the application</a:t>
            </a:r>
            <a:endParaRPr lang="en-US" sz="850" dirty="0"/>
          </a:p>
        </p:txBody>
      </p:sp>
      <p:sp>
        <p:nvSpPr>
          <p:cNvPr id="28" name="Shape 26"/>
          <p:cNvSpPr/>
          <p:nvPr/>
        </p:nvSpPr>
        <p:spPr>
          <a:xfrm>
            <a:off x="548640" y="5029200"/>
            <a:ext cx="11094415" cy="640080"/>
          </a:xfrm>
          <a:prstGeom prst="roundRect">
            <a:avLst>
              <a:gd name="adj" fmla="val 11429"/>
            </a:avLst>
          </a:prstGeom>
          <a:solidFill>
            <a:srgbClr val="141414"/>
          </a:solidFill>
          <a:ln w="12700">
            <a:solidFill>
              <a:srgbClr val="141414"/>
            </a:solidFill>
            <a:prstDash val="solid"/>
          </a:ln>
        </p:spPr>
        <p:txBody>
          <a:bodyPr/>
          <a:lstStyle/>
          <a:p>
            <a:endParaRPr lang="en-US"/>
          </a:p>
        </p:txBody>
      </p:sp>
      <p:sp>
        <p:nvSpPr>
          <p:cNvPr id="29" name="Text 27"/>
          <p:cNvSpPr txBox="1"/>
          <p:nvPr/>
        </p:nvSpPr>
        <p:spPr>
          <a:xfrm>
            <a:off x="822960" y="5029200"/>
            <a:ext cx="10545775" cy="64008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Readyset did not invent this design. MySQL shipped it in 2001; the design just couldn’t keep up with hardware changes.</a:t>
            </a:r>
            <a:endParaRPr lang="en-US" sz="1450" dirty="0"/>
          </a:p>
        </p:txBody>
      </p:sp>
      <p:sp>
        <p:nvSpPr>
          <p:cNvPr id="30" name="Text 28"/>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[7] M. K. Shehzad, “The network footprint of replication in popular DBMSs”, arXiv:2008.05164, 2020.   [16] T. Sinha, “Beyond Read Replicas: Introducing QueryPilot for MySQL Scaling”, MySQL Brazil, São Paulo, 4 Oct 2025.</a:t>
            </a:r>
            <a:endParaRPr lang="en-US" sz="800" dirty="0"/>
          </a:p>
        </p:txBody>
      </p:sp>
      <p:pic>
        <p:nvPicPr>
          <p:cNvPr id="31" name="Picture 30"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03 · the query cache</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FFFFFF"/>
                </a:solidFill>
                <a:latin typeface="Arial" pitchFamily="34" charset="0"/>
                <a:ea typeface="Arial" pitchFamily="34" charset="-122"/>
                <a:cs typeface="Arial" pitchFamily="34" charset="-120"/>
              </a:rPr>
              <a:t>MySQL had a transparent, in-server cache in 2001.</a:t>
            </a:r>
            <a:endParaRPr lang="en-US" sz="3000" dirty="0"/>
          </a:p>
        </p:txBody>
      </p:sp>
      <p:sp>
        <p:nvSpPr>
          <p:cNvPr id="7" name="Shape 5"/>
          <p:cNvSpPr/>
          <p:nvPr/>
        </p:nvSpPr>
        <p:spPr>
          <a:xfrm>
            <a:off x="548640" y="1344168"/>
            <a:ext cx="11094415" cy="0"/>
          </a:xfrm>
          <a:prstGeom prst="line">
            <a:avLst/>
          </a:prstGeom>
          <a:noFill/>
          <a:ln w="9525">
            <a:solidFill>
              <a:srgbClr val="5A5A5A"/>
            </a:solidFill>
            <a:prstDash val="solid"/>
          </a:ln>
        </p:spPr>
        <p:txBody>
          <a:bodyPr/>
          <a:lstStyle/>
          <a:p>
            <a:endParaRPr lang="en-US"/>
          </a:p>
        </p:txBody>
      </p:sp>
      <p:sp>
        <p:nvSpPr>
          <p:cNvPr id="8" name="Shape 6"/>
          <p:cNvSpPr/>
          <p:nvPr/>
        </p:nvSpPr>
        <p:spPr>
          <a:xfrm>
            <a:off x="548640" y="2103120"/>
            <a:ext cx="6035040" cy="1874520"/>
          </a:xfrm>
          <a:prstGeom prst="roundRect">
            <a:avLst>
              <a:gd name="adj" fmla="val 3902"/>
            </a:avLst>
          </a:prstGeom>
          <a:solidFill>
            <a:srgbClr val="0B0B0B"/>
          </a:solidFill>
          <a:ln w="9525">
            <a:solidFill>
              <a:srgbClr val="3A3A3A"/>
            </a:solidFill>
            <a:prstDash val="solid"/>
          </a:ln>
        </p:spPr>
        <p:txBody>
          <a:bodyPr/>
          <a:lstStyle/>
          <a:p>
            <a:endParaRPr lang="en-US"/>
          </a:p>
        </p:txBody>
      </p:sp>
      <p:sp>
        <p:nvSpPr>
          <p:cNvPr id="9" name="Text 7"/>
          <p:cNvSpPr txBox="1"/>
          <p:nvPr/>
        </p:nvSpPr>
        <p:spPr>
          <a:xfrm>
            <a:off x="822960" y="2304288"/>
            <a:ext cx="5486400" cy="1508760"/>
          </a:xfrm>
          <a:prstGeom prst="rect">
            <a:avLst/>
          </a:prstGeom>
          <a:noFill/>
          <a:ln/>
        </p:spPr>
        <p:txBody>
          <a:bodyPr wrap="square" lIns="0" tIns="0" rIns="0" bIns="0" rtlCol="0" anchor="ctr"/>
          <a:lstStyle/>
          <a:p>
            <a:pPr marL="0" indent="0">
              <a:lnSpc>
                <a:spcPct val="130000"/>
              </a:lnSpc>
              <a:buNone/>
            </a:pPr>
            <a:r>
              <a:rPr lang="en-US" sz="1200" dirty="0">
                <a:solidFill>
                  <a:srgbClr val="A3A3A3"/>
                </a:solidFill>
                <a:latin typeface="Courier New" pitchFamily="34" charset="0"/>
                <a:ea typeface="Courier New" pitchFamily="34" charset="-122"/>
                <a:cs typeface="Courier New" pitchFamily="34" charset="-120"/>
              </a:rPr>
              <a:t>$ git show 1d26537da53f
</a:t>
            </a:r>
            <a:r>
              <a:rPr lang="en-US" sz="1200" dirty="0">
                <a:solidFill>
                  <a:srgbClr val="E5472F"/>
                </a:solidFill>
                <a:latin typeface="Courier New" pitchFamily="34" charset="0"/>
                <a:ea typeface="Courier New" pitchFamily="34" charset="-122"/>
                <a:cs typeface="Courier New" pitchFamily="34" charset="-120"/>
              </a:rPr>
              <a:t>commit 1d26537da53fee228b2f9d974d4806a06b76e33e
</a:t>
            </a:r>
            <a:r>
              <a:rPr lang="en-US" sz="1200" dirty="0">
                <a:solidFill>
                  <a:srgbClr val="FFFFFF"/>
                </a:solidFill>
                <a:latin typeface="Courier New" pitchFamily="34" charset="0"/>
                <a:ea typeface="Courier New" pitchFamily="34" charset="-122"/>
                <a:cs typeface="Courier New" pitchFamily="34" charset="-120"/>
              </a:rPr>
              <a:t>Author: </a:t>
            </a:r>
            <a:r>
              <a:rPr lang="en-US" sz="1200" dirty="0">
                <a:solidFill>
                  <a:srgbClr val="C8E26B"/>
                </a:solidFill>
                <a:latin typeface="Courier New" pitchFamily="34" charset="0"/>
                <a:ea typeface="Courier New" pitchFamily="34" charset="-122"/>
                <a:cs typeface="Courier New" pitchFamily="34" charset="-120"/>
              </a:rPr>
              <a:t>monty@hundin.mysql.fi
</a:t>
            </a:r>
            <a:r>
              <a:rPr lang="en-US" sz="1200" dirty="0">
                <a:solidFill>
                  <a:srgbClr val="A3A3A3"/>
                </a:solidFill>
                <a:latin typeface="Courier New" pitchFamily="34" charset="0"/>
                <a:ea typeface="Courier New" pitchFamily="34" charset="-122"/>
                <a:cs typeface="Courier New" pitchFamily="34" charset="-120"/>
              </a:rPr>
              <a:t>        Michael “Monty” Widenius, MySQL AB co-founder
</a:t>
            </a:r>
            <a:r>
              <a:rPr lang="en-US" sz="1200" dirty="0">
                <a:solidFill>
                  <a:srgbClr val="FFFFFF"/>
                </a:solidFill>
                <a:latin typeface="Courier New" pitchFamily="34" charset="0"/>
                <a:ea typeface="Courier New" pitchFamily="34" charset="-122"/>
                <a:cs typeface="Courier New" pitchFamily="34" charset="-120"/>
              </a:rPr>
              <a:t>Date:   Sun Dec 2 14:34:01 2001 +0200
</a:t>
            </a:r>
            <a:r>
              <a:rPr lang="en-US" sz="1200" dirty="0">
                <a:solidFill>
                  <a:srgbClr val="A3A3A3"/>
                </a:solidFill>
                <a:latin typeface="Courier New" pitchFamily="34" charset="0"/>
                <a:ea typeface="Courier New" pitchFamily="34" charset="-122"/>
                <a:cs typeface="Courier New" pitchFamily="34" charset="-120"/>
              </a:rPr>
              <a:t>        Query cache · source tree 4.0.1-alpha</a:t>
            </a:r>
            <a:endParaRPr lang="en-US" sz="1200" dirty="0"/>
          </a:p>
        </p:txBody>
      </p:sp>
      <p:sp>
        <p:nvSpPr>
          <p:cNvPr id="10" name="Text 8"/>
          <p:cNvSpPr txBox="1"/>
          <p:nvPr/>
        </p:nvSpPr>
        <p:spPr>
          <a:xfrm>
            <a:off x="6949440" y="2148840"/>
            <a:ext cx="4663440"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the specification</a:t>
            </a:r>
            <a:endParaRPr lang="en-US" sz="950" dirty="0"/>
          </a:p>
        </p:txBody>
      </p:sp>
      <p:sp>
        <p:nvSpPr>
          <p:cNvPr id="11" name="Text 9"/>
          <p:cNvSpPr txBox="1"/>
          <p:nvPr/>
        </p:nvSpPr>
        <p:spPr>
          <a:xfrm>
            <a:off x="6949440" y="2468880"/>
            <a:ext cx="4663440" cy="1828800"/>
          </a:xfrm>
          <a:prstGeom prst="rect">
            <a:avLst/>
          </a:prstGeom>
          <a:noFill/>
          <a:ln/>
        </p:spPr>
        <p:txBody>
          <a:bodyPr wrap="square" lIns="0" tIns="0" rIns="0" bIns="0" rtlCol="0" anchor="t"/>
          <a:lstStyle/>
          <a:p>
            <a:pPr marL="0" indent="0">
              <a:lnSpc>
                <a:spcPct val="112000"/>
              </a:lnSpc>
              <a:buNone/>
            </a:pPr>
            <a:r>
              <a:rPr lang="en-US" sz="1450" dirty="0">
                <a:solidFill>
                  <a:srgbClr val="E6E6E6"/>
                </a:solidFill>
                <a:latin typeface="Arial" pitchFamily="34" charset="0"/>
                <a:ea typeface="Arial" pitchFamily="34" charset="-122"/>
                <a:cs typeface="Arial" pitchFamily="34" charset="-120"/>
              </a:rPr>
              <a:t>Identical statement in, identical result out, from memory, with no change to the application. Invalidated the moment a table changed.
</a:t>
            </a:r>
            <a:r>
              <a:rPr lang="en-US" sz="1450" b="1" dirty="0">
                <a:solidFill>
                  <a:srgbClr val="FFFFFF"/>
                </a:solidFill>
                <a:latin typeface="Arial" pitchFamily="34" charset="0"/>
                <a:ea typeface="Arial" pitchFamily="34" charset="-122"/>
                <a:cs typeface="Arial" pitchFamily="34" charset="-120"/>
              </a:rPr>
              <a:t>As a specification, this is still what we want. </a:t>
            </a:r>
            <a:r>
              <a:rPr lang="en-US" sz="1450" dirty="0">
                <a:solidFill>
                  <a:srgbClr val="E6E6E6"/>
                </a:solidFill>
                <a:latin typeface="Arial" pitchFamily="34" charset="0"/>
                <a:ea typeface="Arial" pitchFamily="34" charset="-122"/>
                <a:cs typeface="Arial" pitchFamily="34" charset="-120"/>
              </a:rPr>
              <a:t>It was written for the hardware of 2001.</a:t>
            </a:r>
            <a:endParaRPr lang="en-US" sz="1450" dirty="0"/>
          </a:p>
        </p:txBody>
      </p:sp>
      <p:sp>
        <p:nvSpPr>
          <p:cNvPr id="12" name="Shape 10"/>
          <p:cNvSpPr/>
          <p:nvPr/>
        </p:nvSpPr>
        <p:spPr>
          <a:xfrm>
            <a:off x="1005840" y="4983480"/>
            <a:ext cx="10180015" cy="0"/>
          </a:xfrm>
          <a:prstGeom prst="line">
            <a:avLst/>
          </a:prstGeom>
          <a:noFill/>
          <a:ln w="12700">
            <a:solidFill>
              <a:srgbClr val="5A5A5A"/>
            </a:solidFill>
            <a:prstDash val="solid"/>
          </a:ln>
        </p:spPr>
        <p:txBody>
          <a:bodyPr/>
          <a:lstStyle/>
          <a:p>
            <a:endParaRPr lang="en-US"/>
          </a:p>
        </p:txBody>
      </p:sp>
      <p:sp>
        <p:nvSpPr>
          <p:cNvPr id="13" name="Shape 11"/>
          <p:cNvSpPr/>
          <p:nvPr/>
        </p:nvSpPr>
        <p:spPr>
          <a:xfrm>
            <a:off x="941832" y="4919472"/>
            <a:ext cx="128016" cy="128016"/>
          </a:xfrm>
          <a:prstGeom prst="ellipse">
            <a:avLst/>
          </a:prstGeom>
          <a:solidFill>
            <a:srgbClr val="E5472F"/>
          </a:solidFill>
          <a:ln w="12700">
            <a:solidFill>
              <a:srgbClr val="E5472F"/>
            </a:solidFill>
            <a:prstDash val="solid"/>
          </a:ln>
        </p:spPr>
        <p:txBody>
          <a:bodyPr/>
          <a:lstStyle/>
          <a:p>
            <a:endParaRPr lang="en-US"/>
          </a:p>
        </p:txBody>
      </p:sp>
      <p:sp>
        <p:nvSpPr>
          <p:cNvPr id="14" name="Text 12"/>
          <p:cNvSpPr txBox="1"/>
          <p:nvPr/>
        </p:nvSpPr>
        <p:spPr>
          <a:xfrm>
            <a:off x="91440" y="4480560"/>
            <a:ext cx="182880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2001</a:t>
            </a:r>
            <a:endParaRPr lang="en-US" sz="1500" dirty="0"/>
          </a:p>
        </p:txBody>
      </p:sp>
      <p:sp>
        <p:nvSpPr>
          <p:cNvPr id="15" name="Text 13"/>
          <p:cNvSpPr txBox="1"/>
          <p:nvPr/>
        </p:nvSpPr>
        <p:spPr>
          <a:xfrm>
            <a:off x="91440" y="5120640"/>
            <a:ext cx="1828800" cy="502920"/>
          </a:xfrm>
          <a:prstGeom prst="rect">
            <a:avLst/>
          </a:prstGeom>
          <a:noFill/>
          <a:ln/>
        </p:spPr>
        <p:txBody>
          <a:bodyPr wrap="square" lIns="0" tIns="0" rIns="0" bIns="0" rtlCol="0" anchor="t"/>
          <a:lstStyle/>
          <a:p>
            <a:pPr marL="0" indent="0" algn="ctr">
              <a:buNone/>
            </a:pPr>
            <a:r>
              <a:rPr lang="en-US" sz="950" dirty="0">
                <a:solidFill>
                  <a:srgbClr val="A3A3A3"/>
                </a:solidFill>
                <a:latin typeface="Courier New" pitchFamily="34" charset="0"/>
                <a:ea typeface="Courier New" pitchFamily="34" charset="-122"/>
                <a:cs typeface="Courier New" pitchFamily="34" charset="-120"/>
              </a:rPr>
              <a:t>born</a:t>
            </a:r>
            <a:endParaRPr lang="en-US" sz="950" dirty="0"/>
          </a:p>
          <a:p>
            <a:pPr marL="0" indent="0" algn="ctr">
              <a:buNone/>
            </a:pPr>
            <a:r>
              <a:rPr lang="en-US" sz="950" dirty="0">
                <a:solidFill>
                  <a:srgbClr val="A3A3A3"/>
                </a:solidFill>
                <a:latin typeface="Courier New" pitchFamily="34" charset="0"/>
                <a:ea typeface="Courier New" pitchFamily="34" charset="-122"/>
                <a:cs typeface="Courier New" pitchFamily="34" charset="-120"/>
              </a:rPr>
              <a:t>4.0.1-alpha</a:t>
            </a:r>
            <a:endParaRPr lang="en-US" sz="950" dirty="0"/>
          </a:p>
        </p:txBody>
      </p:sp>
      <p:sp>
        <p:nvSpPr>
          <p:cNvPr id="16" name="Shape 14"/>
          <p:cNvSpPr/>
          <p:nvPr/>
        </p:nvSpPr>
        <p:spPr>
          <a:xfrm>
            <a:off x="4335170" y="4919472"/>
            <a:ext cx="128016" cy="128016"/>
          </a:xfrm>
          <a:prstGeom prst="ellipse">
            <a:avLst/>
          </a:prstGeom>
          <a:solidFill>
            <a:srgbClr val="E5472F"/>
          </a:solidFill>
          <a:ln w="12700">
            <a:solidFill>
              <a:srgbClr val="E5472F"/>
            </a:solidFill>
            <a:prstDash val="solid"/>
          </a:ln>
        </p:spPr>
        <p:txBody>
          <a:bodyPr/>
          <a:lstStyle/>
          <a:p>
            <a:endParaRPr lang="en-US"/>
          </a:p>
        </p:txBody>
      </p:sp>
      <p:sp>
        <p:nvSpPr>
          <p:cNvPr id="17" name="Text 15"/>
          <p:cNvSpPr txBox="1"/>
          <p:nvPr/>
        </p:nvSpPr>
        <p:spPr>
          <a:xfrm>
            <a:off x="3484778" y="4480560"/>
            <a:ext cx="182880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2003</a:t>
            </a:r>
            <a:endParaRPr lang="en-US" sz="1500" dirty="0"/>
          </a:p>
        </p:txBody>
      </p:sp>
      <p:sp>
        <p:nvSpPr>
          <p:cNvPr id="18" name="Text 16"/>
          <p:cNvSpPr txBox="1"/>
          <p:nvPr/>
        </p:nvSpPr>
        <p:spPr>
          <a:xfrm>
            <a:off x="3484778" y="5120640"/>
            <a:ext cx="1828800" cy="502920"/>
          </a:xfrm>
          <a:prstGeom prst="rect">
            <a:avLst/>
          </a:prstGeom>
          <a:noFill/>
          <a:ln/>
        </p:spPr>
        <p:txBody>
          <a:bodyPr wrap="square" lIns="0" tIns="0" rIns="0" bIns="0" rtlCol="0" anchor="t"/>
          <a:lstStyle/>
          <a:p>
            <a:pPr marL="0" indent="0" algn="ctr">
              <a:buNone/>
            </a:pPr>
            <a:r>
              <a:rPr lang="en-US" sz="950" dirty="0">
                <a:solidFill>
                  <a:srgbClr val="A3A3A3"/>
                </a:solidFill>
                <a:latin typeface="Courier New" pitchFamily="34" charset="0"/>
                <a:ea typeface="Courier New" pitchFamily="34" charset="-122"/>
                <a:cs typeface="Courier New" pitchFamily="34" charset="-120"/>
              </a:rPr>
              <a:t>shipped</a:t>
            </a:r>
            <a:endParaRPr lang="en-US" sz="950" dirty="0"/>
          </a:p>
          <a:p>
            <a:pPr marL="0" indent="0" algn="ctr">
              <a:buNone/>
            </a:pPr>
            <a:r>
              <a:rPr lang="en-US" sz="950" dirty="0">
                <a:solidFill>
                  <a:srgbClr val="A3A3A3"/>
                </a:solidFill>
                <a:latin typeface="Courier New" pitchFamily="34" charset="0"/>
                <a:ea typeface="Courier New" pitchFamily="34" charset="-122"/>
                <a:cs typeface="Courier New" pitchFamily="34" charset="-120"/>
              </a:rPr>
              <a:t>4.0 GA</a:t>
            </a:r>
            <a:endParaRPr lang="en-US" sz="950" dirty="0"/>
          </a:p>
        </p:txBody>
      </p:sp>
      <p:sp>
        <p:nvSpPr>
          <p:cNvPr id="19" name="Shape 17"/>
          <p:cNvSpPr/>
          <p:nvPr/>
        </p:nvSpPr>
        <p:spPr>
          <a:xfrm>
            <a:off x="7728509" y="4919472"/>
            <a:ext cx="128016" cy="128016"/>
          </a:xfrm>
          <a:prstGeom prst="ellipse">
            <a:avLst/>
          </a:prstGeom>
          <a:solidFill>
            <a:srgbClr val="E5472F"/>
          </a:solidFill>
          <a:ln w="12700">
            <a:solidFill>
              <a:srgbClr val="E5472F"/>
            </a:solidFill>
            <a:prstDash val="solid"/>
          </a:ln>
        </p:spPr>
        <p:txBody>
          <a:bodyPr/>
          <a:lstStyle/>
          <a:p>
            <a:endParaRPr lang="en-US"/>
          </a:p>
        </p:txBody>
      </p:sp>
      <p:sp>
        <p:nvSpPr>
          <p:cNvPr id="20" name="Text 18"/>
          <p:cNvSpPr txBox="1"/>
          <p:nvPr/>
        </p:nvSpPr>
        <p:spPr>
          <a:xfrm>
            <a:off x="6878117" y="4480560"/>
            <a:ext cx="182880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2013</a:t>
            </a:r>
            <a:endParaRPr lang="en-US" sz="1500" dirty="0"/>
          </a:p>
        </p:txBody>
      </p:sp>
      <p:sp>
        <p:nvSpPr>
          <p:cNvPr id="21" name="Text 19"/>
          <p:cNvSpPr txBox="1"/>
          <p:nvPr/>
        </p:nvSpPr>
        <p:spPr>
          <a:xfrm>
            <a:off x="6878117" y="5120640"/>
            <a:ext cx="1828800" cy="502920"/>
          </a:xfrm>
          <a:prstGeom prst="rect">
            <a:avLst/>
          </a:prstGeom>
          <a:noFill/>
          <a:ln/>
        </p:spPr>
        <p:txBody>
          <a:bodyPr wrap="square" lIns="0" tIns="0" rIns="0" bIns="0" rtlCol="0" anchor="t"/>
          <a:lstStyle/>
          <a:p>
            <a:pPr marL="0" indent="0" algn="ctr">
              <a:buNone/>
            </a:pPr>
            <a:r>
              <a:rPr lang="en-US" sz="950" dirty="0">
                <a:solidFill>
                  <a:srgbClr val="A3A3A3"/>
                </a:solidFill>
                <a:latin typeface="Courier New" pitchFamily="34" charset="0"/>
                <a:ea typeface="Courier New" pitchFamily="34" charset="-122"/>
                <a:cs typeface="Courier New" pitchFamily="34" charset="-120"/>
              </a:rPr>
              <a:t>default OFF</a:t>
            </a:r>
            <a:endParaRPr lang="en-US" sz="950" dirty="0"/>
          </a:p>
          <a:p>
            <a:pPr marL="0" indent="0" algn="ctr">
              <a:buNone/>
            </a:pPr>
            <a:r>
              <a:rPr lang="en-US" sz="950" dirty="0">
                <a:solidFill>
                  <a:srgbClr val="A3A3A3"/>
                </a:solidFill>
                <a:latin typeface="Courier New" pitchFamily="34" charset="0"/>
                <a:ea typeface="Courier New" pitchFamily="34" charset="-122"/>
                <a:cs typeface="Courier New" pitchFamily="34" charset="-120"/>
              </a:rPr>
              <a:t>5.6</a:t>
            </a:r>
            <a:endParaRPr lang="en-US" sz="950" dirty="0"/>
          </a:p>
        </p:txBody>
      </p:sp>
      <p:sp>
        <p:nvSpPr>
          <p:cNvPr id="22" name="Shape 20"/>
          <p:cNvSpPr/>
          <p:nvPr/>
        </p:nvSpPr>
        <p:spPr>
          <a:xfrm>
            <a:off x="11121847" y="4919472"/>
            <a:ext cx="128016" cy="128016"/>
          </a:xfrm>
          <a:prstGeom prst="ellipse">
            <a:avLst/>
          </a:prstGeom>
          <a:solidFill>
            <a:srgbClr val="E5472F"/>
          </a:solidFill>
          <a:ln w="12700">
            <a:solidFill>
              <a:srgbClr val="E5472F"/>
            </a:solidFill>
            <a:prstDash val="solid"/>
          </a:ln>
        </p:spPr>
        <p:txBody>
          <a:bodyPr/>
          <a:lstStyle/>
          <a:p>
            <a:endParaRPr lang="en-US"/>
          </a:p>
        </p:txBody>
      </p:sp>
      <p:sp>
        <p:nvSpPr>
          <p:cNvPr id="23" name="Text 21"/>
          <p:cNvSpPr txBox="1"/>
          <p:nvPr/>
        </p:nvSpPr>
        <p:spPr>
          <a:xfrm>
            <a:off x="10271455" y="4480560"/>
            <a:ext cx="182880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2017</a:t>
            </a:r>
            <a:endParaRPr lang="en-US" sz="1500" dirty="0"/>
          </a:p>
        </p:txBody>
      </p:sp>
      <p:sp>
        <p:nvSpPr>
          <p:cNvPr id="24" name="Text 22"/>
          <p:cNvSpPr txBox="1"/>
          <p:nvPr/>
        </p:nvSpPr>
        <p:spPr>
          <a:xfrm>
            <a:off x="10271455" y="5120640"/>
            <a:ext cx="1828800" cy="502920"/>
          </a:xfrm>
          <a:prstGeom prst="rect">
            <a:avLst/>
          </a:prstGeom>
          <a:noFill/>
          <a:ln/>
        </p:spPr>
        <p:txBody>
          <a:bodyPr wrap="square" lIns="0" tIns="0" rIns="0" bIns="0" rtlCol="0" anchor="t"/>
          <a:lstStyle/>
          <a:p>
            <a:pPr marL="0" indent="0" algn="ctr">
              <a:buNone/>
            </a:pPr>
            <a:r>
              <a:rPr lang="en-US" sz="950" dirty="0">
                <a:solidFill>
                  <a:srgbClr val="A3A3A3"/>
                </a:solidFill>
                <a:latin typeface="Courier New" pitchFamily="34" charset="0"/>
                <a:ea typeface="Courier New" pitchFamily="34" charset="-122"/>
                <a:cs typeface="Courier New" pitchFamily="34" charset="-120"/>
              </a:rPr>
              <a:t>removed</a:t>
            </a:r>
            <a:endParaRPr lang="en-US" sz="950" dirty="0"/>
          </a:p>
          <a:p>
            <a:pPr marL="0" indent="0" algn="ctr">
              <a:buNone/>
            </a:pPr>
            <a:r>
              <a:rPr lang="en-US" sz="950" dirty="0">
                <a:solidFill>
                  <a:srgbClr val="A3A3A3"/>
                </a:solidFill>
                <a:latin typeface="Courier New" pitchFamily="34" charset="0"/>
                <a:ea typeface="Courier New" pitchFamily="34" charset="-122"/>
                <a:cs typeface="Courier New" pitchFamily="34" charset="-120"/>
              </a:rPr>
              <a:t>8.0 · WL#10824</a:t>
            </a:r>
            <a:endParaRPr lang="en-US" sz="950" dirty="0"/>
          </a:p>
        </p:txBody>
      </p:sp>
      <p:sp>
        <p:nvSpPr>
          <p:cNvPr id="25" name="Text 23"/>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A3A3A3"/>
                </a:solidFill>
                <a:latin typeface="Courier New" pitchFamily="34" charset="0"/>
                <a:ea typeface="Courier New" pitchFamily="34" charset="-122"/>
                <a:cs typeface="Courier New" pitchFamily="34" charset="-120"/>
              </a:rPr>
              <a:t>[8] MySQL Server source history, commit 1d26537 (Dec 2001), as presented in M. Altmann, “What happened to the MySQL Query Cache?”, Percona Live Amsterdam, 11 Sep 2026.   [9] M. Lord, “MySQL 8.0: Retiring Support for the Query Cache”, MySQL Server Blog, 30 May 2017.</a:t>
            </a:r>
            <a:endParaRPr lang="en-US" sz="800" dirty="0"/>
          </a:p>
        </p:txBody>
      </p:sp>
      <p:pic>
        <p:nvPicPr>
          <p:cNvPr id="26" name="Picture 25"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03 · the query cache</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Retired in 8.0 for two implementation reasons.</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103120"/>
            <a:ext cx="5410048" cy="2240280"/>
          </a:xfrm>
          <a:prstGeom prst="roundRect">
            <a:avLst>
              <a:gd name="adj" fmla="val 3265"/>
            </a:avLst>
          </a:prstGeom>
          <a:solidFill>
            <a:srgbClr val="FFFFFF"/>
          </a:solidFill>
          <a:ln w="9525">
            <a:solidFill>
              <a:srgbClr val="DED9D0"/>
            </a:solidFill>
            <a:prstDash val="solid"/>
          </a:ln>
        </p:spPr>
        <p:txBody>
          <a:bodyPr/>
          <a:lstStyle/>
          <a:p>
            <a:endParaRPr lang="en-US"/>
          </a:p>
        </p:txBody>
      </p:sp>
      <p:sp>
        <p:nvSpPr>
          <p:cNvPr id="9" name="Text 7"/>
          <p:cNvSpPr txBox="1"/>
          <p:nvPr/>
        </p:nvSpPr>
        <p:spPr>
          <a:xfrm>
            <a:off x="822960" y="2331720"/>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one lock</a:t>
            </a:r>
            <a:endParaRPr lang="en-US" sz="950" dirty="0"/>
          </a:p>
        </p:txBody>
      </p:sp>
      <p:sp>
        <p:nvSpPr>
          <p:cNvPr id="10" name="Text 8"/>
          <p:cNvSpPr txBox="1"/>
          <p:nvPr/>
        </p:nvSpPr>
        <p:spPr>
          <a:xfrm>
            <a:off x="822960" y="2651760"/>
            <a:ext cx="4861408" cy="731520"/>
          </a:xfrm>
          <a:prstGeom prst="rect">
            <a:avLst/>
          </a:prstGeom>
          <a:noFill/>
          <a:ln/>
        </p:spPr>
        <p:txBody>
          <a:bodyPr wrap="square" lIns="0" tIns="0" rIns="0" bIns="0" rtlCol="0" anchor="t"/>
          <a:lstStyle/>
          <a:p>
            <a:pPr marL="0" indent="0">
              <a:lnSpc>
                <a:spcPct val="105000"/>
              </a:lnSpc>
              <a:buNone/>
            </a:pPr>
            <a:r>
              <a:rPr lang="en-US" sz="1800" b="1" dirty="0">
                <a:solidFill>
                  <a:srgbClr val="141414"/>
                </a:solidFill>
                <a:latin typeface="Arial" pitchFamily="34" charset="0"/>
                <a:ea typeface="Arial" pitchFamily="34" charset="-122"/>
                <a:cs typeface="Arial" pitchFamily="34" charset="-120"/>
              </a:rPr>
              <a:t>A single mutex guarded the whole cache.</a:t>
            </a:r>
            <a:endParaRPr lang="en-US" sz="1800" dirty="0"/>
          </a:p>
        </p:txBody>
      </p:sp>
      <p:sp>
        <p:nvSpPr>
          <p:cNvPr id="11" name="Text 9"/>
          <p:cNvSpPr txBox="1"/>
          <p:nvPr/>
        </p:nvSpPr>
        <p:spPr>
          <a:xfrm>
            <a:off x="822960" y="3429000"/>
            <a:ext cx="4861408" cy="822960"/>
          </a:xfrm>
          <a:prstGeom prst="rect">
            <a:avLst/>
          </a:prstGeom>
          <a:noFill/>
          <a:ln/>
        </p:spPr>
        <p:txBody>
          <a:bodyPr wrap="square" lIns="0" tIns="0" rIns="0" bIns="0" rtlCol="0" anchor="t"/>
          <a:lstStyle/>
          <a:p>
            <a:pPr marL="0" indent="0">
              <a:lnSpc>
                <a:spcPct val="110000"/>
              </a:lnSpc>
              <a:buNone/>
            </a:pPr>
            <a:r>
              <a:rPr lang="en-US" sz="1300" dirty="0">
                <a:solidFill>
                  <a:srgbClr val="141414"/>
                </a:solidFill>
                <a:latin typeface="Arial" pitchFamily="34" charset="0"/>
                <a:ea typeface="Arial" pitchFamily="34" charset="-122"/>
                <a:cs typeface="Arial" pitchFamily="34" charset="-120"/>
              </a:rPr>
              <a:t>Every hit, miss, insert and invalidation serialized on it. Oracle’s own summary: “known to not scale with high-throughput workloads on multi-core machines.” [9]</a:t>
            </a:r>
            <a:endParaRPr lang="en-US" sz="1300" dirty="0"/>
          </a:p>
        </p:txBody>
      </p:sp>
      <p:sp>
        <p:nvSpPr>
          <p:cNvPr id="12" name="Shape 10"/>
          <p:cNvSpPr/>
          <p:nvPr/>
        </p:nvSpPr>
        <p:spPr>
          <a:xfrm>
            <a:off x="6233008" y="2103120"/>
            <a:ext cx="5410048" cy="2240280"/>
          </a:xfrm>
          <a:prstGeom prst="roundRect">
            <a:avLst>
              <a:gd name="adj" fmla="val 3265"/>
            </a:avLst>
          </a:prstGeom>
          <a:solidFill>
            <a:srgbClr val="FFFFFF"/>
          </a:solidFill>
          <a:ln w="9525">
            <a:solidFill>
              <a:srgbClr val="DED9D0"/>
            </a:solidFill>
            <a:prstDash val="solid"/>
          </a:ln>
        </p:spPr>
        <p:txBody>
          <a:bodyPr/>
          <a:lstStyle/>
          <a:p>
            <a:endParaRPr lang="en-US"/>
          </a:p>
        </p:txBody>
      </p:sp>
      <p:sp>
        <p:nvSpPr>
          <p:cNvPr id="13" name="Text 11"/>
          <p:cNvSpPr txBox="1"/>
          <p:nvPr/>
        </p:nvSpPr>
        <p:spPr>
          <a:xfrm>
            <a:off x="6507328" y="2331720"/>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coarse invalidation</a:t>
            </a:r>
            <a:endParaRPr lang="en-US" sz="950" dirty="0"/>
          </a:p>
        </p:txBody>
      </p:sp>
      <p:sp>
        <p:nvSpPr>
          <p:cNvPr id="14" name="Text 12"/>
          <p:cNvSpPr txBox="1"/>
          <p:nvPr/>
        </p:nvSpPr>
        <p:spPr>
          <a:xfrm>
            <a:off x="6507328" y="2651760"/>
            <a:ext cx="4861408" cy="731520"/>
          </a:xfrm>
          <a:prstGeom prst="rect">
            <a:avLst/>
          </a:prstGeom>
          <a:noFill/>
          <a:ln/>
        </p:spPr>
        <p:txBody>
          <a:bodyPr wrap="square" lIns="0" tIns="0" rIns="0" bIns="0" rtlCol="0" anchor="t"/>
          <a:lstStyle/>
          <a:p>
            <a:pPr marL="0" indent="0">
              <a:lnSpc>
                <a:spcPct val="105000"/>
              </a:lnSpc>
              <a:buNone/>
            </a:pPr>
            <a:r>
              <a:rPr lang="en-US" sz="1800" b="1" dirty="0">
                <a:solidFill>
                  <a:srgbClr val="141414"/>
                </a:solidFill>
                <a:latin typeface="Arial" pitchFamily="34" charset="0"/>
                <a:ea typeface="Arial" pitchFamily="34" charset="-122"/>
                <a:cs typeface="Arial" pitchFamily="34" charset="-120"/>
              </a:rPr>
              <a:t>Any write to a table discarded every cached statement on that table.</a:t>
            </a:r>
            <a:endParaRPr lang="en-US" sz="1800" dirty="0"/>
          </a:p>
        </p:txBody>
      </p:sp>
      <p:sp>
        <p:nvSpPr>
          <p:cNvPr id="15" name="Text 13"/>
          <p:cNvSpPr txBox="1"/>
          <p:nvPr/>
        </p:nvSpPr>
        <p:spPr>
          <a:xfrm>
            <a:off x="6507328" y="3429000"/>
            <a:ext cx="4861408" cy="822960"/>
          </a:xfrm>
          <a:prstGeom prst="rect">
            <a:avLst/>
          </a:prstGeom>
          <a:noFill/>
          <a:ln/>
        </p:spPr>
        <p:txBody>
          <a:bodyPr wrap="square" lIns="0" tIns="0" rIns="0" bIns="0" rtlCol="0" anchor="t"/>
          <a:lstStyle/>
          <a:p>
            <a:pPr marL="0" indent="0">
              <a:lnSpc>
                <a:spcPct val="110000"/>
              </a:lnSpc>
              <a:buNone/>
            </a:pPr>
            <a:r>
              <a:rPr lang="en-US" sz="1300" dirty="0">
                <a:solidFill>
                  <a:srgbClr val="141414"/>
                </a:solidFill>
                <a:latin typeface="Arial" pitchFamily="34" charset="0"/>
                <a:ea typeface="Arial" pitchFamily="34" charset="-122"/>
                <a:cs typeface="Arial" pitchFamily="34" charset="-120"/>
              </a:rPr>
              <a:t>Whether or not the result had changed; no predicate was examined and no result compared. Under real write rates the cache was mostly empty.</a:t>
            </a:r>
            <a:endParaRPr lang="en-US" sz="1300" dirty="0"/>
          </a:p>
        </p:txBody>
      </p:sp>
      <p:sp>
        <p:nvSpPr>
          <p:cNvPr id="16" name="Shape 14"/>
          <p:cNvSpPr/>
          <p:nvPr/>
        </p:nvSpPr>
        <p:spPr>
          <a:xfrm>
            <a:off x="548640" y="4617720"/>
            <a:ext cx="11094415" cy="914400"/>
          </a:xfrm>
          <a:prstGeom prst="roundRect">
            <a:avLst>
              <a:gd name="adj" fmla="val 8000"/>
            </a:avLst>
          </a:prstGeom>
          <a:solidFill>
            <a:srgbClr val="141414"/>
          </a:solidFill>
          <a:ln w="12700">
            <a:solidFill>
              <a:srgbClr val="141414"/>
            </a:solidFill>
            <a:prstDash val="solid"/>
          </a:ln>
        </p:spPr>
        <p:txBody>
          <a:bodyPr/>
          <a:lstStyle/>
          <a:p>
            <a:endParaRPr lang="en-US"/>
          </a:p>
        </p:txBody>
      </p:sp>
      <p:sp>
        <p:nvSpPr>
          <p:cNvPr id="17" name="Text 15"/>
          <p:cNvSpPr txBox="1"/>
          <p:nvPr/>
        </p:nvSpPr>
        <p:spPr>
          <a:xfrm>
            <a:off x="822960" y="4617720"/>
            <a:ext cx="10545775" cy="914400"/>
          </a:xfrm>
          <a:prstGeom prst="rect">
            <a:avLst/>
          </a:prstGeom>
          <a:noFill/>
          <a:ln/>
        </p:spPr>
        <p:txBody>
          <a:bodyPr wrap="square" lIns="0" tIns="0" rIns="0" bIns="0" rtlCol="0" anchor="ctr"/>
          <a:lstStyle/>
          <a:p>
            <a:pPr marL="0" indent="0">
              <a:buNone/>
            </a:pPr>
            <a:r>
              <a:rPr lang="en-US" sz="1500" i="1" dirty="0">
                <a:solidFill>
                  <a:srgbClr val="FFFFFF"/>
                </a:solidFill>
                <a:latin typeface="Arial" pitchFamily="34" charset="0"/>
                <a:ea typeface="Arial" pitchFamily="34" charset="-122"/>
                <a:cs typeface="Arial" pitchFamily="34" charset="-120"/>
              </a:rPr>
              <a:t>“caching provides the greatest benefit when it is moved closer to the client.”  </a:t>
            </a:r>
            <a:r>
              <a:rPr lang="en-US" sz="1250" dirty="0">
                <a:solidFill>
                  <a:srgbClr val="A3A3A3"/>
                </a:solidFill>
                <a:latin typeface="Arial" pitchFamily="34" charset="0"/>
                <a:ea typeface="Arial" pitchFamily="34" charset="-122"/>
                <a:cs typeface="Arial" pitchFamily="34" charset="-120"/>
              </a:rPr>
              <a:t>— Oracle’s guidance at retirement: ProxySQL as a man-in-the-middle cache, or cache in the application. [9]</a:t>
            </a:r>
            <a:endParaRPr lang="en-US" sz="1500" dirty="0"/>
          </a:p>
        </p:txBody>
      </p:sp>
      <p:sp>
        <p:nvSpPr>
          <p:cNvPr id="18" name="Text 16"/>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[9] M. Lord, “MySQL 8.0: Retiring Support for the Query Cache”, MySQL Server Blog, 30 May 2017 — dev.mysql.com/blog-archive/mysql-8-0-retiring-support-for-the-query-cache/. Default-off since 5.6 (2013).</a:t>
            </a:r>
            <a:endParaRPr lang="en-US" sz="800" dirty="0"/>
          </a:p>
        </p:txBody>
      </p:sp>
      <p:pic>
        <p:nvPicPr>
          <p:cNvPr id="19" name="Picture 18"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04 · caching by hand</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So every application rebuilt the query cache by hand.</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103120"/>
            <a:ext cx="4754880" cy="2697480"/>
          </a:xfrm>
          <a:prstGeom prst="roundRect">
            <a:avLst>
              <a:gd name="adj" fmla="val 2712"/>
            </a:avLst>
          </a:prstGeom>
          <a:solidFill>
            <a:srgbClr val="141414"/>
          </a:solidFill>
          <a:ln w="12700">
            <a:solidFill>
              <a:srgbClr val="141414"/>
            </a:solidFill>
            <a:prstDash val="solid"/>
          </a:ln>
        </p:spPr>
        <p:txBody>
          <a:bodyPr/>
          <a:lstStyle/>
          <a:p>
            <a:endParaRPr lang="en-US"/>
          </a:p>
        </p:txBody>
      </p:sp>
      <p:sp>
        <p:nvSpPr>
          <p:cNvPr id="9" name="Text 7"/>
          <p:cNvSpPr txBox="1"/>
          <p:nvPr/>
        </p:nvSpPr>
        <p:spPr>
          <a:xfrm>
            <a:off x="822960" y="2286000"/>
            <a:ext cx="4206240"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the pattern, per read</a:t>
            </a:r>
            <a:endParaRPr lang="en-US" sz="950" dirty="0"/>
          </a:p>
        </p:txBody>
      </p:sp>
      <p:sp>
        <p:nvSpPr>
          <p:cNvPr id="10" name="Text 8"/>
          <p:cNvSpPr txBox="1"/>
          <p:nvPr/>
        </p:nvSpPr>
        <p:spPr>
          <a:xfrm>
            <a:off x="822960" y="2743200"/>
            <a:ext cx="4206240" cy="320040"/>
          </a:xfrm>
          <a:prstGeom prst="rect">
            <a:avLst/>
          </a:prstGeom>
          <a:noFill/>
          <a:ln/>
        </p:spPr>
        <p:txBody>
          <a:bodyPr wrap="square" lIns="0" tIns="0" rIns="0" bIns="0" rtlCol="0" anchor="ctr"/>
          <a:lstStyle/>
          <a:p>
            <a:pPr marL="0" indent="0">
              <a:buNone/>
            </a:pPr>
            <a:r>
              <a:rPr lang="en-US" sz="1150" dirty="0">
                <a:solidFill>
                  <a:srgbClr val="E5472F"/>
                </a:solidFill>
                <a:latin typeface="Courier New" pitchFamily="34" charset="0"/>
                <a:ea typeface="Courier New" pitchFamily="34" charset="-122"/>
                <a:cs typeface="Courier New" pitchFamily="34" charset="-120"/>
              </a:rPr>
              <a:t>01  </a:t>
            </a:r>
            <a:r>
              <a:rPr lang="en-US" sz="1150" b="1" dirty="0">
                <a:solidFill>
                  <a:srgbClr val="FFFFFF"/>
                </a:solidFill>
                <a:latin typeface="Courier New" pitchFamily="34" charset="0"/>
                <a:ea typeface="Courier New" pitchFamily="34" charset="-122"/>
                <a:cs typeface="Courier New" pitchFamily="34" charset="-120"/>
              </a:rPr>
              <a:t>build key       </a:t>
            </a:r>
            <a:r>
              <a:rPr lang="en-US" sz="1150" dirty="0">
                <a:solidFill>
                  <a:srgbClr val="A3A3A3"/>
                </a:solidFill>
                <a:latin typeface="Courier New" pitchFamily="34" charset="0"/>
                <a:ea typeface="Courier New" pitchFamily="34" charset="-122"/>
                <a:cs typeface="Courier New" pitchFamily="34" charset="-120"/>
              </a:rPr>
              <a:t>f"user:{id}"</a:t>
            </a:r>
            <a:endParaRPr lang="en-US" sz="1150" dirty="0"/>
          </a:p>
        </p:txBody>
      </p:sp>
      <p:sp>
        <p:nvSpPr>
          <p:cNvPr id="11" name="Text 9"/>
          <p:cNvSpPr txBox="1"/>
          <p:nvPr/>
        </p:nvSpPr>
        <p:spPr>
          <a:xfrm>
            <a:off x="822960" y="3127248"/>
            <a:ext cx="4206240" cy="320040"/>
          </a:xfrm>
          <a:prstGeom prst="rect">
            <a:avLst/>
          </a:prstGeom>
          <a:noFill/>
          <a:ln/>
        </p:spPr>
        <p:txBody>
          <a:bodyPr wrap="square" lIns="0" tIns="0" rIns="0" bIns="0" rtlCol="0" anchor="ctr"/>
          <a:lstStyle/>
          <a:p>
            <a:pPr marL="0" indent="0">
              <a:buNone/>
            </a:pPr>
            <a:r>
              <a:rPr lang="en-US" sz="1150" dirty="0">
                <a:solidFill>
                  <a:srgbClr val="E5472F"/>
                </a:solidFill>
                <a:latin typeface="Courier New" pitchFamily="34" charset="0"/>
                <a:ea typeface="Courier New" pitchFamily="34" charset="-122"/>
                <a:cs typeface="Courier New" pitchFamily="34" charset="-120"/>
              </a:rPr>
              <a:t>02  </a:t>
            </a:r>
            <a:r>
              <a:rPr lang="en-US" sz="1150" b="1" dirty="0">
                <a:solidFill>
                  <a:srgbClr val="FFFFFF"/>
                </a:solidFill>
                <a:latin typeface="Courier New" pitchFamily="34" charset="0"/>
                <a:ea typeface="Courier New" pitchFamily="34" charset="-122"/>
                <a:cs typeface="Courier New" pitchFamily="34" charset="-120"/>
              </a:rPr>
              <a:t>GET key         </a:t>
            </a:r>
            <a:r>
              <a:rPr lang="en-US" sz="1150" dirty="0">
                <a:solidFill>
                  <a:srgbClr val="A3A3A3"/>
                </a:solidFill>
                <a:latin typeface="Courier New" pitchFamily="34" charset="0"/>
                <a:ea typeface="Courier New" pitchFamily="34" charset="-122"/>
                <a:cs typeface="Courier New" pitchFamily="34" charset="-120"/>
              </a:rPr>
              <a:t>hit → deserialize → return</a:t>
            </a:r>
            <a:endParaRPr lang="en-US" sz="1150" dirty="0"/>
          </a:p>
        </p:txBody>
      </p:sp>
      <p:sp>
        <p:nvSpPr>
          <p:cNvPr id="12" name="Text 10"/>
          <p:cNvSpPr txBox="1"/>
          <p:nvPr/>
        </p:nvSpPr>
        <p:spPr>
          <a:xfrm>
            <a:off x="822960" y="3511296"/>
            <a:ext cx="4206240" cy="320040"/>
          </a:xfrm>
          <a:prstGeom prst="rect">
            <a:avLst/>
          </a:prstGeom>
          <a:noFill/>
          <a:ln/>
        </p:spPr>
        <p:txBody>
          <a:bodyPr wrap="square" lIns="0" tIns="0" rIns="0" bIns="0" rtlCol="0" anchor="ctr"/>
          <a:lstStyle/>
          <a:p>
            <a:pPr marL="0" indent="0">
              <a:buNone/>
            </a:pPr>
            <a:r>
              <a:rPr lang="en-US" sz="1150" dirty="0">
                <a:solidFill>
                  <a:srgbClr val="E5472F"/>
                </a:solidFill>
                <a:latin typeface="Courier New" pitchFamily="34" charset="0"/>
                <a:ea typeface="Courier New" pitchFamily="34" charset="-122"/>
                <a:cs typeface="Courier New" pitchFamily="34" charset="-120"/>
              </a:rPr>
              <a:t>03  </a:t>
            </a:r>
            <a:r>
              <a:rPr lang="en-US" sz="1150" b="1" dirty="0">
                <a:solidFill>
                  <a:srgbClr val="FFFFFF"/>
                </a:solidFill>
                <a:latin typeface="Courier New" pitchFamily="34" charset="0"/>
                <a:ea typeface="Courier New" pitchFamily="34" charset="-122"/>
                <a:cs typeface="Courier New" pitchFamily="34" charset="-120"/>
              </a:rPr>
              <a:t>miss            </a:t>
            </a:r>
            <a:r>
              <a:rPr lang="en-US" sz="1150" dirty="0">
                <a:solidFill>
                  <a:srgbClr val="A3A3A3"/>
                </a:solidFill>
                <a:latin typeface="Courier New" pitchFamily="34" charset="0"/>
                <a:ea typeface="Courier New" pitchFamily="34" charset="-122"/>
                <a:cs typeface="Courier New" pitchFamily="34" charset="-120"/>
              </a:rPr>
              <a:t>run the SQL</a:t>
            </a:r>
            <a:endParaRPr lang="en-US" sz="1150" dirty="0"/>
          </a:p>
        </p:txBody>
      </p:sp>
      <p:sp>
        <p:nvSpPr>
          <p:cNvPr id="13" name="Text 11"/>
          <p:cNvSpPr txBox="1"/>
          <p:nvPr/>
        </p:nvSpPr>
        <p:spPr>
          <a:xfrm>
            <a:off x="822960" y="3895344"/>
            <a:ext cx="4206240" cy="320040"/>
          </a:xfrm>
          <a:prstGeom prst="rect">
            <a:avLst/>
          </a:prstGeom>
          <a:noFill/>
          <a:ln/>
        </p:spPr>
        <p:txBody>
          <a:bodyPr wrap="square" lIns="0" tIns="0" rIns="0" bIns="0" rtlCol="0" anchor="ctr"/>
          <a:lstStyle/>
          <a:p>
            <a:pPr marL="0" indent="0">
              <a:buNone/>
            </a:pPr>
            <a:r>
              <a:rPr lang="en-US" sz="1150" dirty="0">
                <a:solidFill>
                  <a:srgbClr val="E5472F"/>
                </a:solidFill>
                <a:latin typeface="Courier New" pitchFamily="34" charset="0"/>
                <a:ea typeface="Courier New" pitchFamily="34" charset="-122"/>
                <a:cs typeface="Courier New" pitchFamily="34" charset="-120"/>
              </a:rPr>
              <a:t>04  </a:t>
            </a:r>
            <a:r>
              <a:rPr lang="en-US" sz="1150" b="1" dirty="0">
                <a:solidFill>
                  <a:srgbClr val="FFFFFF"/>
                </a:solidFill>
                <a:latin typeface="Courier New" pitchFamily="34" charset="0"/>
                <a:ea typeface="Courier New" pitchFamily="34" charset="-122"/>
                <a:cs typeface="Courier New" pitchFamily="34" charset="-120"/>
              </a:rPr>
              <a:t>SETEX key 300   </a:t>
            </a:r>
            <a:r>
              <a:rPr lang="en-US" sz="1150" dirty="0">
                <a:solidFill>
                  <a:srgbClr val="A3A3A3"/>
                </a:solidFill>
                <a:latin typeface="Courier New" pitchFamily="34" charset="0"/>
                <a:ea typeface="Courier New" pitchFamily="34" charset="-122"/>
                <a:cs typeface="Courier New" pitchFamily="34" charset="-120"/>
              </a:rPr>
              <a:t>guess at how long it holds</a:t>
            </a:r>
            <a:endParaRPr lang="en-US" sz="1150" dirty="0"/>
          </a:p>
        </p:txBody>
      </p:sp>
      <p:sp>
        <p:nvSpPr>
          <p:cNvPr id="14" name="Text 12"/>
          <p:cNvSpPr txBox="1"/>
          <p:nvPr/>
        </p:nvSpPr>
        <p:spPr>
          <a:xfrm>
            <a:off x="822960" y="4279392"/>
            <a:ext cx="4206240" cy="320040"/>
          </a:xfrm>
          <a:prstGeom prst="rect">
            <a:avLst/>
          </a:prstGeom>
          <a:noFill/>
          <a:ln/>
        </p:spPr>
        <p:txBody>
          <a:bodyPr wrap="square" lIns="0" tIns="0" rIns="0" bIns="0" rtlCol="0" anchor="ctr"/>
          <a:lstStyle/>
          <a:p>
            <a:pPr marL="0" indent="0">
              <a:buNone/>
            </a:pPr>
            <a:r>
              <a:rPr lang="en-US" sz="1150" dirty="0">
                <a:solidFill>
                  <a:srgbClr val="E5472F"/>
                </a:solidFill>
                <a:latin typeface="Courier New" pitchFamily="34" charset="0"/>
                <a:ea typeface="Courier New" pitchFamily="34" charset="-122"/>
                <a:cs typeface="Courier New" pitchFamily="34" charset="-120"/>
              </a:rPr>
              <a:t>05  </a:t>
            </a:r>
            <a:r>
              <a:rPr lang="en-US" sz="1150" b="1" dirty="0">
                <a:solidFill>
                  <a:srgbClr val="FFFFFF"/>
                </a:solidFill>
                <a:latin typeface="Courier New" pitchFamily="34" charset="0"/>
                <a:ea typeface="Courier New" pitchFamily="34" charset="-122"/>
                <a:cs typeface="Courier New" pitchFamily="34" charset="-120"/>
              </a:rPr>
              <a:t>repeat          </a:t>
            </a:r>
            <a:r>
              <a:rPr lang="en-US" sz="1150" dirty="0">
                <a:solidFill>
                  <a:srgbClr val="A3A3A3"/>
                </a:solidFill>
                <a:latin typeface="Courier New" pitchFamily="34" charset="0"/>
                <a:ea typeface="Courier New" pitchFamily="34" charset="-122"/>
                <a:cs typeface="Courier New" pitchFamily="34" charset="-120"/>
              </a:rPr>
              <a:t>for every cached read</a:t>
            </a:r>
            <a:endParaRPr lang="en-US" sz="1150" dirty="0"/>
          </a:p>
        </p:txBody>
      </p:sp>
      <p:sp>
        <p:nvSpPr>
          <p:cNvPr id="15" name="Shape 13"/>
          <p:cNvSpPr/>
          <p:nvPr/>
        </p:nvSpPr>
        <p:spPr>
          <a:xfrm>
            <a:off x="5669280" y="2185416"/>
            <a:ext cx="82296" cy="82296"/>
          </a:xfrm>
          <a:prstGeom prst="ellipse">
            <a:avLst/>
          </a:prstGeom>
          <a:solidFill>
            <a:srgbClr val="E5472F"/>
          </a:solidFill>
          <a:ln w="12700">
            <a:solidFill>
              <a:srgbClr val="E5472F"/>
            </a:solidFill>
            <a:prstDash val="solid"/>
          </a:ln>
        </p:spPr>
        <p:txBody>
          <a:bodyPr/>
          <a:lstStyle/>
          <a:p>
            <a:endParaRPr lang="en-US"/>
          </a:p>
        </p:txBody>
      </p:sp>
      <p:sp>
        <p:nvSpPr>
          <p:cNvPr id="16" name="Text 14"/>
          <p:cNvSpPr txBox="1"/>
          <p:nvPr/>
        </p:nvSpPr>
        <p:spPr>
          <a:xfrm>
            <a:off x="5897880" y="2103120"/>
            <a:ext cx="5715000" cy="86868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The key must encode what SQL knows and the application forgets. </a:t>
            </a:r>
            <a:r>
              <a:rPr lang="en-US" sz="1350" dirty="0">
                <a:solidFill>
                  <a:srgbClr val="141414"/>
                </a:solidFill>
                <a:latin typeface="Arial" pitchFamily="34" charset="0"/>
                <a:ea typeface="Arial" pitchFamily="34" charset="-122"/>
                <a:cs typeface="Arial" pitchFamily="34" charset="-120"/>
              </a:rPr>
              <a:t>User, role, time zone, schema, collation. Omit one and the cache serves another user’s rows.</a:t>
            </a:r>
            <a:endParaRPr lang="en-US" sz="1350" dirty="0"/>
          </a:p>
        </p:txBody>
      </p:sp>
      <p:sp>
        <p:nvSpPr>
          <p:cNvPr id="17" name="Shape 15"/>
          <p:cNvSpPr/>
          <p:nvPr/>
        </p:nvSpPr>
        <p:spPr>
          <a:xfrm>
            <a:off x="5669280" y="3145536"/>
            <a:ext cx="82296" cy="82296"/>
          </a:xfrm>
          <a:prstGeom prst="ellipse">
            <a:avLst/>
          </a:prstGeom>
          <a:solidFill>
            <a:srgbClr val="E5472F"/>
          </a:solidFill>
          <a:ln w="12700">
            <a:solidFill>
              <a:srgbClr val="E5472F"/>
            </a:solidFill>
            <a:prstDash val="solid"/>
          </a:ln>
        </p:spPr>
        <p:txBody>
          <a:bodyPr/>
          <a:lstStyle/>
          <a:p>
            <a:endParaRPr lang="en-US"/>
          </a:p>
        </p:txBody>
      </p:sp>
      <p:sp>
        <p:nvSpPr>
          <p:cNvPr id="18" name="Text 16"/>
          <p:cNvSpPr txBox="1"/>
          <p:nvPr/>
        </p:nvSpPr>
        <p:spPr>
          <a:xfrm>
            <a:off x="5897880" y="3063240"/>
            <a:ext cx="5715000" cy="77724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Expiry is a guess about the data, made at write time. </a:t>
            </a:r>
            <a:r>
              <a:rPr lang="en-US" sz="1350" dirty="0">
                <a:solidFill>
                  <a:srgbClr val="141414"/>
                </a:solidFill>
                <a:latin typeface="Arial" pitchFamily="34" charset="0"/>
                <a:ea typeface="Arial" pitchFamily="34" charset="-122"/>
                <a:cs typeface="Arial" pitchFamily="34" charset="-120"/>
              </a:rPr>
              <a:t>Too short and the database does the work anyway. Too long and users see stale results.</a:t>
            </a:r>
            <a:endParaRPr lang="en-US" sz="1350" dirty="0"/>
          </a:p>
        </p:txBody>
      </p:sp>
      <p:sp>
        <p:nvSpPr>
          <p:cNvPr id="19" name="Shape 17"/>
          <p:cNvSpPr/>
          <p:nvPr/>
        </p:nvSpPr>
        <p:spPr>
          <a:xfrm>
            <a:off x="5669280" y="4014216"/>
            <a:ext cx="82296" cy="82296"/>
          </a:xfrm>
          <a:prstGeom prst="ellipse">
            <a:avLst/>
          </a:prstGeom>
          <a:solidFill>
            <a:srgbClr val="E5472F"/>
          </a:solidFill>
          <a:ln w="12700">
            <a:solidFill>
              <a:srgbClr val="E5472F"/>
            </a:solidFill>
            <a:prstDash val="solid"/>
          </a:ln>
        </p:spPr>
        <p:txBody>
          <a:bodyPr/>
          <a:lstStyle/>
          <a:p>
            <a:endParaRPr lang="en-US"/>
          </a:p>
        </p:txBody>
      </p:sp>
      <p:sp>
        <p:nvSpPr>
          <p:cNvPr id="20" name="Text 18"/>
          <p:cNvSpPr txBox="1"/>
          <p:nvPr/>
        </p:nvSpPr>
        <p:spPr>
          <a:xfrm>
            <a:off x="5897880" y="3931920"/>
            <a:ext cx="5715000" cy="86868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Misses arrive together. </a:t>
            </a:r>
            <a:r>
              <a:rPr lang="en-US" sz="1350" dirty="0">
                <a:solidFill>
                  <a:srgbClr val="141414"/>
                </a:solidFill>
                <a:latin typeface="Arial" pitchFamily="34" charset="0"/>
                <a:ea typeface="Arial" pitchFamily="34" charset="-122"/>
                <a:cs typeface="Arial" pitchFamily="34" charset="-120"/>
              </a:rPr>
              <a:t>Facebook added leases to memcache to bring miss-driven database load down from 17,000 to 1,300 queries per second. [1]</a:t>
            </a:r>
            <a:endParaRPr lang="en-US" sz="1350" dirty="0"/>
          </a:p>
        </p:txBody>
      </p:sp>
      <p:sp>
        <p:nvSpPr>
          <p:cNvPr id="21" name="Shape 19"/>
          <p:cNvSpPr/>
          <p:nvPr/>
        </p:nvSpPr>
        <p:spPr>
          <a:xfrm>
            <a:off x="548640" y="5074920"/>
            <a:ext cx="11094415" cy="640080"/>
          </a:xfrm>
          <a:prstGeom prst="roundRect">
            <a:avLst>
              <a:gd name="adj" fmla="val 11429"/>
            </a:avLst>
          </a:prstGeom>
          <a:solidFill>
            <a:srgbClr val="141414"/>
          </a:solidFill>
          <a:ln w="12700">
            <a:solidFill>
              <a:srgbClr val="141414"/>
            </a:solidFill>
            <a:prstDash val="solid"/>
          </a:ln>
        </p:spPr>
        <p:txBody>
          <a:bodyPr/>
          <a:lstStyle/>
          <a:p>
            <a:endParaRPr lang="en-US"/>
          </a:p>
        </p:txBody>
      </p:sp>
      <p:sp>
        <p:nvSpPr>
          <p:cNvPr id="22" name="Text 20"/>
          <p:cNvSpPr txBox="1"/>
          <p:nvPr/>
        </p:nvSpPr>
        <p:spPr>
          <a:xfrm>
            <a:off x="822960" y="5074920"/>
            <a:ext cx="10545775" cy="64008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Caching moved out of the database and became a distributed-systems project for the application team.</a:t>
            </a:r>
            <a:endParaRPr lang="en-US" sz="1450" dirty="0"/>
          </a:p>
        </p:txBody>
      </p:sp>
      <p:sp>
        <p:nvSpPr>
          <p:cNvPr id="23" name="Text 21"/>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 Nishtala et al., NSDI 2013, §3.2.1: “Without leases, all of the cache misses resulted in a peak database query rate of 17K/s. With leases, the peak database query rate was 1.3K/s.”</a:t>
            </a:r>
            <a:endParaRPr lang="en-US" sz="800" dirty="0"/>
          </a:p>
        </p:txBody>
      </p:sp>
      <p:pic>
        <p:nvPicPr>
          <p:cNvPr id="24" name="Picture 23"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05 · the invariant</a:t>
            </a:r>
            <a:endParaRPr lang="en-US" sz="1100" dirty="0"/>
          </a:p>
        </p:txBody>
      </p:sp>
      <p:sp>
        <p:nvSpPr>
          <p:cNvPr id="6" name="Text 4"/>
          <p:cNvSpPr txBox="1"/>
          <p:nvPr/>
        </p:nvSpPr>
        <p:spPr>
          <a:xfrm>
            <a:off x="548640" y="731520"/>
            <a:ext cx="11094415" cy="685800"/>
          </a:xfrm>
          <a:prstGeom prst="rect">
            <a:avLst/>
          </a:prstGeom>
          <a:noFill/>
          <a:ln/>
        </p:spPr>
        <p:txBody>
          <a:bodyPr wrap="square" lIns="0" tIns="0" rIns="0" bIns="0" rtlCol="0" anchor="t"/>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The invisible cache, defined.</a:t>
            </a:r>
            <a:endParaRPr lang="en-US" sz="3400" dirty="0"/>
          </a:p>
        </p:txBody>
      </p:sp>
      <p:sp>
        <p:nvSpPr>
          <p:cNvPr id="7" name="Shape 5"/>
          <p:cNvSpPr/>
          <p:nvPr/>
        </p:nvSpPr>
        <p:spPr>
          <a:xfrm>
            <a:off x="548640" y="1463040"/>
            <a:ext cx="11094415" cy="0"/>
          </a:xfrm>
          <a:prstGeom prst="line">
            <a:avLst/>
          </a:prstGeom>
          <a:noFill/>
          <a:ln w="9525">
            <a:solidFill>
              <a:srgbClr val="5A5A5A"/>
            </a:solidFill>
            <a:prstDash val="solid"/>
          </a:ln>
        </p:spPr>
        <p:txBody>
          <a:bodyPr/>
          <a:lstStyle/>
          <a:p>
            <a:endParaRPr lang="en-US"/>
          </a:p>
        </p:txBody>
      </p:sp>
      <p:sp>
        <p:nvSpPr>
          <p:cNvPr id="8" name="Text 6"/>
          <p:cNvSpPr txBox="1"/>
          <p:nvPr/>
        </p:nvSpPr>
        <p:spPr>
          <a:xfrm>
            <a:off x="548640" y="1783080"/>
            <a:ext cx="10607040" cy="1005840"/>
          </a:xfrm>
          <a:prstGeom prst="rect">
            <a:avLst/>
          </a:prstGeom>
          <a:noFill/>
          <a:ln/>
        </p:spPr>
        <p:txBody>
          <a:bodyPr wrap="square" lIns="0" tIns="0" rIns="0" bIns="0" rtlCol="0" anchor="t"/>
          <a:lstStyle/>
          <a:p>
            <a:pPr marL="0" indent="0">
              <a:lnSpc>
                <a:spcPct val="110000"/>
              </a:lnSpc>
              <a:buNone/>
            </a:pPr>
            <a:r>
              <a:rPr lang="en-US" sz="2100" i="1" dirty="0">
                <a:solidFill>
                  <a:srgbClr val="FFFFFF"/>
                </a:solidFill>
                <a:latin typeface="Arial" pitchFamily="34" charset="0"/>
                <a:ea typeface="Arial" pitchFamily="34" charset="-122"/>
                <a:cs typeface="Arial" pitchFamily="34" charset="-120"/>
              </a:rPr>
              <a:t>“A system with caches has to produce exactly the same results as the same system with the caches taken out.” </a:t>
            </a:r>
            <a:r>
              <a:rPr lang="en-US" sz="1100" dirty="0">
                <a:solidFill>
                  <a:srgbClr val="A3A3A3"/>
                </a:solidFill>
                <a:latin typeface="Courier New" pitchFamily="34" charset="0"/>
                <a:ea typeface="Courier New" pitchFamily="34" charset="-122"/>
                <a:cs typeface="Courier New" pitchFamily="34" charset="-120"/>
              </a:rPr>
              <a:t>[10]</a:t>
            </a:r>
            <a:endParaRPr lang="en-US" sz="2100" dirty="0"/>
          </a:p>
        </p:txBody>
      </p:sp>
      <p:sp>
        <p:nvSpPr>
          <p:cNvPr id="9" name="Shape 7"/>
          <p:cNvSpPr/>
          <p:nvPr/>
        </p:nvSpPr>
        <p:spPr>
          <a:xfrm>
            <a:off x="548640" y="3063240"/>
            <a:ext cx="5410048" cy="1188720"/>
          </a:xfrm>
          <a:prstGeom prst="roundRect">
            <a:avLst>
              <a:gd name="adj" fmla="val 6154"/>
            </a:avLst>
          </a:prstGeom>
          <a:solidFill>
            <a:srgbClr val="1F1F1F"/>
          </a:solidFill>
          <a:ln w="9525">
            <a:solidFill>
              <a:srgbClr val="3A3A3A"/>
            </a:solidFill>
            <a:prstDash val="solid"/>
          </a:ln>
        </p:spPr>
        <p:txBody>
          <a:bodyPr/>
          <a:lstStyle/>
          <a:p>
            <a:endParaRPr lang="en-US"/>
          </a:p>
        </p:txBody>
      </p:sp>
      <p:sp>
        <p:nvSpPr>
          <p:cNvPr id="10" name="Text 8"/>
          <p:cNvSpPr txBox="1"/>
          <p:nvPr/>
        </p:nvSpPr>
        <p:spPr>
          <a:xfrm>
            <a:off x="822960" y="3264408"/>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transparent</a:t>
            </a:r>
            <a:endParaRPr lang="en-US" sz="950" dirty="0"/>
          </a:p>
        </p:txBody>
      </p:sp>
      <p:sp>
        <p:nvSpPr>
          <p:cNvPr id="11" name="Text 9"/>
          <p:cNvSpPr txBox="1"/>
          <p:nvPr/>
        </p:nvSpPr>
        <p:spPr>
          <a:xfrm>
            <a:off x="822960" y="3566160"/>
            <a:ext cx="4861408" cy="594360"/>
          </a:xfrm>
          <a:prstGeom prst="rect">
            <a:avLst/>
          </a:prstGeom>
          <a:noFill/>
          <a:ln/>
        </p:spPr>
        <p:txBody>
          <a:bodyPr wrap="square" lIns="0" tIns="0" rIns="0" bIns="0" rtlCol="0" anchor="t"/>
          <a:lstStyle/>
          <a:p>
            <a:pPr marL="0" indent="0">
              <a:lnSpc>
                <a:spcPct val="112000"/>
              </a:lnSpc>
              <a:buNone/>
            </a:pPr>
            <a:r>
              <a:rPr lang="en-US" sz="1400" dirty="0">
                <a:solidFill>
                  <a:srgbClr val="E6E6E6"/>
                </a:solidFill>
                <a:latin typeface="Arial" pitchFamily="34" charset="0"/>
                <a:ea typeface="Arial" pitchFamily="34" charset="-122"/>
                <a:cs typeface="Arial" pitchFamily="34" charset="-120"/>
              </a:rPr>
              <a:t>SQL in, SQL out. The application changes a connection string and nothing else.</a:t>
            </a:r>
            <a:endParaRPr lang="en-US" sz="1400" dirty="0"/>
          </a:p>
        </p:txBody>
      </p:sp>
      <p:sp>
        <p:nvSpPr>
          <p:cNvPr id="12" name="Shape 10"/>
          <p:cNvSpPr/>
          <p:nvPr/>
        </p:nvSpPr>
        <p:spPr>
          <a:xfrm>
            <a:off x="6233008" y="3063240"/>
            <a:ext cx="5410048" cy="1188720"/>
          </a:xfrm>
          <a:prstGeom prst="roundRect">
            <a:avLst>
              <a:gd name="adj" fmla="val 6154"/>
            </a:avLst>
          </a:prstGeom>
          <a:solidFill>
            <a:srgbClr val="1F1F1F"/>
          </a:solidFill>
          <a:ln w="9525">
            <a:solidFill>
              <a:srgbClr val="3A3A3A"/>
            </a:solidFill>
            <a:prstDash val="solid"/>
          </a:ln>
        </p:spPr>
        <p:txBody>
          <a:bodyPr/>
          <a:lstStyle/>
          <a:p>
            <a:endParaRPr lang="en-US"/>
          </a:p>
        </p:txBody>
      </p:sp>
      <p:sp>
        <p:nvSpPr>
          <p:cNvPr id="13" name="Text 11"/>
          <p:cNvSpPr txBox="1"/>
          <p:nvPr/>
        </p:nvSpPr>
        <p:spPr>
          <a:xfrm>
            <a:off x="6507328" y="3264408"/>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change-driven</a:t>
            </a:r>
            <a:endParaRPr lang="en-US" sz="950" dirty="0"/>
          </a:p>
        </p:txBody>
      </p:sp>
      <p:sp>
        <p:nvSpPr>
          <p:cNvPr id="14" name="Text 12"/>
          <p:cNvSpPr txBox="1"/>
          <p:nvPr/>
        </p:nvSpPr>
        <p:spPr>
          <a:xfrm>
            <a:off x="6507328" y="3566160"/>
            <a:ext cx="4861408" cy="594360"/>
          </a:xfrm>
          <a:prstGeom prst="rect">
            <a:avLst/>
          </a:prstGeom>
          <a:noFill/>
          <a:ln/>
        </p:spPr>
        <p:txBody>
          <a:bodyPr wrap="square" lIns="0" tIns="0" rIns="0" bIns="0" rtlCol="0" anchor="t"/>
          <a:lstStyle/>
          <a:p>
            <a:pPr marL="0" indent="0">
              <a:lnSpc>
                <a:spcPct val="112000"/>
              </a:lnSpc>
              <a:buNone/>
            </a:pPr>
            <a:r>
              <a:rPr lang="en-US" sz="1400" dirty="0">
                <a:solidFill>
                  <a:srgbClr val="E6E6E6"/>
                </a:solidFill>
                <a:latin typeface="Arial" pitchFamily="34" charset="0"/>
                <a:ea typeface="Arial" pitchFamily="34" charset="-122"/>
                <a:cs typeface="Arial" pitchFamily="34" charset="-120"/>
              </a:rPr>
              <a:t>Freshness follows changes in the data rather than a clock.</a:t>
            </a:r>
            <a:endParaRPr lang="en-US" sz="1400" dirty="0"/>
          </a:p>
        </p:txBody>
      </p:sp>
      <p:sp>
        <p:nvSpPr>
          <p:cNvPr id="15" name="Shape 13"/>
          <p:cNvSpPr/>
          <p:nvPr/>
        </p:nvSpPr>
        <p:spPr>
          <a:xfrm>
            <a:off x="548640" y="4480560"/>
            <a:ext cx="5410048" cy="1188720"/>
          </a:xfrm>
          <a:prstGeom prst="roundRect">
            <a:avLst>
              <a:gd name="adj" fmla="val 6154"/>
            </a:avLst>
          </a:prstGeom>
          <a:solidFill>
            <a:srgbClr val="1F1F1F"/>
          </a:solidFill>
          <a:ln w="9525">
            <a:solidFill>
              <a:srgbClr val="3A3A3A"/>
            </a:solidFill>
            <a:prstDash val="solid"/>
          </a:ln>
        </p:spPr>
        <p:txBody>
          <a:bodyPr/>
          <a:lstStyle/>
          <a:p>
            <a:endParaRPr lang="en-US"/>
          </a:p>
        </p:txBody>
      </p:sp>
      <p:sp>
        <p:nvSpPr>
          <p:cNvPr id="16" name="Text 14"/>
          <p:cNvSpPr txBox="1"/>
          <p:nvPr/>
        </p:nvSpPr>
        <p:spPr>
          <a:xfrm>
            <a:off x="822960" y="4681728"/>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safe under load</a:t>
            </a:r>
            <a:endParaRPr lang="en-US" sz="950" dirty="0"/>
          </a:p>
        </p:txBody>
      </p:sp>
      <p:sp>
        <p:nvSpPr>
          <p:cNvPr id="17" name="Text 15"/>
          <p:cNvSpPr txBox="1"/>
          <p:nvPr/>
        </p:nvSpPr>
        <p:spPr>
          <a:xfrm>
            <a:off x="822960" y="4983480"/>
            <a:ext cx="4861408" cy="594360"/>
          </a:xfrm>
          <a:prstGeom prst="rect">
            <a:avLst/>
          </a:prstGeom>
          <a:noFill/>
          <a:ln/>
        </p:spPr>
        <p:txBody>
          <a:bodyPr wrap="square" lIns="0" tIns="0" rIns="0" bIns="0" rtlCol="0" anchor="t"/>
          <a:lstStyle/>
          <a:p>
            <a:pPr marL="0" indent="0">
              <a:lnSpc>
                <a:spcPct val="112000"/>
              </a:lnSpc>
              <a:buNone/>
            </a:pPr>
            <a:r>
              <a:rPr lang="en-US" sz="1400" dirty="0">
                <a:solidFill>
                  <a:srgbClr val="E6E6E6"/>
                </a:solidFill>
                <a:latin typeface="Arial" pitchFamily="34" charset="0"/>
                <a:ea typeface="Arial" pitchFamily="34" charset="-122"/>
                <a:cs typeface="Arial" pitchFamily="34" charset="-120"/>
              </a:rPr>
              <a:t>Concurrent misses collapse to one. Every hit is checked against the caller’s permissions.</a:t>
            </a:r>
            <a:endParaRPr lang="en-US" sz="1400" dirty="0"/>
          </a:p>
        </p:txBody>
      </p:sp>
      <p:sp>
        <p:nvSpPr>
          <p:cNvPr id="18" name="Shape 16"/>
          <p:cNvSpPr/>
          <p:nvPr/>
        </p:nvSpPr>
        <p:spPr>
          <a:xfrm>
            <a:off x="6233008" y="4480560"/>
            <a:ext cx="5410048" cy="1188720"/>
          </a:xfrm>
          <a:prstGeom prst="roundRect">
            <a:avLst>
              <a:gd name="adj" fmla="val 6154"/>
            </a:avLst>
          </a:prstGeom>
          <a:solidFill>
            <a:srgbClr val="1F1F1F"/>
          </a:solidFill>
          <a:ln w="9525">
            <a:solidFill>
              <a:srgbClr val="3A3A3A"/>
            </a:solidFill>
            <a:prstDash val="solid"/>
          </a:ln>
        </p:spPr>
        <p:txBody>
          <a:bodyPr/>
          <a:lstStyle/>
          <a:p>
            <a:endParaRPr lang="en-US"/>
          </a:p>
        </p:txBody>
      </p:sp>
      <p:sp>
        <p:nvSpPr>
          <p:cNvPr id="19" name="Text 17"/>
          <p:cNvSpPr txBox="1"/>
          <p:nvPr/>
        </p:nvSpPr>
        <p:spPr>
          <a:xfrm>
            <a:off x="6507328" y="4681728"/>
            <a:ext cx="4861408"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unowned</a:t>
            </a:r>
            <a:endParaRPr lang="en-US" sz="950" dirty="0"/>
          </a:p>
        </p:txBody>
      </p:sp>
      <p:sp>
        <p:nvSpPr>
          <p:cNvPr id="20" name="Text 18"/>
          <p:cNvSpPr txBox="1"/>
          <p:nvPr/>
        </p:nvSpPr>
        <p:spPr>
          <a:xfrm>
            <a:off x="6507328" y="4983480"/>
            <a:ext cx="4861408" cy="594360"/>
          </a:xfrm>
          <a:prstGeom prst="rect">
            <a:avLst/>
          </a:prstGeom>
          <a:noFill/>
          <a:ln/>
        </p:spPr>
        <p:txBody>
          <a:bodyPr wrap="square" lIns="0" tIns="0" rIns="0" bIns="0" rtlCol="0" anchor="t"/>
          <a:lstStyle/>
          <a:p>
            <a:pPr marL="0" indent="0">
              <a:lnSpc>
                <a:spcPct val="112000"/>
              </a:lnSpc>
              <a:buNone/>
            </a:pPr>
            <a:r>
              <a:rPr lang="en-US" sz="1400" dirty="0">
                <a:solidFill>
                  <a:srgbClr val="E6E6E6"/>
                </a:solidFill>
                <a:latin typeface="Arial" pitchFamily="34" charset="0"/>
                <a:ea typeface="Arial" pitchFamily="34" charset="-122"/>
                <a:cs typeface="Arial" pitchFamily="34" charset="-120"/>
              </a:rPr>
              <a:t>No team writes invalidation rules or tunes intervals.</a:t>
            </a:r>
            <a:endParaRPr lang="en-US" sz="1400" dirty="0"/>
          </a:p>
        </p:txBody>
      </p:sp>
      <p:sp>
        <p:nvSpPr>
          <p:cNvPr id="21" name="Text 19"/>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A3A3A3"/>
                </a:solidFill>
                <a:latin typeface="Courier New" pitchFamily="34" charset="0"/>
                <a:ea typeface="Courier New" pitchFamily="34" charset="-122"/>
                <a:cs typeface="Courier New" pitchFamily="34" charset="-120"/>
              </a:rPr>
              <a:t>[10] Readyset, “Nobody Wants a Cache: Introducing the Readyset Platform”, 21 Jul 2026 — readyset.io/blog/nobody-wants-a-cache</a:t>
            </a:r>
            <a:endParaRPr lang="en-US" sz="800" dirty="0"/>
          </a:p>
        </p:txBody>
      </p:sp>
      <p:pic>
        <p:nvPicPr>
          <p:cNvPr id="22" name="Picture 21"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05 · the invariant · scored</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Three ways to cache SQL today. None meets the invariant.</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66928" y="1517904"/>
            <a:ext cx="109728" cy="109728"/>
          </a:xfrm>
          <a:prstGeom prst="ellipse">
            <a:avLst/>
          </a:prstGeom>
          <a:solidFill>
            <a:srgbClr val="E5472F"/>
          </a:solidFill>
          <a:ln w="12700">
            <a:solidFill>
              <a:srgbClr val="E5472F"/>
            </a:solidFill>
            <a:prstDash val="solid"/>
          </a:ln>
        </p:spPr>
        <p:txBody>
          <a:bodyPr/>
          <a:lstStyle/>
          <a:p>
            <a:endParaRPr lang="en-US"/>
          </a:p>
        </p:txBody>
      </p:sp>
      <p:sp>
        <p:nvSpPr>
          <p:cNvPr id="9" name="Text 7"/>
          <p:cNvSpPr txBox="1"/>
          <p:nvPr/>
        </p:nvSpPr>
        <p:spPr>
          <a:xfrm>
            <a:off x="768096" y="1490472"/>
            <a:ext cx="1554480" cy="146304"/>
          </a:xfrm>
          <a:prstGeom prst="rect">
            <a:avLst/>
          </a:prstGeom>
          <a:noFill/>
          <a:ln/>
        </p:spPr>
        <p:txBody>
          <a:bodyPr wrap="square" lIns="0" tIns="0" rIns="0" bIns="0" rtlCol="0" anchor="ctr"/>
          <a:lstStyle/>
          <a:p>
            <a:pPr marL="0" indent="0">
              <a:buNone/>
            </a:pPr>
            <a:r>
              <a:rPr lang="en-US" sz="850" dirty="0">
                <a:solidFill>
                  <a:srgbClr val="6B6B6B"/>
                </a:solidFill>
                <a:latin typeface="Courier New" pitchFamily="34" charset="0"/>
                <a:ea typeface="Courier New" pitchFamily="34" charset="-122"/>
                <a:cs typeface="Courier New" pitchFamily="34" charset="-120"/>
              </a:rPr>
              <a:t>meets</a:t>
            </a:r>
            <a:endParaRPr lang="en-US" sz="850" dirty="0"/>
          </a:p>
        </p:txBody>
      </p:sp>
      <p:sp>
        <p:nvSpPr>
          <p:cNvPr id="10" name="Shape 8"/>
          <p:cNvSpPr/>
          <p:nvPr/>
        </p:nvSpPr>
        <p:spPr>
          <a:xfrm>
            <a:off x="566928" y="1659636"/>
            <a:ext cx="109728" cy="109728"/>
          </a:xfrm>
          <a:prstGeom prst="ellipse">
            <a:avLst/>
          </a:prstGeom>
          <a:solidFill>
            <a:srgbClr val="F6F4EF"/>
          </a:solidFill>
          <a:ln w="12700">
            <a:solidFill>
              <a:srgbClr val="E5472F"/>
            </a:solidFill>
            <a:prstDash val="solid"/>
          </a:ln>
        </p:spPr>
        <p:txBody>
          <a:bodyPr/>
          <a:lstStyle/>
          <a:p>
            <a:endParaRPr lang="en-US"/>
          </a:p>
        </p:txBody>
      </p:sp>
      <p:sp>
        <p:nvSpPr>
          <p:cNvPr id="11" name="Shape 9"/>
          <p:cNvSpPr/>
          <p:nvPr/>
        </p:nvSpPr>
        <p:spPr>
          <a:xfrm>
            <a:off x="598932" y="1691640"/>
            <a:ext cx="45720" cy="45720"/>
          </a:xfrm>
          <a:prstGeom prst="ellipse">
            <a:avLst/>
          </a:prstGeom>
          <a:solidFill>
            <a:srgbClr val="E5472F"/>
          </a:solidFill>
          <a:ln w="12700">
            <a:solidFill>
              <a:srgbClr val="E5472F"/>
            </a:solidFill>
            <a:prstDash val="solid"/>
          </a:ln>
        </p:spPr>
        <p:txBody>
          <a:bodyPr/>
          <a:lstStyle/>
          <a:p>
            <a:endParaRPr lang="en-US"/>
          </a:p>
        </p:txBody>
      </p:sp>
      <p:sp>
        <p:nvSpPr>
          <p:cNvPr id="12" name="Text 10"/>
          <p:cNvSpPr txBox="1"/>
          <p:nvPr/>
        </p:nvSpPr>
        <p:spPr>
          <a:xfrm>
            <a:off x="768096" y="1632204"/>
            <a:ext cx="1554480" cy="146304"/>
          </a:xfrm>
          <a:prstGeom prst="rect">
            <a:avLst/>
          </a:prstGeom>
          <a:noFill/>
          <a:ln/>
        </p:spPr>
        <p:txBody>
          <a:bodyPr wrap="square" lIns="0" tIns="0" rIns="0" bIns="0" rtlCol="0" anchor="ctr"/>
          <a:lstStyle/>
          <a:p>
            <a:pPr marL="0" indent="0">
              <a:buNone/>
            </a:pPr>
            <a:r>
              <a:rPr lang="en-US" sz="850" dirty="0">
                <a:solidFill>
                  <a:srgbClr val="6B6B6B"/>
                </a:solidFill>
                <a:latin typeface="Courier New" pitchFamily="34" charset="0"/>
                <a:ea typeface="Courier New" pitchFamily="34" charset="-122"/>
                <a:cs typeface="Courier New" pitchFamily="34" charset="-120"/>
              </a:rPr>
              <a:t>meets, at a cost</a:t>
            </a:r>
            <a:endParaRPr lang="en-US" sz="850" dirty="0"/>
          </a:p>
        </p:txBody>
      </p:sp>
      <p:sp>
        <p:nvSpPr>
          <p:cNvPr id="13" name="Shape 11"/>
          <p:cNvSpPr/>
          <p:nvPr/>
        </p:nvSpPr>
        <p:spPr>
          <a:xfrm>
            <a:off x="566928" y="1801368"/>
            <a:ext cx="109728" cy="109728"/>
          </a:xfrm>
          <a:prstGeom prst="ellipse">
            <a:avLst/>
          </a:prstGeom>
          <a:solidFill>
            <a:srgbClr val="F6F4EF"/>
          </a:solidFill>
          <a:ln w="12700">
            <a:solidFill>
              <a:srgbClr val="A3A3A3"/>
            </a:solidFill>
            <a:prstDash val="solid"/>
          </a:ln>
        </p:spPr>
        <p:txBody>
          <a:bodyPr/>
          <a:lstStyle/>
          <a:p>
            <a:endParaRPr lang="en-US"/>
          </a:p>
        </p:txBody>
      </p:sp>
      <p:sp>
        <p:nvSpPr>
          <p:cNvPr id="14" name="Text 12"/>
          <p:cNvSpPr txBox="1"/>
          <p:nvPr/>
        </p:nvSpPr>
        <p:spPr>
          <a:xfrm>
            <a:off x="768096" y="1773936"/>
            <a:ext cx="1554480" cy="146304"/>
          </a:xfrm>
          <a:prstGeom prst="rect">
            <a:avLst/>
          </a:prstGeom>
          <a:noFill/>
          <a:ln/>
        </p:spPr>
        <p:txBody>
          <a:bodyPr wrap="square" lIns="0" tIns="0" rIns="0" bIns="0" rtlCol="0" anchor="ctr"/>
          <a:lstStyle/>
          <a:p>
            <a:pPr marL="0" indent="0">
              <a:buNone/>
            </a:pPr>
            <a:r>
              <a:rPr lang="en-US" sz="850" dirty="0">
                <a:solidFill>
                  <a:srgbClr val="6B6B6B"/>
                </a:solidFill>
                <a:latin typeface="Courier New" pitchFamily="34" charset="0"/>
                <a:ea typeface="Courier New" pitchFamily="34" charset="-122"/>
                <a:cs typeface="Courier New" pitchFamily="34" charset="-120"/>
              </a:rPr>
              <a:t>fails</a:t>
            </a:r>
            <a:endParaRPr lang="en-US" sz="850" dirty="0"/>
          </a:p>
        </p:txBody>
      </p:sp>
      <p:sp>
        <p:nvSpPr>
          <p:cNvPr id="15" name="Text 13"/>
          <p:cNvSpPr txBox="1"/>
          <p:nvPr/>
        </p:nvSpPr>
        <p:spPr>
          <a:xfrm>
            <a:off x="2514600" y="1508760"/>
            <a:ext cx="2969666" cy="256032"/>
          </a:xfrm>
          <a:prstGeom prst="rect">
            <a:avLst/>
          </a:prstGeom>
          <a:noFill/>
          <a:ln/>
        </p:spPr>
        <p:txBody>
          <a:bodyPr wrap="square" lIns="0" tIns="0" rIns="0" bIns="0" rtlCol="0" anchor="b"/>
          <a:lstStyle/>
          <a:p>
            <a:pPr marL="0" indent="0">
              <a:buNone/>
            </a:pPr>
            <a:r>
              <a:rPr lang="en-US" sz="1200" b="1" dirty="0">
                <a:solidFill>
                  <a:srgbClr val="141414"/>
                </a:solidFill>
                <a:latin typeface="Arial" pitchFamily="34" charset="0"/>
                <a:ea typeface="Arial" pitchFamily="34" charset="-122"/>
                <a:cs typeface="Arial" pitchFamily="34" charset="-120"/>
              </a:rPr>
              <a:t>MySQL query cache</a:t>
            </a:r>
            <a:endParaRPr lang="en-US" sz="1200" dirty="0"/>
          </a:p>
        </p:txBody>
      </p:sp>
      <p:sp>
        <p:nvSpPr>
          <p:cNvPr id="16" name="Text 14"/>
          <p:cNvSpPr txBox="1"/>
          <p:nvPr/>
        </p:nvSpPr>
        <p:spPr>
          <a:xfrm>
            <a:off x="2514600" y="1773936"/>
            <a:ext cx="2969666" cy="182880"/>
          </a:xfrm>
          <a:prstGeom prst="rect">
            <a:avLst/>
          </a:prstGeom>
          <a:noFill/>
          <a:ln/>
        </p:spPr>
        <p:txBody>
          <a:bodyPr wrap="square" lIns="0" tIns="0" rIns="0" bIns="0" rtlCol="0" anchor="t"/>
          <a:lstStyle/>
          <a:p>
            <a:pPr marL="0" indent="0">
              <a:buNone/>
            </a:pPr>
            <a:r>
              <a:rPr lang="en-US" sz="850" dirty="0">
                <a:solidFill>
                  <a:srgbClr val="6B6B6B"/>
                </a:solidFill>
                <a:latin typeface="Courier New" pitchFamily="34" charset="0"/>
                <a:ea typeface="Courier New" pitchFamily="34" charset="-122"/>
                <a:cs typeface="Courier New" pitchFamily="34" charset="-120"/>
              </a:rPr>
              <a:t>inside the server · 2001–2017</a:t>
            </a:r>
            <a:endParaRPr lang="en-US" sz="850" dirty="0"/>
          </a:p>
        </p:txBody>
      </p:sp>
      <p:sp>
        <p:nvSpPr>
          <p:cNvPr id="17" name="Text 15"/>
          <p:cNvSpPr txBox="1"/>
          <p:nvPr/>
        </p:nvSpPr>
        <p:spPr>
          <a:xfrm>
            <a:off x="5593994" y="1508760"/>
            <a:ext cx="2969666" cy="256032"/>
          </a:xfrm>
          <a:prstGeom prst="rect">
            <a:avLst/>
          </a:prstGeom>
          <a:noFill/>
          <a:ln/>
        </p:spPr>
        <p:txBody>
          <a:bodyPr wrap="square" lIns="0" tIns="0" rIns="0" bIns="0" rtlCol="0" anchor="b"/>
          <a:lstStyle/>
          <a:p>
            <a:pPr marL="0" indent="0">
              <a:buNone/>
            </a:pPr>
            <a:r>
              <a:rPr lang="en-US" sz="1200" b="1" dirty="0">
                <a:solidFill>
                  <a:srgbClr val="141414"/>
                </a:solidFill>
                <a:latin typeface="Arial" pitchFamily="34" charset="0"/>
                <a:ea typeface="Arial" pitchFamily="34" charset="-122"/>
                <a:cs typeface="Arial" pitchFamily="34" charset="-120"/>
              </a:rPr>
              <a:t>Existing result-cache implementations</a:t>
            </a:r>
            <a:endParaRPr lang="en-US" sz="1200" dirty="0"/>
          </a:p>
        </p:txBody>
      </p:sp>
      <p:sp>
        <p:nvSpPr>
          <p:cNvPr id="18" name="Text 16"/>
          <p:cNvSpPr txBox="1"/>
          <p:nvPr/>
        </p:nvSpPr>
        <p:spPr>
          <a:xfrm>
            <a:off x="5593994" y="1773936"/>
            <a:ext cx="2969666" cy="182880"/>
          </a:xfrm>
          <a:prstGeom prst="rect">
            <a:avLst/>
          </a:prstGeom>
          <a:noFill/>
          <a:ln/>
        </p:spPr>
        <p:txBody>
          <a:bodyPr wrap="square" lIns="0" tIns="0" rIns="0" bIns="0" rtlCol="0" anchor="t"/>
          <a:lstStyle/>
          <a:p>
            <a:pPr marL="0" indent="0">
              <a:buNone/>
            </a:pPr>
            <a:r>
              <a:rPr lang="en-US" sz="850" dirty="0">
                <a:solidFill>
                  <a:srgbClr val="6B6B6B"/>
                </a:solidFill>
                <a:latin typeface="Courier New" pitchFamily="34" charset="0"/>
                <a:ea typeface="Courier New" pitchFamily="34" charset="-122"/>
                <a:cs typeface="Courier New" pitchFamily="34" charset="-120"/>
              </a:rPr>
              <a:t>a hash of the statement and a timer</a:t>
            </a:r>
            <a:endParaRPr lang="en-US" sz="850" dirty="0"/>
          </a:p>
        </p:txBody>
      </p:sp>
      <p:sp>
        <p:nvSpPr>
          <p:cNvPr id="19" name="Text 17"/>
          <p:cNvSpPr txBox="1"/>
          <p:nvPr/>
        </p:nvSpPr>
        <p:spPr>
          <a:xfrm>
            <a:off x="8673389" y="1508760"/>
            <a:ext cx="2969666" cy="256032"/>
          </a:xfrm>
          <a:prstGeom prst="rect">
            <a:avLst/>
          </a:prstGeom>
          <a:noFill/>
          <a:ln/>
        </p:spPr>
        <p:txBody>
          <a:bodyPr wrap="square" lIns="0" tIns="0" rIns="0" bIns="0" rtlCol="0" anchor="b"/>
          <a:lstStyle/>
          <a:p>
            <a:pPr marL="0" indent="0">
              <a:buNone/>
            </a:pPr>
            <a:r>
              <a:rPr lang="en-US" sz="1200" b="1" dirty="0">
                <a:solidFill>
                  <a:srgbClr val="141414"/>
                </a:solidFill>
                <a:latin typeface="Arial" pitchFamily="34" charset="0"/>
                <a:ea typeface="Arial" pitchFamily="34" charset="-122"/>
                <a:cs typeface="Arial" pitchFamily="34" charset="-120"/>
              </a:rPr>
              <a:t>Legacy caching in the application</a:t>
            </a:r>
            <a:endParaRPr lang="en-US" sz="1200" dirty="0"/>
          </a:p>
        </p:txBody>
      </p:sp>
      <p:sp>
        <p:nvSpPr>
          <p:cNvPr id="20" name="Text 18"/>
          <p:cNvSpPr txBox="1"/>
          <p:nvPr/>
        </p:nvSpPr>
        <p:spPr>
          <a:xfrm>
            <a:off x="8673389" y="1773936"/>
            <a:ext cx="2969666" cy="182880"/>
          </a:xfrm>
          <a:prstGeom prst="rect">
            <a:avLst/>
          </a:prstGeom>
          <a:noFill/>
          <a:ln/>
        </p:spPr>
        <p:txBody>
          <a:bodyPr wrap="square" lIns="0" tIns="0" rIns="0" bIns="0" rtlCol="0" anchor="t"/>
          <a:lstStyle/>
          <a:p>
            <a:pPr marL="0" indent="0">
              <a:buNone/>
            </a:pPr>
            <a:r>
              <a:rPr lang="en-US" sz="850" dirty="0">
                <a:solidFill>
                  <a:srgbClr val="6B6B6B"/>
                </a:solidFill>
                <a:latin typeface="Courier New" pitchFamily="34" charset="0"/>
                <a:ea typeface="Courier New" pitchFamily="34" charset="-122"/>
                <a:cs typeface="Courier New" pitchFamily="34" charset="-120"/>
              </a:rPr>
              <a:t>Redis, Valkey · built by hand</a:t>
            </a:r>
            <a:endParaRPr lang="en-US" sz="850" dirty="0"/>
          </a:p>
        </p:txBody>
      </p:sp>
      <p:sp>
        <p:nvSpPr>
          <p:cNvPr id="21" name="Shape 19"/>
          <p:cNvSpPr/>
          <p:nvPr/>
        </p:nvSpPr>
        <p:spPr>
          <a:xfrm>
            <a:off x="548640" y="2011680"/>
            <a:ext cx="1828800" cy="749808"/>
          </a:xfrm>
          <a:prstGeom prst="roundRect">
            <a:avLst>
              <a:gd name="adj" fmla="val 7317"/>
            </a:avLst>
          </a:prstGeom>
          <a:solidFill>
            <a:srgbClr val="141414"/>
          </a:solidFill>
          <a:ln w="12700">
            <a:solidFill>
              <a:srgbClr val="141414"/>
            </a:solidFill>
            <a:prstDash val="solid"/>
          </a:ln>
        </p:spPr>
        <p:txBody>
          <a:bodyPr/>
          <a:lstStyle/>
          <a:p>
            <a:endParaRPr lang="en-US"/>
          </a:p>
        </p:txBody>
      </p:sp>
      <p:sp>
        <p:nvSpPr>
          <p:cNvPr id="22" name="Text 20"/>
          <p:cNvSpPr txBox="1"/>
          <p:nvPr/>
        </p:nvSpPr>
        <p:spPr>
          <a:xfrm>
            <a:off x="777240" y="201168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transparent</a:t>
            </a:r>
            <a:endParaRPr lang="en-US" sz="1100" dirty="0"/>
          </a:p>
        </p:txBody>
      </p:sp>
      <p:sp>
        <p:nvSpPr>
          <p:cNvPr id="23" name="Shape 21"/>
          <p:cNvSpPr/>
          <p:nvPr/>
        </p:nvSpPr>
        <p:spPr>
          <a:xfrm>
            <a:off x="2514600" y="201168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24" name="Shape 22"/>
          <p:cNvSpPr/>
          <p:nvPr/>
        </p:nvSpPr>
        <p:spPr>
          <a:xfrm>
            <a:off x="2660904" y="2276856"/>
            <a:ext cx="219456" cy="219456"/>
          </a:xfrm>
          <a:prstGeom prst="ellipse">
            <a:avLst/>
          </a:prstGeom>
          <a:solidFill>
            <a:srgbClr val="E5472F"/>
          </a:solidFill>
          <a:ln w="12700">
            <a:solidFill>
              <a:srgbClr val="E5472F"/>
            </a:solidFill>
            <a:prstDash val="solid"/>
          </a:ln>
        </p:spPr>
        <p:txBody>
          <a:bodyPr/>
          <a:lstStyle/>
          <a:p>
            <a:endParaRPr lang="en-US"/>
          </a:p>
        </p:txBody>
      </p:sp>
      <p:sp>
        <p:nvSpPr>
          <p:cNvPr id="25" name="Text 23"/>
          <p:cNvSpPr txBox="1"/>
          <p:nvPr/>
        </p:nvSpPr>
        <p:spPr>
          <a:xfrm>
            <a:off x="3017520" y="209397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In the server. No change to the application.</a:t>
            </a:r>
            <a:endParaRPr lang="en-US" sz="1050" dirty="0"/>
          </a:p>
        </p:txBody>
      </p:sp>
      <p:sp>
        <p:nvSpPr>
          <p:cNvPr id="26" name="Text 24"/>
          <p:cNvSpPr txBox="1"/>
          <p:nvPr/>
        </p:nvSpPr>
        <p:spPr>
          <a:xfrm>
            <a:off x="3017520" y="251460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same statement in, same result out</a:t>
            </a:r>
            <a:endParaRPr lang="en-US" sz="800" dirty="0"/>
          </a:p>
        </p:txBody>
      </p:sp>
      <p:sp>
        <p:nvSpPr>
          <p:cNvPr id="27" name="Shape 25"/>
          <p:cNvSpPr/>
          <p:nvPr/>
        </p:nvSpPr>
        <p:spPr>
          <a:xfrm>
            <a:off x="5593994" y="201168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28" name="Shape 26"/>
          <p:cNvSpPr/>
          <p:nvPr/>
        </p:nvSpPr>
        <p:spPr>
          <a:xfrm>
            <a:off x="5740298" y="2276856"/>
            <a:ext cx="219456" cy="219456"/>
          </a:xfrm>
          <a:prstGeom prst="ellipse">
            <a:avLst/>
          </a:prstGeom>
          <a:solidFill>
            <a:srgbClr val="FFFFFF"/>
          </a:solidFill>
          <a:ln w="19050">
            <a:solidFill>
              <a:srgbClr val="E5472F"/>
            </a:solidFill>
            <a:prstDash val="solid"/>
          </a:ln>
        </p:spPr>
        <p:txBody>
          <a:bodyPr/>
          <a:lstStyle/>
          <a:p>
            <a:endParaRPr lang="en-US"/>
          </a:p>
        </p:txBody>
      </p:sp>
      <p:sp>
        <p:nvSpPr>
          <p:cNvPr id="29" name="Shape 27"/>
          <p:cNvSpPr/>
          <p:nvPr/>
        </p:nvSpPr>
        <p:spPr>
          <a:xfrm>
            <a:off x="5804306" y="2340864"/>
            <a:ext cx="91440" cy="91440"/>
          </a:xfrm>
          <a:prstGeom prst="ellipse">
            <a:avLst/>
          </a:prstGeom>
          <a:solidFill>
            <a:srgbClr val="E5472F"/>
          </a:solidFill>
          <a:ln w="12700">
            <a:solidFill>
              <a:srgbClr val="E5472F"/>
            </a:solidFill>
            <a:prstDash val="solid"/>
          </a:ln>
        </p:spPr>
        <p:txBody>
          <a:bodyPr/>
          <a:lstStyle/>
          <a:p>
            <a:endParaRPr lang="en-US"/>
          </a:p>
        </p:txBody>
      </p:sp>
      <p:sp>
        <p:nvSpPr>
          <p:cNvPr id="30" name="Text 28"/>
          <p:cNvSpPr txBox="1"/>
          <p:nvPr/>
        </p:nvSpPr>
        <p:spPr>
          <a:xfrm>
            <a:off x="6096914" y="209397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Transparent for the statements someone remembered to configure.</a:t>
            </a:r>
            <a:endParaRPr lang="en-US" sz="1050" dirty="0"/>
          </a:p>
        </p:txBody>
      </p:sp>
      <p:sp>
        <p:nvSpPr>
          <p:cNvPr id="31" name="Text 29"/>
          <p:cNvSpPr txBox="1"/>
          <p:nvPr/>
        </p:nvSpPr>
        <p:spPr>
          <a:xfrm>
            <a:off x="6096914" y="251460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opt-in, statement by statement</a:t>
            </a:r>
            <a:endParaRPr lang="en-US" sz="800" dirty="0"/>
          </a:p>
        </p:txBody>
      </p:sp>
      <p:sp>
        <p:nvSpPr>
          <p:cNvPr id="32" name="Shape 30"/>
          <p:cNvSpPr/>
          <p:nvPr/>
        </p:nvSpPr>
        <p:spPr>
          <a:xfrm>
            <a:off x="8673389" y="201168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33" name="Shape 31"/>
          <p:cNvSpPr/>
          <p:nvPr/>
        </p:nvSpPr>
        <p:spPr>
          <a:xfrm>
            <a:off x="8819693" y="2276856"/>
            <a:ext cx="219456" cy="219456"/>
          </a:xfrm>
          <a:prstGeom prst="ellipse">
            <a:avLst/>
          </a:prstGeom>
          <a:solidFill>
            <a:srgbClr val="FFFFFF"/>
          </a:solidFill>
          <a:ln w="15875">
            <a:solidFill>
              <a:srgbClr val="A3A3A3"/>
            </a:solidFill>
            <a:prstDash val="solid"/>
          </a:ln>
        </p:spPr>
        <p:txBody>
          <a:bodyPr/>
          <a:lstStyle/>
          <a:p>
            <a:endParaRPr lang="en-US"/>
          </a:p>
        </p:txBody>
      </p:sp>
      <p:sp>
        <p:nvSpPr>
          <p:cNvPr id="34" name="Text 32"/>
          <p:cNvSpPr txBox="1"/>
          <p:nvPr/>
        </p:nvSpPr>
        <p:spPr>
          <a:xfrm>
            <a:off x="9176309" y="209397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The application is the cache.</a:t>
            </a:r>
            <a:endParaRPr lang="en-US" sz="1050" dirty="0"/>
          </a:p>
        </p:txBody>
      </p:sp>
      <p:sp>
        <p:nvSpPr>
          <p:cNvPr id="35" name="Text 33"/>
          <p:cNvSpPr txBox="1"/>
          <p:nvPr/>
        </p:nvSpPr>
        <p:spPr>
          <a:xfrm>
            <a:off x="9176309" y="251460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key · GET · miss → SQL · SETEX</a:t>
            </a:r>
            <a:endParaRPr lang="en-US" sz="800" dirty="0"/>
          </a:p>
        </p:txBody>
      </p:sp>
      <p:sp>
        <p:nvSpPr>
          <p:cNvPr id="36" name="Shape 34"/>
          <p:cNvSpPr/>
          <p:nvPr/>
        </p:nvSpPr>
        <p:spPr>
          <a:xfrm>
            <a:off x="548640" y="2834640"/>
            <a:ext cx="1828800" cy="749808"/>
          </a:xfrm>
          <a:prstGeom prst="roundRect">
            <a:avLst>
              <a:gd name="adj" fmla="val 7317"/>
            </a:avLst>
          </a:prstGeom>
          <a:solidFill>
            <a:srgbClr val="141414"/>
          </a:solidFill>
          <a:ln w="12700">
            <a:solidFill>
              <a:srgbClr val="141414"/>
            </a:solidFill>
            <a:prstDash val="solid"/>
          </a:ln>
        </p:spPr>
        <p:txBody>
          <a:bodyPr/>
          <a:lstStyle/>
          <a:p>
            <a:endParaRPr lang="en-US"/>
          </a:p>
        </p:txBody>
      </p:sp>
      <p:sp>
        <p:nvSpPr>
          <p:cNvPr id="37" name="Text 35"/>
          <p:cNvSpPr txBox="1"/>
          <p:nvPr/>
        </p:nvSpPr>
        <p:spPr>
          <a:xfrm>
            <a:off x="777240" y="283464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change-driven</a:t>
            </a:r>
            <a:endParaRPr lang="en-US" sz="1100" dirty="0"/>
          </a:p>
        </p:txBody>
      </p:sp>
      <p:sp>
        <p:nvSpPr>
          <p:cNvPr id="38" name="Shape 36"/>
          <p:cNvSpPr/>
          <p:nvPr/>
        </p:nvSpPr>
        <p:spPr>
          <a:xfrm>
            <a:off x="2514600" y="283464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39" name="Shape 37"/>
          <p:cNvSpPr/>
          <p:nvPr/>
        </p:nvSpPr>
        <p:spPr>
          <a:xfrm>
            <a:off x="2660904" y="3099816"/>
            <a:ext cx="219456" cy="219456"/>
          </a:xfrm>
          <a:prstGeom prst="ellipse">
            <a:avLst/>
          </a:prstGeom>
          <a:solidFill>
            <a:srgbClr val="FFFFFF"/>
          </a:solidFill>
          <a:ln w="19050">
            <a:solidFill>
              <a:srgbClr val="E5472F"/>
            </a:solidFill>
            <a:prstDash val="solid"/>
          </a:ln>
        </p:spPr>
        <p:txBody>
          <a:bodyPr/>
          <a:lstStyle/>
          <a:p>
            <a:endParaRPr lang="en-US"/>
          </a:p>
        </p:txBody>
      </p:sp>
      <p:sp>
        <p:nvSpPr>
          <p:cNvPr id="40" name="Shape 38"/>
          <p:cNvSpPr/>
          <p:nvPr/>
        </p:nvSpPr>
        <p:spPr>
          <a:xfrm>
            <a:off x="2724912" y="3163824"/>
            <a:ext cx="91440" cy="91440"/>
          </a:xfrm>
          <a:prstGeom prst="ellipse">
            <a:avLst/>
          </a:prstGeom>
          <a:solidFill>
            <a:srgbClr val="E5472F"/>
          </a:solidFill>
          <a:ln w="12700">
            <a:solidFill>
              <a:srgbClr val="E5472F"/>
            </a:solidFill>
            <a:prstDash val="solid"/>
          </a:ln>
        </p:spPr>
        <p:txBody>
          <a:bodyPr/>
          <a:lstStyle/>
          <a:p>
            <a:endParaRPr lang="en-US"/>
          </a:p>
        </p:txBody>
      </p:sp>
      <p:sp>
        <p:nvSpPr>
          <p:cNvPr id="41" name="Text 39"/>
          <p:cNvSpPr txBox="1"/>
          <p:nvPr/>
        </p:nvSpPr>
        <p:spPr>
          <a:xfrm>
            <a:off x="3017520" y="291693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Any write frees every cached query on the table.</a:t>
            </a:r>
            <a:endParaRPr lang="en-US" sz="1050" dirty="0"/>
          </a:p>
        </p:txBody>
      </p:sp>
      <p:sp>
        <p:nvSpPr>
          <p:cNvPr id="42" name="Text 40"/>
          <p:cNvSpPr txBox="1"/>
          <p:nvPr/>
        </p:nvSpPr>
        <p:spPr>
          <a:xfrm>
            <a:off x="3017520" y="333756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no WHERE examined · no result compared</a:t>
            </a:r>
            <a:endParaRPr lang="en-US" sz="800" dirty="0"/>
          </a:p>
        </p:txBody>
      </p:sp>
      <p:sp>
        <p:nvSpPr>
          <p:cNvPr id="43" name="Shape 41"/>
          <p:cNvSpPr/>
          <p:nvPr/>
        </p:nvSpPr>
        <p:spPr>
          <a:xfrm>
            <a:off x="5593994" y="283464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44" name="Shape 42"/>
          <p:cNvSpPr/>
          <p:nvPr/>
        </p:nvSpPr>
        <p:spPr>
          <a:xfrm>
            <a:off x="5740298" y="3099816"/>
            <a:ext cx="219456" cy="219456"/>
          </a:xfrm>
          <a:prstGeom prst="ellipse">
            <a:avLst/>
          </a:prstGeom>
          <a:solidFill>
            <a:srgbClr val="FFFFFF"/>
          </a:solidFill>
          <a:ln w="15875">
            <a:solidFill>
              <a:srgbClr val="A3A3A3"/>
            </a:solidFill>
            <a:prstDash val="solid"/>
          </a:ln>
        </p:spPr>
        <p:txBody>
          <a:bodyPr/>
          <a:lstStyle/>
          <a:p>
            <a:endParaRPr lang="en-US"/>
          </a:p>
        </p:txBody>
      </p:sp>
      <p:sp>
        <p:nvSpPr>
          <p:cNvPr id="45" name="Text 43"/>
          <p:cNvSpPr txBox="1"/>
          <p:nvPr/>
        </p:nvSpPr>
        <p:spPr>
          <a:xfrm>
            <a:off x="6096914" y="291693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Expires on a timer. Nothing tells it a row changed.</a:t>
            </a:r>
            <a:endParaRPr lang="en-US" sz="1050" dirty="0"/>
          </a:p>
        </p:txBody>
      </p:sp>
      <p:sp>
        <p:nvSpPr>
          <p:cNvPr id="46" name="Text 44"/>
          <p:cNvSpPr txBox="1"/>
          <p:nvPr/>
        </p:nvSpPr>
        <p:spPr>
          <a:xfrm>
            <a:off x="6096914" y="333756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invalidated by the clock, not the data</a:t>
            </a:r>
            <a:endParaRPr lang="en-US" sz="800" dirty="0"/>
          </a:p>
        </p:txBody>
      </p:sp>
      <p:sp>
        <p:nvSpPr>
          <p:cNvPr id="47" name="Shape 45"/>
          <p:cNvSpPr/>
          <p:nvPr/>
        </p:nvSpPr>
        <p:spPr>
          <a:xfrm>
            <a:off x="8673389" y="283464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48" name="Shape 46"/>
          <p:cNvSpPr/>
          <p:nvPr/>
        </p:nvSpPr>
        <p:spPr>
          <a:xfrm>
            <a:off x="8819693" y="3099816"/>
            <a:ext cx="219456" cy="219456"/>
          </a:xfrm>
          <a:prstGeom prst="ellipse">
            <a:avLst/>
          </a:prstGeom>
          <a:solidFill>
            <a:srgbClr val="FFFFFF"/>
          </a:solidFill>
          <a:ln w="15875">
            <a:solidFill>
              <a:srgbClr val="A3A3A3"/>
            </a:solidFill>
            <a:prstDash val="solid"/>
          </a:ln>
        </p:spPr>
        <p:txBody>
          <a:bodyPr/>
          <a:lstStyle/>
          <a:p>
            <a:endParaRPr lang="en-US"/>
          </a:p>
        </p:txBody>
      </p:sp>
      <p:sp>
        <p:nvSpPr>
          <p:cNvPr id="49" name="Text 47"/>
          <p:cNvSpPr txBox="1"/>
          <p:nvPr/>
        </p:nvSpPr>
        <p:spPr>
          <a:xfrm>
            <a:off x="9176309" y="291693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Asks “how long has it been?”, not “what changed?”</a:t>
            </a:r>
            <a:endParaRPr lang="en-US" sz="1050" dirty="0"/>
          </a:p>
        </p:txBody>
      </p:sp>
      <p:sp>
        <p:nvSpPr>
          <p:cNvPr id="50" name="Text 48"/>
          <p:cNvSpPr txBox="1"/>
          <p:nvPr/>
        </p:nvSpPr>
        <p:spPr>
          <a:xfrm>
            <a:off x="9176309" y="333756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recomputes on expiry, changed or not</a:t>
            </a:r>
            <a:endParaRPr lang="en-US" sz="800" dirty="0"/>
          </a:p>
        </p:txBody>
      </p:sp>
      <p:sp>
        <p:nvSpPr>
          <p:cNvPr id="51" name="Shape 49"/>
          <p:cNvSpPr/>
          <p:nvPr/>
        </p:nvSpPr>
        <p:spPr>
          <a:xfrm>
            <a:off x="548640" y="3657600"/>
            <a:ext cx="1828800" cy="749808"/>
          </a:xfrm>
          <a:prstGeom prst="roundRect">
            <a:avLst>
              <a:gd name="adj" fmla="val 7317"/>
            </a:avLst>
          </a:prstGeom>
          <a:solidFill>
            <a:srgbClr val="141414"/>
          </a:solidFill>
          <a:ln w="12700">
            <a:solidFill>
              <a:srgbClr val="141414"/>
            </a:solidFill>
            <a:prstDash val="solid"/>
          </a:ln>
        </p:spPr>
        <p:txBody>
          <a:bodyPr/>
          <a:lstStyle/>
          <a:p>
            <a:endParaRPr lang="en-US"/>
          </a:p>
        </p:txBody>
      </p:sp>
      <p:sp>
        <p:nvSpPr>
          <p:cNvPr id="52" name="Text 50"/>
          <p:cNvSpPr txBox="1"/>
          <p:nvPr/>
        </p:nvSpPr>
        <p:spPr>
          <a:xfrm>
            <a:off x="777240" y="365760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safe under load</a:t>
            </a:r>
            <a:endParaRPr lang="en-US" sz="1100" dirty="0"/>
          </a:p>
        </p:txBody>
      </p:sp>
      <p:sp>
        <p:nvSpPr>
          <p:cNvPr id="53" name="Shape 51"/>
          <p:cNvSpPr/>
          <p:nvPr/>
        </p:nvSpPr>
        <p:spPr>
          <a:xfrm>
            <a:off x="2514600" y="365760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54" name="Shape 52"/>
          <p:cNvSpPr/>
          <p:nvPr/>
        </p:nvSpPr>
        <p:spPr>
          <a:xfrm>
            <a:off x="2660904" y="3922776"/>
            <a:ext cx="219456" cy="219456"/>
          </a:xfrm>
          <a:prstGeom prst="ellipse">
            <a:avLst/>
          </a:prstGeom>
          <a:solidFill>
            <a:srgbClr val="FFFFFF"/>
          </a:solidFill>
          <a:ln w="15875">
            <a:solidFill>
              <a:srgbClr val="A3A3A3"/>
            </a:solidFill>
            <a:prstDash val="solid"/>
          </a:ln>
        </p:spPr>
        <p:txBody>
          <a:bodyPr/>
          <a:lstStyle/>
          <a:p>
            <a:endParaRPr lang="en-US"/>
          </a:p>
        </p:txBody>
      </p:sp>
      <p:sp>
        <p:nvSpPr>
          <p:cNvPr id="55" name="Text 53"/>
          <p:cNvSpPr txBox="1"/>
          <p:nvPr/>
        </p:nvSpPr>
        <p:spPr>
          <a:xfrm>
            <a:off x="3017520" y="373989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One lock around hit, miss, insert and invalidation.</a:t>
            </a:r>
            <a:endParaRPr lang="en-US" sz="1050" dirty="0"/>
          </a:p>
        </p:txBody>
      </p:sp>
      <p:sp>
        <p:nvSpPr>
          <p:cNvPr id="56" name="Text 54"/>
          <p:cNvSpPr txBox="1"/>
          <p:nvPr/>
        </p:nvSpPr>
        <p:spPr>
          <a:xfrm>
            <a:off x="3017520" y="416052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one mutex · try_lock quits after 50 ms</a:t>
            </a:r>
            <a:endParaRPr lang="en-US" sz="800" dirty="0"/>
          </a:p>
        </p:txBody>
      </p:sp>
      <p:sp>
        <p:nvSpPr>
          <p:cNvPr id="57" name="Shape 55"/>
          <p:cNvSpPr/>
          <p:nvPr/>
        </p:nvSpPr>
        <p:spPr>
          <a:xfrm>
            <a:off x="5593994" y="365760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58" name="Shape 56"/>
          <p:cNvSpPr/>
          <p:nvPr/>
        </p:nvSpPr>
        <p:spPr>
          <a:xfrm>
            <a:off x="5740298" y="3922776"/>
            <a:ext cx="219456" cy="219456"/>
          </a:xfrm>
          <a:prstGeom prst="ellipse">
            <a:avLst/>
          </a:prstGeom>
          <a:solidFill>
            <a:srgbClr val="FFFFFF"/>
          </a:solidFill>
          <a:ln w="15875">
            <a:solidFill>
              <a:srgbClr val="A3A3A3"/>
            </a:solidFill>
            <a:prstDash val="solid"/>
          </a:ln>
        </p:spPr>
        <p:txBody>
          <a:bodyPr/>
          <a:lstStyle/>
          <a:p>
            <a:endParaRPr lang="en-US"/>
          </a:p>
        </p:txBody>
      </p:sp>
      <p:sp>
        <p:nvSpPr>
          <p:cNvPr id="59" name="Text 57"/>
          <p:cNvSpPr txBox="1"/>
          <p:nvPr/>
        </p:nvSpPr>
        <p:spPr>
          <a:xfrm>
            <a:off x="6096914" y="373989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The expiry is a cliff. Everyone who arrives after it pays for the query.</a:t>
            </a:r>
            <a:endParaRPr lang="en-US" sz="1050" dirty="0"/>
          </a:p>
        </p:txBody>
      </p:sp>
      <p:sp>
        <p:nvSpPr>
          <p:cNvPr id="60" name="Text 58"/>
          <p:cNvSpPr txBox="1"/>
          <p:nvPr/>
        </p:nvSpPr>
        <p:spPr>
          <a:xfrm>
            <a:off x="6096914" y="416052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the miss window opens; a burst</a:t>
            </a:r>
            <a:endParaRPr lang="en-US" sz="800" dirty="0"/>
          </a:p>
        </p:txBody>
      </p:sp>
      <p:sp>
        <p:nvSpPr>
          <p:cNvPr id="61" name="Shape 59"/>
          <p:cNvSpPr/>
          <p:nvPr/>
        </p:nvSpPr>
        <p:spPr>
          <a:xfrm>
            <a:off x="8673389" y="365760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62" name="Shape 60"/>
          <p:cNvSpPr/>
          <p:nvPr/>
        </p:nvSpPr>
        <p:spPr>
          <a:xfrm>
            <a:off x="8819693" y="3922776"/>
            <a:ext cx="219456" cy="219456"/>
          </a:xfrm>
          <a:prstGeom prst="ellipse">
            <a:avLst/>
          </a:prstGeom>
          <a:solidFill>
            <a:srgbClr val="FFFFFF"/>
          </a:solidFill>
          <a:ln w="15875">
            <a:solidFill>
              <a:srgbClr val="A3A3A3"/>
            </a:solidFill>
            <a:prstDash val="solid"/>
          </a:ln>
        </p:spPr>
        <p:txBody>
          <a:bodyPr/>
          <a:lstStyle/>
          <a:p>
            <a:endParaRPr lang="en-US"/>
          </a:p>
        </p:txBody>
      </p:sp>
      <p:sp>
        <p:nvSpPr>
          <p:cNvPr id="63" name="Text 61"/>
          <p:cNvSpPr txBox="1"/>
          <p:nvPr/>
        </p:nvSpPr>
        <p:spPr>
          <a:xfrm>
            <a:off x="9176309" y="373989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A miss becomes N queries; no idea who is asking.</a:t>
            </a:r>
            <a:endParaRPr lang="en-US" sz="1050" dirty="0"/>
          </a:p>
        </p:txBody>
      </p:sp>
      <p:sp>
        <p:nvSpPr>
          <p:cNvPr id="64" name="Text 62"/>
          <p:cNvSpPr txBox="1"/>
          <p:nvPr/>
        </p:nvSpPr>
        <p:spPr>
          <a:xfrm>
            <a:off x="9176309" y="416052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lock “almost nobody writes correctly”</a:t>
            </a:r>
            <a:endParaRPr lang="en-US" sz="800" dirty="0"/>
          </a:p>
        </p:txBody>
      </p:sp>
      <p:sp>
        <p:nvSpPr>
          <p:cNvPr id="65" name="Shape 63"/>
          <p:cNvSpPr/>
          <p:nvPr/>
        </p:nvSpPr>
        <p:spPr>
          <a:xfrm>
            <a:off x="548640" y="4480560"/>
            <a:ext cx="1828800" cy="749808"/>
          </a:xfrm>
          <a:prstGeom prst="roundRect">
            <a:avLst>
              <a:gd name="adj" fmla="val 7317"/>
            </a:avLst>
          </a:prstGeom>
          <a:solidFill>
            <a:srgbClr val="141414"/>
          </a:solidFill>
          <a:ln w="12700">
            <a:solidFill>
              <a:srgbClr val="141414"/>
            </a:solidFill>
            <a:prstDash val="solid"/>
          </a:ln>
        </p:spPr>
        <p:txBody>
          <a:bodyPr/>
          <a:lstStyle/>
          <a:p>
            <a:endParaRPr lang="en-US"/>
          </a:p>
        </p:txBody>
      </p:sp>
      <p:sp>
        <p:nvSpPr>
          <p:cNvPr id="66" name="Text 64"/>
          <p:cNvSpPr txBox="1"/>
          <p:nvPr/>
        </p:nvSpPr>
        <p:spPr>
          <a:xfrm>
            <a:off x="777240" y="448056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unowned</a:t>
            </a:r>
            <a:endParaRPr lang="en-US" sz="1100" dirty="0"/>
          </a:p>
        </p:txBody>
      </p:sp>
      <p:sp>
        <p:nvSpPr>
          <p:cNvPr id="67" name="Shape 65"/>
          <p:cNvSpPr/>
          <p:nvPr/>
        </p:nvSpPr>
        <p:spPr>
          <a:xfrm>
            <a:off x="2514600" y="448056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68" name="Shape 66"/>
          <p:cNvSpPr/>
          <p:nvPr/>
        </p:nvSpPr>
        <p:spPr>
          <a:xfrm>
            <a:off x="2660904" y="4745736"/>
            <a:ext cx="219456" cy="219456"/>
          </a:xfrm>
          <a:prstGeom prst="ellipse">
            <a:avLst/>
          </a:prstGeom>
          <a:solidFill>
            <a:srgbClr val="E5472F"/>
          </a:solidFill>
          <a:ln w="12700">
            <a:solidFill>
              <a:srgbClr val="E5472F"/>
            </a:solidFill>
            <a:prstDash val="solid"/>
          </a:ln>
        </p:spPr>
        <p:txBody>
          <a:bodyPr/>
          <a:lstStyle/>
          <a:p>
            <a:endParaRPr lang="en-US"/>
          </a:p>
        </p:txBody>
      </p:sp>
      <p:sp>
        <p:nvSpPr>
          <p:cNvPr id="69" name="Text 67"/>
          <p:cNvSpPr txBox="1"/>
          <p:nvPr/>
        </p:nvSpPr>
        <p:spPr>
          <a:xfrm>
            <a:off x="3017520" y="456285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No rules to write, no intervals to tune.</a:t>
            </a:r>
            <a:endParaRPr lang="en-US" sz="1050" dirty="0"/>
          </a:p>
        </p:txBody>
      </p:sp>
      <p:sp>
        <p:nvSpPr>
          <p:cNvPr id="70" name="Text 68"/>
          <p:cNvSpPr txBox="1"/>
          <p:nvPr/>
        </p:nvSpPr>
        <p:spPr>
          <a:xfrm>
            <a:off x="3017520" y="498348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invalidation belonged to the server</a:t>
            </a:r>
            <a:endParaRPr lang="en-US" sz="800" dirty="0"/>
          </a:p>
        </p:txBody>
      </p:sp>
      <p:sp>
        <p:nvSpPr>
          <p:cNvPr id="71" name="Shape 69"/>
          <p:cNvSpPr/>
          <p:nvPr/>
        </p:nvSpPr>
        <p:spPr>
          <a:xfrm>
            <a:off x="5593994" y="448056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72" name="Shape 70"/>
          <p:cNvSpPr/>
          <p:nvPr/>
        </p:nvSpPr>
        <p:spPr>
          <a:xfrm>
            <a:off x="5740298" y="4745736"/>
            <a:ext cx="219456" cy="219456"/>
          </a:xfrm>
          <a:prstGeom prst="ellipse">
            <a:avLst/>
          </a:prstGeom>
          <a:solidFill>
            <a:srgbClr val="FFFFFF"/>
          </a:solidFill>
          <a:ln w="15875">
            <a:solidFill>
              <a:srgbClr val="A3A3A3"/>
            </a:solidFill>
            <a:prstDash val="solid"/>
          </a:ln>
        </p:spPr>
        <p:txBody>
          <a:bodyPr/>
          <a:lstStyle/>
          <a:p>
            <a:endParaRPr lang="en-US"/>
          </a:p>
        </p:txBody>
      </p:sp>
      <p:sp>
        <p:nvSpPr>
          <p:cNvPr id="73" name="Text 71"/>
          <p:cNvSpPr txBox="1"/>
          <p:nvPr/>
        </p:nvSpPr>
        <p:spPr>
          <a:xfrm>
            <a:off x="6096914" y="456285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Someone lists the statements to cache and picks each lifetime.</a:t>
            </a:r>
            <a:endParaRPr lang="en-US" sz="1050" dirty="0"/>
          </a:p>
        </p:txBody>
      </p:sp>
      <p:sp>
        <p:nvSpPr>
          <p:cNvPr id="74" name="Text 72"/>
          <p:cNvSpPr txBox="1"/>
          <p:nvPr/>
        </p:nvSpPr>
        <p:spPr>
          <a:xfrm>
            <a:off x="6096914" y="498348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rules, hints or config, by hand</a:t>
            </a:r>
            <a:endParaRPr lang="en-US" sz="800" dirty="0"/>
          </a:p>
        </p:txBody>
      </p:sp>
      <p:sp>
        <p:nvSpPr>
          <p:cNvPr id="75" name="Shape 73"/>
          <p:cNvSpPr/>
          <p:nvPr/>
        </p:nvSpPr>
        <p:spPr>
          <a:xfrm>
            <a:off x="8673389" y="4480560"/>
            <a:ext cx="2969666" cy="749808"/>
          </a:xfrm>
          <a:prstGeom prst="roundRect">
            <a:avLst>
              <a:gd name="adj" fmla="val 9756"/>
            </a:avLst>
          </a:prstGeom>
          <a:solidFill>
            <a:srgbClr val="FFFFFF"/>
          </a:solidFill>
          <a:ln w="9525">
            <a:solidFill>
              <a:srgbClr val="DED9D0"/>
            </a:solidFill>
            <a:prstDash val="solid"/>
          </a:ln>
        </p:spPr>
        <p:txBody>
          <a:bodyPr/>
          <a:lstStyle/>
          <a:p>
            <a:endParaRPr lang="en-US"/>
          </a:p>
        </p:txBody>
      </p:sp>
      <p:sp>
        <p:nvSpPr>
          <p:cNvPr id="76" name="Shape 74"/>
          <p:cNvSpPr/>
          <p:nvPr/>
        </p:nvSpPr>
        <p:spPr>
          <a:xfrm>
            <a:off x="8819693" y="4745736"/>
            <a:ext cx="219456" cy="219456"/>
          </a:xfrm>
          <a:prstGeom prst="ellipse">
            <a:avLst/>
          </a:prstGeom>
          <a:solidFill>
            <a:srgbClr val="FFFFFF"/>
          </a:solidFill>
          <a:ln w="15875">
            <a:solidFill>
              <a:srgbClr val="A3A3A3"/>
            </a:solidFill>
            <a:prstDash val="solid"/>
          </a:ln>
        </p:spPr>
        <p:txBody>
          <a:bodyPr/>
          <a:lstStyle/>
          <a:p>
            <a:endParaRPr lang="en-US"/>
          </a:p>
        </p:txBody>
      </p:sp>
      <p:sp>
        <p:nvSpPr>
          <p:cNvPr id="77" name="Text 75"/>
          <p:cNvSpPr txBox="1"/>
          <p:nvPr/>
        </p:nvSpPr>
        <p:spPr>
          <a:xfrm>
            <a:off x="9176309" y="4562856"/>
            <a:ext cx="2347874" cy="365760"/>
          </a:xfrm>
          <a:prstGeom prst="rect">
            <a:avLst/>
          </a:prstGeom>
          <a:noFill/>
          <a:ln/>
        </p:spPr>
        <p:txBody>
          <a:bodyPr wrap="square" lIns="0" tIns="0" rIns="0" bIns="0" rtlCol="0" anchor="t"/>
          <a:lstStyle/>
          <a:p>
            <a:pPr marL="0" indent="0">
              <a:lnSpc>
                <a:spcPct val="105000"/>
              </a:lnSpc>
              <a:buNone/>
            </a:pPr>
            <a:r>
              <a:rPr lang="en-US" sz="1050" dirty="0">
                <a:solidFill>
                  <a:srgbClr val="141414"/>
                </a:solidFill>
                <a:latin typeface="Arial" pitchFamily="34" charset="0"/>
                <a:ea typeface="Arial" pitchFamily="34" charset="-122"/>
                <a:cs typeface="Arial" pitchFamily="34" charset="-120"/>
              </a:rPr>
              <a:t>Someone writes every key and picks every expiry.</a:t>
            </a:r>
            <a:endParaRPr lang="en-US" sz="1050" dirty="0"/>
          </a:p>
        </p:txBody>
      </p:sp>
      <p:sp>
        <p:nvSpPr>
          <p:cNvPr id="78" name="Text 76"/>
          <p:cNvSpPr txBox="1"/>
          <p:nvPr/>
        </p:nvSpPr>
        <p:spPr>
          <a:xfrm>
            <a:off x="9176309" y="4983480"/>
            <a:ext cx="2347874" cy="18288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role · time zone · schema · collation</a:t>
            </a:r>
            <a:endParaRPr lang="en-US" sz="800" dirty="0"/>
          </a:p>
        </p:txBody>
      </p:sp>
      <p:sp>
        <p:nvSpPr>
          <p:cNvPr id="79" name="Shape 77"/>
          <p:cNvSpPr/>
          <p:nvPr/>
        </p:nvSpPr>
        <p:spPr>
          <a:xfrm>
            <a:off x="548640" y="5349240"/>
            <a:ext cx="11094415" cy="457200"/>
          </a:xfrm>
          <a:prstGeom prst="roundRect">
            <a:avLst>
              <a:gd name="adj" fmla="val 16000"/>
            </a:avLst>
          </a:prstGeom>
          <a:solidFill>
            <a:srgbClr val="141414"/>
          </a:solidFill>
          <a:ln w="12700">
            <a:solidFill>
              <a:srgbClr val="141414"/>
            </a:solidFill>
            <a:prstDash val="solid"/>
          </a:ln>
        </p:spPr>
        <p:txBody>
          <a:bodyPr/>
          <a:lstStyle/>
          <a:p>
            <a:endParaRPr lang="en-US"/>
          </a:p>
        </p:txBody>
      </p:sp>
      <p:sp>
        <p:nvSpPr>
          <p:cNvPr id="80" name="Text 78"/>
          <p:cNvSpPr txBox="1"/>
          <p:nvPr/>
        </p:nvSpPr>
        <p:spPr>
          <a:xfrm>
            <a:off x="822960" y="5349240"/>
            <a:ext cx="10545775" cy="45720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Every hollow mark is a distributed-systems problem left to whoever runs the cache.</a:t>
            </a:r>
            <a:endParaRPr lang="en-US" sz="1450" dirty="0"/>
          </a:p>
        </p:txBody>
      </p:sp>
      <p:sp>
        <p:nvSpPr>
          <p:cNvPr id="81" name="Text 79"/>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[12] M. Altmann, “What happened to the MySQL Query Cache?”, Percona Live Amsterdam, 11 Sep 2026: structure_guard_mutex; “It’s not one unlucky caller — it’s a burst”; “Traditional caches need a distributed lock — and almost nobody writes it correctly.”</a:t>
            </a:r>
            <a:endParaRPr lang="en-US" sz="800" dirty="0"/>
          </a:p>
        </p:txBody>
      </p:sp>
      <p:pic>
        <p:nvPicPr>
          <p:cNvPr id="82" name="Picture 81"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06 · the platform</a:t>
            </a:r>
            <a:endParaRPr lang="en-US" sz="1100" dirty="0"/>
          </a:p>
        </p:txBody>
      </p:sp>
      <p:sp>
        <p:nvSpPr>
          <p:cNvPr id="6" name="Text 4"/>
          <p:cNvSpPr txBox="1"/>
          <p:nvPr/>
        </p:nvSpPr>
        <p:spPr>
          <a:xfrm>
            <a:off x="548640" y="731520"/>
            <a:ext cx="11094415" cy="1051560"/>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It comes together as the invisible cache: the Readyset Platform.</a:t>
            </a:r>
            <a:endParaRPr lang="en-US" sz="3000" dirty="0"/>
          </a:p>
        </p:txBody>
      </p:sp>
      <p:sp>
        <p:nvSpPr>
          <p:cNvPr id="7" name="Shape 5"/>
          <p:cNvSpPr/>
          <p:nvPr/>
        </p:nvSpPr>
        <p:spPr>
          <a:xfrm>
            <a:off x="548640" y="1828800"/>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011680"/>
            <a:ext cx="7818120" cy="3063240"/>
          </a:xfrm>
          <a:prstGeom prst="roundRect">
            <a:avLst>
              <a:gd name="adj" fmla="val 2388"/>
            </a:avLst>
          </a:prstGeom>
          <a:solidFill>
            <a:srgbClr val="FFFFFF"/>
          </a:solidFill>
          <a:ln w="9525">
            <a:solidFill>
              <a:srgbClr val="DED9D0"/>
            </a:solidFill>
            <a:prstDash val="solid"/>
          </a:ln>
        </p:spPr>
        <p:txBody>
          <a:bodyPr/>
          <a:lstStyle/>
          <a:p>
            <a:endParaRPr lang="en-US"/>
          </a:p>
        </p:txBody>
      </p:sp>
      <p:pic>
        <p:nvPicPr>
          <p:cNvPr id="9" name="Image 0" descr="/home/claude/out/platform_edit.png"/>
          <p:cNvPicPr>
            <a:picLocks noChangeAspect="1"/>
          </p:cNvPicPr>
          <p:nvPr/>
        </p:nvPicPr>
        <p:blipFill>
          <a:blip r:embed="rId3"/>
          <a:stretch>
            <a:fillRect/>
          </a:stretch>
        </p:blipFill>
        <p:spPr>
          <a:xfrm>
            <a:off x="777240" y="2232235"/>
            <a:ext cx="7360920" cy="2622130"/>
          </a:xfrm>
          <a:prstGeom prst="rect">
            <a:avLst/>
          </a:prstGeom>
        </p:spPr>
      </p:pic>
      <p:sp>
        <p:nvSpPr>
          <p:cNvPr id="10" name="Text 7"/>
          <p:cNvSpPr txBox="1"/>
          <p:nvPr/>
        </p:nvSpPr>
        <p:spPr>
          <a:xfrm>
            <a:off x="8641080" y="2011680"/>
            <a:ext cx="3001975"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querypilot</a:t>
            </a:r>
            <a:endParaRPr lang="en-US" sz="950" dirty="0"/>
          </a:p>
        </p:txBody>
      </p:sp>
      <p:sp>
        <p:nvSpPr>
          <p:cNvPr id="11" name="Text 8"/>
          <p:cNvSpPr txBox="1"/>
          <p:nvPr/>
        </p:nvSpPr>
        <p:spPr>
          <a:xfrm>
            <a:off x="8641080" y="2267712"/>
            <a:ext cx="3001975" cy="731520"/>
          </a:xfrm>
          <a:prstGeom prst="rect">
            <a:avLst/>
          </a:prstGeom>
          <a:noFill/>
          <a:ln/>
        </p:spPr>
        <p:txBody>
          <a:bodyPr wrap="square" lIns="0" tIns="0" rIns="0" bIns="0" rtlCol="0" anchor="t"/>
          <a:lstStyle/>
          <a:p>
            <a:pPr marL="0" indent="0">
              <a:lnSpc>
                <a:spcPct val="112000"/>
              </a:lnSpc>
              <a:buNone/>
            </a:pPr>
            <a:r>
              <a:rPr lang="en-US" sz="1250" dirty="0">
                <a:solidFill>
                  <a:srgbClr val="141414"/>
                </a:solidFill>
                <a:latin typeface="Arial" pitchFamily="34" charset="0"/>
                <a:ea typeface="Arial" pitchFamily="34" charset="-122"/>
                <a:cs typeface="Arial" pitchFamily="34" charset="-120"/>
              </a:rPr>
              <a:t>Sits on the wire. Routes every statement, decides how to serve it, and revisits the decision as traffic moves.</a:t>
            </a:r>
            <a:endParaRPr lang="en-US" sz="1250" dirty="0"/>
          </a:p>
        </p:txBody>
      </p:sp>
      <p:sp>
        <p:nvSpPr>
          <p:cNvPr id="12" name="Text 9"/>
          <p:cNvSpPr txBox="1"/>
          <p:nvPr/>
        </p:nvSpPr>
        <p:spPr>
          <a:xfrm>
            <a:off x="8641080" y="3035808"/>
            <a:ext cx="3001975"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cache</a:t>
            </a:r>
            <a:endParaRPr lang="en-US" sz="950" dirty="0"/>
          </a:p>
        </p:txBody>
      </p:sp>
      <p:sp>
        <p:nvSpPr>
          <p:cNvPr id="13" name="Text 10"/>
          <p:cNvSpPr txBox="1"/>
          <p:nvPr/>
        </p:nvSpPr>
        <p:spPr>
          <a:xfrm>
            <a:off x="8641080" y="3291840"/>
            <a:ext cx="3001975" cy="731520"/>
          </a:xfrm>
          <a:prstGeom prst="rect">
            <a:avLst/>
          </a:prstGeom>
          <a:noFill/>
          <a:ln/>
        </p:spPr>
        <p:txBody>
          <a:bodyPr wrap="square" lIns="0" tIns="0" rIns="0" bIns="0" rtlCol="0" anchor="t"/>
          <a:lstStyle/>
          <a:p>
            <a:pPr marL="0" indent="0">
              <a:lnSpc>
                <a:spcPct val="112000"/>
              </a:lnSpc>
              <a:buNone/>
            </a:pPr>
            <a:r>
              <a:rPr lang="en-US" sz="1250" dirty="0">
                <a:solidFill>
                  <a:srgbClr val="141414"/>
                </a:solidFill>
                <a:latin typeface="Arial" pitchFamily="34" charset="0"/>
                <a:ea typeface="Arial" pitchFamily="34" charset="-122"/>
                <a:cs typeface="Arial" pitchFamily="34" charset="-120"/>
              </a:rPr>
              <a:t>Results held in memory and views maintained from the change stream, chosen per query.</a:t>
            </a:r>
            <a:endParaRPr lang="en-US" sz="1250" dirty="0"/>
          </a:p>
        </p:txBody>
      </p:sp>
      <p:sp>
        <p:nvSpPr>
          <p:cNvPr id="14" name="Text 11"/>
          <p:cNvSpPr txBox="1"/>
          <p:nvPr/>
        </p:nvSpPr>
        <p:spPr>
          <a:xfrm>
            <a:off x="8641080" y="4059936"/>
            <a:ext cx="3001975" cy="22860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guard</a:t>
            </a:r>
            <a:endParaRPr lang="en-US" sz="950" dirty="0"/>
          </a:p>
        </p:txBody>
      </p:sp>
      <p:sp>
        <p:nvSpPr>
          <p:cNvPr id="15" name="Text 12"/>
          <p:cNvSpPr txBox="1"/>
          <p:nvPr/>
        </p:nvSpPr>
        <p:spPr>
          <a:xfrm>
            <a:off x="8641080" y="4315968"/>
            <a:ext cx="3001975" cy="731520"/>
          </a:xfrm>
          <a:prstGeom prst="rect">
            <a:avLst/>
          </a:prstGeom>
          <a:noFill/>
          <a:ln/>
        </p:spPr>
        <p:txBody>
          <a:bodyPr wrap="square" lIns="0" tIns="0" rIns="0" bIns="0" rtlCol="0" anchor="t"/>
          <a:lstStyle/>
          <a:p>
            <a:pPr marL="0" indent="0">
              <a:lnSpc>
                <a:spcPct val="112000"/>
              </a:lnSpc>
              <a:buNone/>
            </a:pPr>
            <a:r>
              <a:rPr lang="en-US" sz="1250" dirty="0">
                <a:solidFill>
                  <a:srgbClr val="141414"/>
                </a:solidFill>
                <a:latin typeface="Arial" pitchFamily="34" charset="0"/>
                <a:ea typeface="Arial" pitchFamily="34" charset="-122"/>
                <a:cs typeface="Arial" pitchFamily="34" charset="-120"/>
              </a:rPr>
              <a:t>Checks what a query is allowed to touch before it reaches the database.</a:t>
            </a:r>
            <a:endParaRPr lang="en-US" sz="1250" dirty="0"/>
          </a:p>
        </p:txBody>
      </p:sp>
      <p:sp>
        <p:nvSpPr>
          <p:cNvPr id="16" name="Shape 13"/>
          <p:cNvSpPr/>
          <p:nvPr/>
        </p:nvSpPr>
        <p:spPr>
          <a:xfrm>
            <a:off x="548640" y="5257800"/>
            <a:ext cx="11094415" cy="548640"/>
          </a:xfrm>
          <a:prstGeom prst="roundRect">
            <a:avLst>
              <a:gd name="adj" fmla="val 13333"/>
            </a:avLst>
          </a:prstGeom>
          <a:solidFill>
            <a:srgbClr val="141414"/>
          </a:solidFill>
          <a:ln w="12700">
            <a:solidFill>
              <a:srgbClr val="141414"/>
            </a:solidFill>
            <a:prstDash val="solid"/>
          </a:ln>
        </p:spPr>
        <p:txBody>
          <a:bodyPr/>
          <a:lstStyle/>
          <a:p>
            <a:endParaRPr lang="en-US"/>
          </a:p>
        </p:txBody>
      </p:sp>
      <p:sp>
        <p:nvSpPr>
          <p:cNvPr id="17" name="Text 14"/>
          <p:cNvSpPr txBox="1"/>
          <p:nvPr/>
        </p:nvSpPr>
        <p:spPr>
          <a:xfrm>
            <a:off x="822960" y="5257800"/>
            <a:ext cx="10545775" cy="54864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SQL in, SQL out. One connection string. The same answer as the database, or fall through to it.</a:t>
            </a:r>
            <a:endParaRPr lang="en-US" sz="1450" dirty="0"/>
          </a:p>
        </p:txBody>
      </p:sp>
      <p:sp>
        <p:nvSpPr>
          <p:cNvPr id="18" name="Text 15"/>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[10] Readyset, “Nobody Wants a Cache: Introducing the Readyset Platform”, 21 Jul 2026 — readyset.io/blog/nobody-wants-a-cache.   Diagram: Readyset, 2026.   MySQL wire protocol; also speaks PostgreSQL.</a:t>
            </a:r>
            <a:endParaRPr lang="en-US" sz="800" dirty="0"/>
          </a:p>
        </p:txBody>
      </p:sp>
      <p:pic>
        <p:nvPicPr>
          <p:cNvPr id="19" name="Picture 18" descr="user_logo_trim.png"/>
          <p:cNvPicPr>
            <a:picLocks noChangeAspect="1"/>
          </p:cNvPicPr>
          <p:nvPr/>
        </p:nvPicPr>
        <p:blipFill>
          <a:blip r:embed="rId4"/>
          <a:stretch>
            <a:fillRect/>
          </a:stretch>
        </p:blipFill>
        <p:spPr>
          <a:xfrm>
            <a:off x="548640" y="6364224"/>
            <a:ext cx="1016485" cy="2194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06 · the platform · the result cache</a:t>
            </a:r>
            <a:endParaRPr lang="en-US" sz="1100" dirty="0"/>
          </a:p>
        </p:txBody>
      </p:sp>
      <p:sp>
        <p:nvSpPr>
          <p:cNvPr id="6" name="Text 4"/>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No more flat-head on a Phillips screw: a cache built for SQL.</a:t>
            </a:r>
            <a:endParaRPr lang="en-US" sz="3000" dirty="0"/>
          </a:p>
        </p:txBody>
      </p:sp>
      <p:sp>
        <p:nvSpPr>
          <p:cNvPr id="7" name="Shape 5"/>
          <p:cNvSpPr/>
          <p:nvPr/>
        </p:nvSpPr>
        <p:spPr>
          <a:xfrm>
            <a:off x="548640" y="1344168"/>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3154680"/>
            <a:ext cx="1463040" cy="731520"/>
          </a:xfrm>
          <a:prstGeom prst="roundRect">
            <a:avLst>
              <a:gd name="adj" fmla="val 7500"/>
            </a:avLst>
          </a:prstGeom>
          <a:solidFill>
            <a:srgbClr val="FFFFFF"/>
          </a:solidFill>
          <a:ln w="9525">
            <a:solidFill>
              <a:srgbClr val="DED9D0"/>
            </a:solidFill>
            <a:prstDash val="solid"/>
          </a:ln>
        </p:spPr>
        <p:txBody>
          <a:bodyPr/>
          <a:lstStyle/>
          <a:p>
            <a:endParaRPr lang="en-US"/>
          </a:p>
        </p:txBody>
      </p:sp>
      <p:sp>
        <p:nvSpPr>
          <p:cNvPr id="9" name="Text 7"/>
          <p:cNvSpPr txBox="1"/>
          <p:nvPr/>
        </p:nvSpPr>
        <p:spPr>
          <a:xfrm>
            <a:off x="548640" y="3154680"/>
            <a:ext cx="1463040" cy="7315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Application</a:t>
            </a:r>
            <a:endParaRPr lang="en-US" sz="1150" dirty="0"/>
          </a:p>
        </p:txBody>
      </p:sp>
      <p:sp>
        <p:nvSpPr>
          <p:cNvPr id="10" name="Shape 8"/>
          <p:cNvSpPr/>
          <p:nvPr/>
        </p:nvSpPr>
        <p:spPr>
          <a:xfrm>
            <a:off x="2560320" y="3154680"/>
            <a:ext cx="1645920" cy="731520"/>
          </a:xfrm>
          <a:prstGeom prst="roundRect">
            <a:avLst>
              <a:gd name="adj" fmla="val 7500"/>
            </a:avLst>
          </a:prstGeom>
          <a:solidFill>
            <a:srgbClr val="E5472F"/>
          </a:solidFill>
          <a:ln w="9525">
            <a:solidFill>
              <a:srgbClr val="E5472F"/>
            </a:solidFill>
            <a:prstDash val="solid"/>
          </a:ln>
        </p:spPr>
        <p:txBody>
          <a:bodyPr/>
          <a:lstStyle/>
          <a:p>
            <a:endParaRPr lang="en-US"/>
          </a:p>
        </p:txBody>
      </p:sp>
      <p:sp>
        <p:nvSpPr>
          <p:cNvPr id="11" name="Text 9"/>
          <p:cNvSpPr txBox="1"/>
          <p:nvPr/>
        </p:nvSpPr>
        <p:spPr>
          <a:xfrm>
            <a:off x="2560320" y="3154680"/>
            <a:ext cx="1645920" cy="73152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QueryPilot</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result cache</a:t>
            </a:r>
            <a:endParaRPr lang="en-US" sz="1150" dirty="0"/>
          </a:p>
        </p:txBody>
      </p:sp>
      <p:sp>
        <p:nvSpPr>
          <p:cNvPr id="12" name="Shape 10"/>
          <p:cNvSpPr/>
          <p:nvPr/>
        </p:nvSpPr>
        <p:spPr>
          <a:xfrm>
            <a:off x="4754880" y="3154680"/>
            <a:ext cx="1280160" cy="731520"/>
          </a:xfrm>
          <a:prstGeom prst="roundRect">
            <a:avLst>
              <a:gd name="adj" fmla="val 7500"/>
            </a:avLst>
          </a:prstGeom>
          <a:solidFill>
            <a:srgbClr val="141414"/>
          </a:solidFill>
          <a:ln w="9525">
            <a:solidFill>
              <a:srgbClr val="141414"/>
            </a:solidFill>
            <a:prstDash val="solid"/>
          </a:ln>
        </p:spPr>
        <p:txBody>
          <a:bodyPr/>
          <a:lstStyle/>
          <a:p>
            <a:endParaRPr lang="en-US"/>
          </a:p>
        </p:txBody>
      </p:sp>
      <p:sp>
        <p:nvSpPr>
          <p:cNvPr id="13" name="Text 11"/>
          <p:cNvSpPr txBox="1"/>
          <p:nvPr/>
        </p:nvSpPr>
        <p:spPr>
          <a:xfrm>
            <a:off x="4754880" y="3154680"/>
            <a:ext cx="1280160" cy="73152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MySQL</a:t>
            </a:r>
            <a:endParaRPr lang="en-US" sz="1150" dirty="0"/>
          </a:p>
        </p:txBody>
      </p:sp>
      <p:sp>
        <p:nvSpPr>
          <p:cNvPr id="14" name="Shape 12"/>
          <p:cNvSpPr/>
          <p:nvPr/>
        </p:nvSpPr>
        <p:spPr>
          <a:xfrm>
            <a:off x="2011680" y="3520440"/>
            <a:ext cx="548640" cy="0"/>
          </a:xfrm>
          <a:prstGeom prst="line">
            <a:avLst/>
          </a:prstGeom>
          <a:noFill/>
          <a:ln w="15875">
            <a:solidFill>
              <a:srgbClr val="141414"/>
            </a:solidFill>
            <a:prstDash val="solid"/>
            <a:tailEnd type="triangle"/>
          </a:ln>
        </p:spPr>
        <p:txBody>
          <a:bodyPr/>
          <a:lstStyle/>
          <a:p>
            <a:endParaRPr lang="en-US"/>
          </a:p>
        </p:txBody>
      </p:sp>
      <p:sp>
        <p:nvSpPr>
          <p:cNvPr id="15" name="Shape 13"/>
          <p:cNvSpPr/>
          <p:nvPr/>
        </p:nvSpPr>
        <p:spPr>
          <a:xfrm>
            <a:off x="4206240" y="3520440"/>
            <a:ext cx="548640" cy="0"/>
          </a:xfrm>
          <a:prstGeom prst="line">
            <a:avLst/>
          </a:prstGeom>
          <a:noFill/>
          <a:ln w="15875">
            <a:solidFill>
              <a:srgbClr val="141414"/>
            </a:solidFill>
            <a:prstDash val="solid"/>
            <a:tailEnd type="triangle"/>
          </a:ln>
        </p:spPr>
        <p:txBody>
          <a:bodyPr/>
          <a:lstStyle/>
          <a:p>
            <a:endParaRPr lang="en-US"/>
          </a:p>
        </p:txBody>
      </p:sp>
      <p:sp>
        <p:nvSpPr>
          <p:cNvPr id="16" name="Text 14"/>
          <p:cNvSpPr txBox="1"/>
          <p:nvPr/>
        </p:nvSpPr>
        <p:spPr>
          <a:xfrm>
            <a:off x="4206240" y="3200400"/>
            <a:ext cx="548640" cy="274320"/>
          </a:xfrm>
          <a:prstGeom prst="rect">
            <a:avLst/>
          </a:prstGeom>
          <a:noFill/>
          <a:ln/>
        </p:spPr>
        <p:txBody>
          <a:bodyPr wrap="square" lIns="0" tIns="0" rIns="0" bIns="0" rtlCol="0" anchor="ctr"/>
          <a:lstStyle/>
          <a:p>
            <a:pPr marL="0" indent="0" algn="ctr">
              <a:buNone/>
            </a:pPr>
            <a:r>
              <a:rPr lang="en-US" sz="850" dirty="0">
                <a:solidFill>
                  <a:srgbClr val="6B6B6B"/>
                </a:solidFill>
                <a:latin typeface="Courier New" pitchFamily="34" charset="0"/>
                <a:ea typeface="Courier New" pitchFamily="34" charset="-122"/>
                <a:cs typeface="Courier New" pitchFamily="34" charset="-120"/>
              </a:rPr>
              <a:t>miss</a:t>
            </a:r>
            <a:endParaRPr lang="en-US" sz="850" dirty="0"/>
          </a:p>
        </p:txBody>
      </p:sp>
      <p:sp>
        <p:nvSpPr>
          <p:cNvPr id="17" name="Text 15"/>
          <p:cNvSpPr txBox="1"/>
          <p:nvPr/>
        </p:nvSpPr>
        <p:spPr>
          <a:xfrm>
            <a:off x="1828800" y="3931920"/>
            <a:ext cx="914400" cy="274320"/>
          </a:xfrm>
          <a:prstGeom prst="rect">
            <a:avLst/>
          </a:prstGeom>
          <a:noFill/>
          <a:ln/>
        </p:spPr>
        <p:txBody>
          <a:bodyPr wrap="square" lIns="0" tIns="0" rIns="0" bIns="0" rtlCol="0" anchor="ctr"/>
          <a:lstStyle/>
          <a:p>
            <a:pPr marL="0" indent="0" algn="ctr">
              <a:buNone/>
            </a:pPr>
            <a:r>
              <a:rPr lang="en-US" sz="850" dirty="0">
                <a:solidFill>
                  <a:srgbClr val="6B6B6B"/>
                </a:solidFill>
                <a:latin typeface="Courier New" pitchFamily="34" charset="0"/>
                <a:ea typeface="Courier New" pitchFamily="34" charset="-122"/>
                <a:cs typeface="Courier New" pitchFamily="34" charset="-120"/>
              </a:rPr>
              <a:t>hit → sub-ms</a:t>
            </a:r>
            <a:endParaRPr lang="en-US" sz="850" dirty="0"/>
          </a:p>
        </p:txBody>
      </p:sp>
      <p:sp>
        <p:nvSpPr>
          <p:cNvPr id="18" name="Shape 16"/>
          <p:cNvSpPr/>
          <p:nvPr/>
        </p:nvSpPr>
        <p:spPr>
          <a:xfrm>
            <a:off x="2560320" y="4572000"/>
            <a:ext cx="1645920" cy="502920"/>
          </a:xfrm>
          <a:prstGeom prst="roundRect">
            <a:avLst>
              <a:gd name="adj" fmla="val 10909"/>
            </a:avLst>
          </a:prstGeom>
          <a:solidFill>
            <a:srgbClr val="F6F4EF"/>
          </a:solidFill>
          <a:ln w="9525">
            <a:solidFill>
              <a:srgbClr val="DED9D0"/>
            </a:solidFill>
            <a:prstDash val="solid"/>
          </a:ln>
        </p:spPr>
        <p:txBody>
          <a:bodyPr/>
          <a:lstStyle/>
          <a:p>
            <a:endParaRPr lang="en-US"/>
          </a:p>
        </p:txBody>
      </p:sp>
      <p:sp>
        <p:nvSpPr>
          <p:cNvPr id="19" name="Text 17"/>
          <p:cNvSpPr txBox="1"/>
          <p:nvPr/>
        </p:nvSpPr>
        <p:spPr>
          <a:xfrm>
            <a:off x="2560320" y="4572000"/>
            <a:ext cx="1645920" cy="5029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refresh worker</a:t>
            </a:r>
            <a:endParaRPr lang="en-US" sz="1150" dirty="0"/>
          </a:p>
        </p:txBody>
      </p:sp>
      <p:sp>
        <p:nvSpPr>
          <p:cNvPr id="20" name="Shape 18"/>
          <p:cNvSpPr/>
          <p:nvPr/>
        </p:nvSpPr>
        <p:spPr>
          <a:xfrm>
            <a:off x="3383280" y="3886200"/>
            <a:ext cx="0" cy="685800"/>
          </a:xfrm>
          <a:prstGeom prst="line">
            <a:avLst/>
          </a:prstGeom>
          <a:noFill/>
          <a:ln w="15875">
            <a:solidFill>
              <a:srgbClr val="6B6B6B"/>
            </a:solidFill>
            <a:prstDash val="dash"/>
          </a:ln>
        </p:spPr>
        <p:txBody>
          <a:bodyPr/>
          <a:lstStyle/>
          <a:p>
            <a:endParaRPr lang="en-US"/>
          </a:p>
        </p:txBody>
      </p:sp>
      <p:sp>
        <p:nvSpPr>
          <p:cNvPr id="21" name="Shape 19"/>
          <p:cNvSpPr/>
          <p:nvPr/>
        </p:nvSpPr>
        <p:spPr>
          <a:xfrm flipV="1">
            <a:off x="4206240" y="3886200"/>
            <a:ext cx="1188720" cy="932688"/>
          </a:xfrm>
          <a:prstGeom prst="line">
            <a:avLst/>
          </a:prstGeom>
          <a:noFill/>
          <a:ln w="15875">
            <a:solidFill>
              <a:srgbClr val="6B6B6B"/>
            </a:solidFill>
            <a:prstDash val="dash"/>
            <a:tailEnd type="triangle"/>
          </a:ln>
        </p:spPr>
        <p:txBody>
          <a:bodyPr/>
          <a:lstStyle/>
          <a:p>
            <a:endParaRPr lang="en-US"/>
          </a:p>
        </p:txBody>
      </p:sp>
      <p:sp>
        <p:nvSpPr>
          <p:cNvPr id="22" name="Text 20"/>
          <p:cNvSpPr txBox="1"/>
          <p:nvPr/>
        </p:nvSpPr>
        <p:spPr>
          <a:xfrm>
            <a:off x="548640" y="5166360"/>
            <a:ext cx="5669280" cy="274320"/>
          </a:xfrm>
          <a:prstGeom prst="rect">
            <a:avLst/>
          </a:prstGeom>
          <a:noFill/>
          <a:ln/>
        </p:spPr>
        <p:txBody>
          <a:bodyPr wrap="square" lIns="0" tIns="0" rIns="0" bIns="0" rtlCol="0" anchor="ctr"/>
          <a:lstStyle/>
          <a:p>
            <a:pPr marL="0" indent="0">
              <a:buNone/>
            </a:pPr>
            <a:r>
              <a:rPr lang="en-US" sz="900" dirty="0">
                <a:solidFill>
                  <a:srgbClr val="6B6B6B"/>
                </a:solidFill>
                <a:latin typeface="Courier New" pitchFamily="34" charset="0"/>
                <a:ea typeface="Courier New" pitchFamily="34" charset="-122"/>
                <a:cs typeface="Courier New" pitchFamily="34" charset="-120"/>
              </a:rPr>
              <a:t>refresh before expiry · off the request path</a:t>
            </a:r>
            <a:endParaRPr lang="en-US" sz="900" dirty="0"/>
          </a:p>
        </p:txBody>
      </p:sp>
      <p:sp>
        <p:nvSpPr>
          <p:cNvPr id="23" name="Shape 21"/>
          <p:cNvSpPr/>
          <p:nvPr/>
        </p:nvSpPr>
        <p:spPr>
          <a:xfrm>
            <a:off x="6492240" y="2185416"/>
            <a:ext cx="82296" cy="82296"/>
          </a:xfrm>
          <a:prstGeom prst="ellipse">
            <a:avLst/>
          </a:prstGeom>
          <a:solidFill>
            <a:srgbClr val="E5472F"/>
          </a:solidFill>
          <a:ln w="12700">
            <a:solidFill>
              <a:srgbClr val="E5472F"/>
            </a:solidFill>
            <a:prstDash val="solid"/>
          </a:ln>
        </p:spPr>
        <p:txBody>
          <a:bodyPr/>
          <a:lstStyle/>
          <a:p>
            <a:endParaRPr lang="en-US"/>
          </a:p>
        </p:txBody>
      </p:sp>
      <p:sp>
        <p:nvSpPr>
          <p:cNvPr id="24" name="Text 22"/>
          <p:cNvSpPr txBox="1"/>
          <p:nvPr/>
        </p:nvSpPr>
        <p:spPr>
          <a:xfrm>
            <a:off x="6720840" y="2103120"/>
            <a:ext cx="4937760" cy="731520"/>
          </a:xfrm>
          <a:prstGeom prst="rect">
            <a:avLst/>
          </a:prstGeom>
          <a:noFill/>
          <a:ln/>
        </p:spPr>
        <p:txBody>
          <a:bodyPr wrap="square" lIns="0" tIns="0" rIns="0" bIns="0" rtlCol="0" anchor="t"/>
          <a:lstStyle/>
          <a:p>
            <a:pPr marL="0" indent="0">
              <a:lnSpc>
                <a:spcPct val="112000"/>
              </a:lnSpc>
              <a:buNone/>
            </a:pPr>
            <a:r>
              <a:rPr lang="en-US" sz="1250" b="1" dirty="0">
                <a:solidFill>
                  <a:srgbClr val="141414"/>
                </a:solidFill>
                <a:latin typeface="Arial" pitchFamily="34" charset="0"/>
                <a:ea typeface="Arial" pitchFamily="34" charset="-122"/>
                <a:cs typeface="Arial" pitchFamily="34" charset="-120"/>
              </a:rPr>
              <a:t>Purpose-built for SQL, not a generic key-value store. </a:t>
            </a:r>
            <a:r>
              <a:rPr lang="en-US" sz="1250" dirty="0">
                <a:solidFill>
                  <a:srgbClr val="141414"/>
                </a:solidFill>
                <a:latin typeface="Arial" pitchFamily="34" charset="0"/>
                <a:ea typeface="Arial" pitchFamily="34" charset="-122"/>
                <a:cs typeface="Arial" pitchFamily="34" charset="-120"/>
              </a:rPr>
              <a:t>The key is the full statement plus its session context: user, role, time zone, collation. [12]</a:t>
            </a:r>
            <a:endParaRPr lang="en-US" sz="1250" dirty="0"/>
          </a:p>
        </p:txBody>
      </p:sp>
      <p:sp>
        <p:nvSpPr>
          <p:cNvPr id="25" name="Shape 23"/>
          <p:cNvSpPr/>
          <p:nvPr/>
        </p:nvSpPr>
        <p:spPr>
          <a:xfrm>
            <a:off x="6492240" y="2916936"/>
            <a:ext cx="82296" cy="82296"/>
          </a:xfrm>
          <a:prstGeom prst="ellipse">
            <a:avLst/>
          </a:prstGeom>
          <a:solidFill>
            <a:srgbClr val="E5472F"/>
          </a:solidFill>
          <a:ln w="12700">
            <a:solidFill>
              <a:srgbClr val="E5472F"/>
            </a:solidFill>
            <a:prstDash val="solid"/>
          </a:ln>
        </p:spPr>
        <p:txBody>
          <a:bodyPr/>
          <a:lstStyle/>
          <a:p>
            <a:endParaRPr lang="en-US"/>
          </a:p>
        </p:txBody>
      </p:sp>
      <p:sp>
        <p:nvSpPr>
          <p:cNvPr id="26" name="Text 24"/>
          <p:cNvSpPr txBox="1"/>
          <p:nvPr/>
        </p:nvSpPr>
        <p:spPr>
          <a:xfrm>
            <a:off x="6720840" y="2834640"/>
            <a:ext cx="4937760" cy="594360"/>
          </a:xfrm>
          <a:prstGeom prst="rect">
            <a:avLst/>
          </a:prstGeom>
          <a:noFill/>
          <a:ln/>
        </p:spPr>
        <p:txBody>
          <a:bodyPr wrap="square" lIns="0" tIns="0" rIns="0" bIns="0" rtlCol="0" anchor="t"/>
          <a:lstStyle/>
          <a:p>
            <a:pPr marL="0" indent="0">
              <a:lnSpc>
                <a:spcPct val="112000"/>
              </a:lnSpc>
              <a:buNone/>
            </a:pPr>
            <a:r>
              <a:rPr lang="en-US" sz="1250" b="1" dirty="0">
                <a:solidFill>
                  <a:srgbClr val="141414"/>
                </a:solidFill>
                <a:latin typeface="Arial" pitchFamily="34" charset="0"/>
                <a:ea typeface="Arial" pitchFamily="34" charset="-122"/>
                <a:cs typeface="Arial" pitchFamily="34" charset="-120"/>
              </a:rPr>
              <a:t>Thundering herd handled at the proxy. </a:t>
            </a:r>
            <a:r>
              <a:rPr lang="en-US" sz="1250" dirty="0">
                <a:solidFill>
                  <a:srgbClr val="141414"/>
                </a:solidFill>
                <a:latin typeface="Arial" pitchFamily="34" charset="0"/>
                <a:ea typeface="Arial" pitchFamily="34" charset="-122"/>
                <a:cs typeface="Arial" pitchFamily="34" charset="-120"/>
              </a:rPr>
              <a:t>Concurrent misses coalesce into one upstream query.</a:t>
            </a:r>
            <a:endParaRPr lang="en-US" sz="1250" dirty="0"/>
          </a:p>
        </p:txBody>
      </p:sp>
      <p:sp>
        <p:nvSpPr>
          <p:cNvPr id="27" name="Shape 25"/>
          <p:cNvSpPr/>
          <p:nvPr/>
        </p:nvSpPr>
        <p:spPr>
          <a:xfrm>
            <a:off x="6492240" y="3557016"/>
            <a:ext cx="82296" cy="82296"/>
          </a:xfrm>
          <a:prstGeom prst="ellipse">
            <a:avLst/>
          </a:prstGeom>
          <a:solidFill>
            <a:srgbClr val="E5472F"/>
          </a:solidFill>
          <a:ln w="12700">
            <a:solidFill>
              <a:srgbClr val="E5472F"/>
            </a:solidFill>
            <a:prstDash val="solid"/>
          </a:ln>
        </p:spPr>
        <p:txBody>
          <a:bodyPr/>
          <a:lstStyle/>
          <a:p>
            <a:endParaRPr lang="en-US"/>
          </a:p>
        </p:txBody>
      </p:sp>
      <p:sp>
        <p:nvSpPr>
          <p:cNvPr id="28" name="Text 26"/>
          <p:cNvSpPr txBox="1"/>
          <p:nvPr/>
        </p:nvSpPr>
        <p:spPr>
          <a:xfrm>
            <a:off x="6720840" y="3474720"/>
            <a:ext cx="4937760" cy="594360"/>
          </a:xfrm>
          <a:prstGeom prst="rect">
            <a:avLst/>
          </a:prstGeom>
          <a:noFill/>
          <a:ln/>
        </p:spPr>
        <p:txBody>
          <a:bodyPr wrap="square" lIns="0" tIns="0" rIns="0" bIns="0" rtlCol="0" anchor="t"/>
          <a:lstStyle/>
          <a:p>
            <a:pPr marL="0" indent="0">
              <a:lnSpc>
                <a:spcPct val="112000"/>
              </a:lnSpc>
              <a:buNone/>
            </a:pPr>
            <a:r>
              <a:rPr lang="en-US" sz="1250" b="1" dirty="0">
                <a:solidFill>
                  <a:srgbClr val="141414"/>
                </a:solidFill>
                <a:latin typeface="Arial" pitchFamily="34" charset="0"/>
                <a:ea typeface="Arial" pitchFamily="34" charset="-122"/>
                <a:cs typeface="Arial" pitchFamily="34" charset="-120"/>
              </a:rPr>
              <a:t>Background refresh, before expiry, off the request path. </a:t>
            </a:r>
            <a:r>
              <a:rPr lang="en-US" sz="1250" dirty="0">
                <a:solidFill>
                  <a:srgbClr val="141414"/>
                </a:solidFill>
                <a:latin typeface="Arial" pitchFamily="34" charset="0"/>
                <a:ea typeface="Arial" pitchFamily="34" charset="-122"/>
                <a:cs typeface="Arial" pitchFamily="34" charset="-120"/>
              </a:rPr>
              <a:t>Users always get a cached result.</a:t>
            </a:r>
            <a:endParaRPr lang="en-US" sz="1250" dirty="0"/>
          </a:p>
        </p:txBody>
      </p:sp>
      <p:sp>
        <p:nvSpPr>
          <p:cNvPr id="29" name="Shape 27"/>
          <p:cNvSpPr/>
          <p:nvPr/>
        </p:nvSpPr>
        <p:spPr>
          <a:xfrm>
            <a:off x="6492240" y="4197096"/>
            <a:ext cx="82296" cy="82296"/>
          </a:xfrm>
          <a:prstGeom prst="ellipse">
            <a:avLst/>
          </a:prstGeom>
          <a:solidFill>
            <a:srgbClr val="E5472F"/>
          </a:solidFill>
          <a:ln w="12700">
            <a:solidFill>
              <a:srgbClr val="E5472F"/>
            </a:solidFill>
            <a:prstDash val="solid"/>
          </a:ln>
        </p:spPr>
        <p:txBody>
          <a:bodyPr/>
          <a:lstStyle/>
          <a:p>
            <a:endParaRPr lang="en-US"/>
          </a:p>
        </p:txBody>
      </p:sp>
      <p:sp>
        <p:nvSpPr>
          <p:cNvPr id="30" name="Text 28"/>
          <p:cNvSpPr txBox="1"/>
          <p:nvPr/>
        </p:nvSpPr>
        <p:spPr>
          <a:xfrm>
            <a:off x="6720840" y="4114800"/>
            <a:ext cx="4937760" cy="731520"/>
          </a:xfrm>
          <a:prstGeom prst="rect">
            <a:avLst/>
          </a:prstGeom>
          <a:noFill/>
          <a:ln/>
        </p:spPr>
        <p:txBody>
          <a:bodyPr wrap="square" lIns="0" tIns="0" rIns="0" bIns="0" rtlCol="0" anchor="t"/>
          <a:lstStyle/>
          <a:p>
            <a:pPr marL="0" indent="0">
              <a:lnSpc>
                <a:spcPct val="112000"/>
              </a:lnSpc>
              <a:buNone/>
            </a:pPr>
            <a:r>
              <a:rPr lang="en-US" sz="1250" b="1" dirty="0">
                <a:solidFill>
                  <a:srgbClr val="141414"/>
                </a:solidFill>
                <a:latin typeface="Arial" pitchFamily="34" charset="0"/>
                <a:ea typeface="Arial" pitchFamily="34" charset="-122"/>
                <a:cs typeface="Arial" pitchFamily="34" charset="-120"/>
              </a:rPr>
              <a:t>Dynamic refresh. </a:t>
            </a:r>
            <a:r>
              <a:rPr lang="en-US" sz="1250" dirty="0">
                <a:solidFill>
                  <a:srgbClr val="141414"/>
                </a:solidFill>
                <a:latin typeface="Arial" pitchFamily="34" charset="0"/>
                <a:ea typeface="Arial" pitchFamily="34" charset="-122"/>
                <a:cs typeface="Arial" pitchFamily="34" charset="-120"/>
              </a:rPr>
              <a:t>Cadence follows how often a query is asked and how fast its data changes; you set only a staleness ceiling. [11]</a:t>
            </a:r>
            <a:endParaRPr lang="en-US" sz="1250" dirty="0"/>
          </a:p>
        </p:txBody>
      </p:sp>
      <p:sp>
        <p:nvSpPr>
          <p:cNvPr id="31" name="Shape 29"/>
          <p:cNvSpPr/>
          <p:nvPr/>
        </p:nvSpPr>
        <p:spPr>
          <a:xfrm>
            <a:off x="6492240" y="4974336"/>
            <a:ext cx="82296" cy="82296"/>
          </a:xfrm>
          <a:prstGeom prst="ellipse">
            <a:avLst/>
          </a:prstGeom>
          <a:solidFill>
            <a:srgbClr val="E5472F"/>
          </a:solidFill>
          <a:ln w="12700">
            <a:solidFill>
              <a:srgbClr val="E5472F"/>
            </a:solidFill>
            <a:prstDash val="solid"/>
          </a:ln>
        </p:spPr>
        <p:txBody>
          <a:bodyPr/>
          <a:lstStyle/>
          <a:p>
            <a:endParaRPr lang="en-US"/>
          </a:p>
        </p:txBody>
      </p:sp>
      <p:sp>
        <p:nvSpPr>
          <p:cNvPr id="32" name="Text 30"/>
          <p:cNvSpPr txBox="1"/>
          <p:nvPr/>
        </p:nvSpPr>
        <p:spPr>
          <a:xfrm>
            <a:off x="6720840" y="4892040"/>
            <a:ext cx="4937760" cy="731520"/>
          </a:xfrm>
          <a:prstGeom prst="rect">
            <a:avLst/>
          </a:prstGeom>
          <a:noFill/>
          <a:ln/>
        </p:spPr>
        <p:txBody>
          <a:bodyPr wrap="square" lIns="0" tIns="0" rIns="0" bIns="0" rtlCol="0" anchor="t"/>
          <a:lstStyle/>
          <a:p>
            <a:pPr marL="0" indent="0">
              <a:lnSpc>
                <a:spcPct val="112000"/>
              </a:lnSpc>
              <a:buNone/>
            </a:pPr>
            <a:r>
              <a:rPr lang="en-US" sz="1250" b="1" dirty="0">
                <a:solidFill>
                  <a:srgbClr val="141414"/>
                </a:solidFill>
                <a:latin typeface="Arial" pitchFamily="34" charset="0"/>
                <a:ea typeface="Arial" pitchFamily="34" charset="-122"/>
                <a:cs typeface="Arial" pitchFamily="34" charset="-120"/>
              </a:rPr>
              <a:t>Adaptive cache. </a:t>
            </a:r>
            <a:r>
              <a:rPr lang="en-US" sz="1250" dirty="0">
                <a:solidFill>
                  <a:srgbClr val="141414"/>
                </a:solidFill>
                <a:latin typeface="Arial" pitchFamily="34" charset="0"/>
                <a:ea typeface="Arial" pitchFamily="34" charset="-122"/>
                <a:cs typeface="Arial" pitchFamily="34" charset="-120"/>
              </a:rPr>
              <a:t>QueryPilot picks the caching mode per query and revisits the choice as traffic moves. [10]</a:t>
            </a:r>
            <a:endParaRPr lang="en-US" sz="1250" dirty="0"/>
          </a:p>
        </p:txBody>
      </p:sp>
      <p:sp>
        <p:nvSpPr>
          <p:cNvPr id="33" name="Text 31"/>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[10] Readyset, “Nobody Wants a Cache: Introducing the Readyset Platform”, 21 Jul 2026.   [11] Readyset Docs, “Automatic Shallow Caching”: “per-entry refresh intervals track observed data change rates”.   [12] M. Altmann, Percona Live Amsterdam, 11 Sep 2026 (request coalescing, cost-aware eviction, semantic keys).</a:t>
            </a:r>
            <a:endParaRPr lang="en-US" sz="800" dirty="0"/>
          </a:p>
        </p:txBody>
      </p:sp>
      <p:pic>
        <p:nvPicPr>
          <p:cNvPr id="34" name="Picture 33"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06 · the platform · incremental view maintenance</a:t>
            </a:r>
            <a:endParaRPr lang="en-US" sz="1100" dirty="0"/>
          </a:p>
        </p:txBody>
      </p:sp>
      <p:sp>
        <p:nvSpPr>
          <p:cNvPr id="6" name="Text 4"/>
          <p:cNvSpPr txBox="1"/>
          <p:nvPr/>
        </p:nvSpPr>
        <p:spPr>
          <a:xfrm>
            <a:off x="548640" y="731520"/>
            <a:ext cx="11094415" cy="1051560"/>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Incremental view maintenance: the database tells the cache what changed.</a:t>
            </a:r>
            <a:endParaRPr lang="en-US" sz="3000" dirty="0"/>
          </a:p>
        </p:txBody>
      </p:sp>
      <p:sp>
        <p:nvSpPr>
          <p:cNvPr id="7" name="Shape 5"/>
          <p:cNvSpPr/>
          <p:nvPr/>
        </p:nvSpPr>
        <p:spPr>
          <a:xfrm>
            <a:off x="548640" y="1828800"/>
            <a:ext cx="11094415" cy="0"/>
          </a:xfrm>
          <a:prstGeom prst="line">
            <a:avLst/>
          </a:prstGeom>
          <a:noFill/>
          <a:ln w="9525">
            <a:solidFill>
              <a:srgbClr val="141414"/>
            </a:solidFill>
            <a:prstDash val="solid"/>
          </a:ln>
        </p:spPr>
        <p:txBody>
          <a:bodyPr/>
          <a:lstStyle/>
          <a:p>
            <a:endParaRPr lang="en-US"/>
          </a:p>
        </p:txBody>
      </p:sp>
      <p:sp>
        <p:nvSpPr>
          <p:cNvPr id="8" name="Shape 6"/>
          <p:cNvSpPr/>
          <p:nvPr/>
        </p:nvSpPr>
        <p:spPr>
          <a:xfrm>
            <a:off x="548640" y="2834640"/>
            <a:ext cx="1234440" cy="731520"/>
          </a:xfrm>
          <a:prstGeom prst="roundRect">
            <a:avLst>
              <a:gd name="adj" fmla="val 7500"/>
            </a:avLst>
          </a:prstGeom>
          <a:solidFill>
            <a:srgbClr val="141414"/>
          </a:solidFill>
          <a:ln w="9525">
            <a:solidFill>
              <a:srgbClr val="141414"/>
            </a:solidFill>
            <a:prstDash val="solid"/>
          </a:ln>
        </p:spPr>
        <p:txBody>
          <a:bodyPr/>
          <a:lstStyle/>
          <a:p>
            <a:endParaRPr lang="en-US"/>
          </a:p>
        </p:txBody>
      </p:sp>
      <p:sp>
        <p:nvSpPr>
          <p:cNvPr id="9" name="Text 7"/>
          <p:cNvSpPr txBox="1"/>
          <p:nvPr/>
        </p:nvSpPr>
        <p:spPr>
          <a:xfrm>
            <a:off x="548640" y="2834640"/>
            <a:ext cx="1234440" cy="73152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MySQL</a:t>
            </a:r>
            <a:endParaRPr lang="en-US" sz="1150" dirty="0"/>
          </a:p>
          <a:p>
            <a:pPr marL="0" indent="0" algn="ctr">
              <a:buNone/>
            </a:pPr>
            <a:r>
              <a:rPr lang="en-US" sz="1150" b="1" dirty="0">
                <a:solidFill>
                  <a:srgbClr val="FFFFFF"/>
                </a:solidFill>
                <a:latin typeface="Arial" pitchFamily="34" charset="0"/>
                <a:ea typeface="Arial" pitchFamily="34" charset="-122"/>
                <a:cs typeface="Arial" pitchFamily="34" charset="-120"/>
              </a:rPr>
              <a:t>binlog</a:t>
            </a:r>
            <a:endParaRPr lang="en-US" sz="1150" dirty="0"/>
          </a:p>
        </p:txBody>
      </p:sp>
      <p:sp>
        <p:nvSpPr>
          <p:cNvPr id="10" name="Shape 8"/>
          <p:cNvSpPr/>
          <p:nvPr/>
        </p:nvSpPr>
        <p:spPr>
          <a:xfrm>
            <a:off x="2240280" y="2834640"/>
            <a:ext cx="1097280" cy="731520"/>
          </a:xfrm>
          <a:prstGeom prst="roundRect">
            <a:avLst>
              <a:gd name="adj" fmla="val 7500"/>
            </a:avLst>
          </a:prstGeom>
          <a:solidFill>
            <a:srgbClr val="FFFFFF"/>
          </a:solidFill>
          <a:ln w="9525">
            <a:solidFill>
              <a:srgbClr val="DED9D0"/>
            </a:solidFill>
            <a:prstDash val="solid"/>
          </a:ln>
        </p:spPr>
        <p:txBody>
          <a:bodyPr/>
          <a:lstStyle/>
          <a:p>
            <a:endParaRPr lang="en-US"/>
          </a:p>
        </p:txBody>
      </p:sp>
      <p:sp>
        <p:nvSpPr>
          <p:cNvPr id="11" name="Text 9"/>
          <p:cNvSpPr txBox="1"/>
          <p:nvPr/>
        </p:nvSpPr>
        <p:spPr>
          <a:xfrm>
            <a:off x="2240280" y="2834640"/>
            <a:ext cx="1097280" cy="7315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base</a:t>
            </a:r>
            <a:endParaRPr lang="en-US" sz="1150" dirty="0"/>
          </a:p>
          <a:p>
            <a:pPr marL="0" indent="0" algn="ctr">
              <a:buNone/>
            </a:pPr>
            <a:r>
              <a:rPr lang="en-US" sz="1150" b="1" dirty="0">
                <a:solidFill>
                  <a:srgbClr val="141414"/>
                </a:solidFill>
                <a:latin typeface="Arial" pitchFamily="34" charset="0"/>
                <a:ea typeface="Arial" pitchFamily="34" charset="-122"/>
                <a:cs typeface="Arial" pitchFamily="34" charset="-120"/>
              </a:rPr>
              <a:t>tables</a:t>
            </a:r>
            <a:endParaRPr lang="en-US" sz="1150" dirty="0"/>
          </a:p>
        </p:txBody>
      </p:sp>
      <p:sp>
        <p:nvSpPr>
          <p:cNvPr id="12" name="Shape 10"/>
          <p:cNvSpPr/>
          <p:nvPr/>
        </p:nvSpPr>
        <p:spPr>
          <a:xfrm>
            <a:off x="3794760" y="2834640"/>
            <a:ext cx="868680" cy="731520"/>
          </a:xfrm>
          <a:prstGeom prst="roundRect">
            <a:avLst>
              <a:gd name="adj" fmla="val 7500"/>
            </a:avLst>
          </a:prstGeom>
          <a:solidFill>
            <a:srgbClr val="FFFFFF"/>
          </a:solidFill>
          <a:ln w="9525">
            <a:solidFill>
              <a:srgbClr val="DED9D0"/>
            </a:solidFill>
            <a:prstDash val="solid"/>
          </a:ln>
        </p:spPr>
        <p:txBody>
          <a:bodyPr/>
          <a:lstStyle/>
          <a:p>
            <a:endParaRPr lang="en-US"/>
          </a:p>
        </p:txBody>
      </p:sp>
      <p:sp>
        <p:nvSpPr>
          <p:cNvPr id="13" name="Text 11"/>
          <p:cNvSpPr txBox="1"/>
          <p:nvPr/>
        </p:nvSpPr>
        <p:spPr>
          <a:xfrm>
            <a:off x="3794760" y="2834640"/>
            <a:ext cx="868680" cy="7315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JOIN</a:t>
            </a:r>
            <a:endParaRPr lang="en-US" sz="1150" dirty="0"/>
          </a:p>
        </p:txBody>
      </p:sp>
      <p:sp>
        <p:nvSpPr>
          <p:cNvPr id="14" name="Shape 12"/>
          <p:cNvSpPr/>
          <p:nvPr/>
        </p:nvSpPr>
        <p:spPr>
          <a:xfrm>
            <a:off x="5120640" y="2834640"/>
            <a:ext cx="1005840" cy="731520"/>
          </a:xfrm>
          <a:prstGeom prst="roundRect">
            <a:avLst>
              <a:gd name="adj" fmla="val 7500"/>
            </a:avLst>
          </a:prstGeom>
          <a:solidFill>
            <a:srgbClr val="FFFFFF"/>
          </a:solidFill>
          <a:ln w="9525">
            <a:solidFill>
              <a:srgbClr val="DED9D0"/>
            </a:solidFill>
            <a:prstDash val="solid"/>
          </a:ln>
        </p:spPr>
        <p:txBody>
          <a:bodyPr/>
          <a:lstStyle/>
          <a:p>
            <a:endParaRPr lang="en-US"/>
          </a:p>
        </p:txBody>
      </p:sp>
      <p:sp>
        <p:nvSpPr>
          <p:cNvPr id="15" name="Text 13"/>
          <p:cNvSpPr txBox="1"/>
          <p:nvPr/>
        </p:nvSpPr>
        <p:spPr>
          <a:xfrm>
            <a:off x="5120640" y="2834640"/>
            <a:ext cx="1005840" cy="731520"/>
          </a:xfrm>
          <a:prstGeom prst="rect">
            <a:avLst/>
          </a:prstGeom>
          <a:noFill/>
          <a:ln/>
        </p:spPr>
        <p:txBody>
          <a:bodyPr wrap="square" lIns="508" tIns="508" rIns="508" bIns="508" rtlCol="0" anchor="ctr"/>
          <a:lstStyle/>
          <a:p>
            <a:pPr marL="0" indent="0" algn="ctr">
              <a:buNone/>
            </a:pPr>
            <a:r>
              <a:rPr lang="en-US" sz="1150" b="1" dirty="0">
                <a:solidFill>
                  <a:srgbClr val="141414"/>
                </a:solidFill>
                <a:latin typeface="Arial" pitchFamily="34" charset="0"/>
                <a:ea typeface="Arial" pitchFamily="34" charset="-122"/>
                <a:cs typeface="Arial" pitchFamily="34" charset="-120"/>
              </a:rPr>
              <a:t>GROUP BY</a:t>
            </a:r>
            <a:endParaRPr lang="en-US" sz="1150" dirty="0"/>
          </a:p>
        </p:txBody>
      </p:sp>
      <p:sp>
        <p:nvSpPr>
          <p:cNvPr id="16" name="Shape 14"/>
          <p:cNvSpPr/>
          <p:nvPr/>
        </p:nvSpPr>
        <p:spPr>
          <a:xfrm>
            <a:off x="6583680" y="2834640"/>
            <a:ext cx="914400" cy="731520"/>
          </a:xfrm>
          <a:prstGeom prst="roundRect">
            <a:avLst>
              <a:gd name="adj" fmla="val 7500"/>
            </a:avLst>
          </a:prstGeom>
          <a:solidFill>
            <a:srgbClr val="E5472F"/>
          </a:solidFill>
          <a:ln w="9525">
            <a:solidFill>
              <a:srgbClr val="E5472F"/>
            </a:solidFill>
            <a:prstDash val="solid"/>
          </a:ln>
        </p:spPr>
        <p:txBody>
          <a:bodyPr/>
          <a:lstStyle/>
          <a:p>
            <a:endParaRPr lang="en-US"/>
          </a:p>
        </p:txBody>
      </p:sp>
      <p:sp>
        <p:nvSpPr>
          <p:cNvPr id="17" name="Text 15"/>
          <p:cNvSpPr txBox="1"/>
          <p:nvPr/>
        </p:nvSpPr>
        <p:spPr>
          <a:xfrm>
            <a:off x="6583680" y="2834640"/>
            <a:ext cx="914400" cy="731520"/>
          </a:xfrm>
          <a:prstGeom prst="rect">
            <a:avLst/>
          </a:prstGeom>
          <a:noFill/>
          <a:ln/>
        </p:spPr>
        <p:txBody>
          <a:bodyPr wrap="square" lIns="508" tIns="508" rIns="508" bIns="508"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reader</a:t>
            </a:r>
            <a:endParaRPr lang="en-US" sz="1150" dirty="0"/>
          </a:p>
        </p:txBody>
      </p:sp>
      <p:sp>
        <p:nvSpPr>
          <p:cNvPr id="18" name="Shape 16"/>
          <p:cNvSpPr/>
          <p:nvPr/>
        </p:nvSpPr>
        <p:spPr>
          <a:xfrm>
            <a:off x="1783080" y="3200400"/>
            <a:ext cx="457200" cy="0"/>
          </a:xfrm>
          <a:prstGeom prst="line">
            <a:avLst/>
          </a:prstGeom>
          <a:noFill/>
          <a:ln w="15875">
            <a:solidFill>
              <a:srgbClr val="141414"/>
            </a:solidFill>
            <a:prstDash val="solid"/>
            <a:tailEnd type="triangle"/>
          </a:ln>
        </p:spPr>
        <p:txBody>
          <a:bodyPr/>
          <a:lstStyle/>
          <a:p>
            <a:endParaRPr lang="en-US"/>
          </a:p>
        </p:txBody>
      </p:sp>
      <p:sp>
        <p:nvSpPr>
          <p:cNvPr id="19" name="Shape 17"/>
          <p:cNvSpPr/>
          <p:nvPr/>
        </p:nvSpPr>
        <p:spPr>
          <a:xfrm>
            <a:off x="3337560" y="3200400"/>
            <a:ext cx="457200" cy="0"/>
          </a:xfrm>
          <a:prstGeom prst="line">
            <a:avLst/>
          </a:prstGeom>
          <a:noFill/>
          <a:ln w="15875">
            <a:solidFill>
              <a:srgbClr val="141414"/>
            </a:solidFill>
            <a:prstDash val="solid"/>
            <a:tailEnd type="triangle"/>
          </a:ln>
        </p:spPr>
        <p:txBody>
          <a:bodyPr/>
          <a:lstStyle/>
          <a:p>
            <a:endParaRPr lang="en-US"/>
          </a:p>
        </p:txBody>
      </p:sp>
      <p:sp>
        <p:nvSpPr>
          <p:cNvPr id="20" name="Shape 18"/>
          <p:cNvSpPr/>
          <p:nvPr/>
        </p:nvSpPr>
        <p:spPr>
          <a:xfrm>
            <a:off x="4663440" y="3200400"/>
            <a:ext cx="457200" cy="0"/>
          </a:xfrm>
          <a:prstGeom prst="line">
            <a:avLst/>
          </a:prstGeom>
          <a:noFill/>
          <a:ln w="15875">
            <a:solidFill>
              <a:srgbClr val="141414"/>
            </a:solidFill>
            <a:prstDash val="solid"/>
            <a:tailEnd type="triangle"/>
          </a:ln>
        </p:spPr>
        <p:txBody>
          <a:bodyPr/>
          <a:lstStyle/>
          <a:p>
            <a:endParaRPr lang="en-US"/>
          </a:p>
        </p:txBody>
      </p:sp>
      <p:sp>
        <p:nvSpPr>
          <p:cNvPr id="21" name="Shape 19"/>
          <p:cNvSpPr/>
          <p:nvPr/>
        </p:nvSpPr>
        <p:spPr>
          <a:xfrm>
            <a:off x="6126480" y="3200400"/>
            <a:ext cx="457200" cy="0"/>
          </a:xfrm>
          <a:prstGeom prst="line">
            <a:avLst/>
          </a:prstGeom>
          <a:noFill/>
          <a:ln w="15875">
            <a:solidFill>
              <a:srgbClr val="141414"/>
            </a:solidFill>
            <a:prstDash val="solid"/>
            <a:tailEnd type="triangle"/>
          </a:ln>
        </p:spPr>
        <p:txBody>
          <a:bodyPr/>
          <a:lstStyle/>
          <a:p>
            <a:endParaRPr lang="en-US"/>
          </a:p>
        </p:txBody>
      </p:sp>
      <p:sp>
        <p:nvSpPr>
          <p:cNvPr id="22" name="Text 20"/>
          <p:cNvSpPr txBox="1"/>
          <p:nvPr/>
        </p:nvSpPr>
        <p:spPr>
          <a:xfrm>
            <a:off x="548640" y="3794760"/>
            <a:ext cx="6949440" cy="274320"/>
          </a:xfrm>
          <a:prstGeom prst="rect">
            <a:avLst/>
          </a:prstGeom>
          <a:noFill/>
          <a:ln/>
        </p:spPr>
        <p:txBody>
          <a:bodyPr wrap="square" lIns="0" tIns="0" rIns="0" bIns="0" rtlCol="0" anchor="ctr"/>
          <a:lstStyle/>
          <a:p>
            <a:pPr marL="0" indent="0">
              <a:buNone/>
            </a:pPr>
            <a:r>
              <a:rPr lang="en-US" sz="900" dirty="0">
                <a:solidFill>
                  <a:srgbClr val="6B6B6B"/>
                </a:solidFill>
                <a:latin typeface="Courier New" pitchFamily="34" charset="0"/>
                <a:ea typeface="Courier New" pitchFamily="34" charset="-122"/>
                <a:cs typeface="Courier New" pitchFamily="34" charset="-120"/>
              </a:rPr>
              <a:t>row change  →  delta propagates through operators  →  only the affected result rows are rewritten</a:t>
            </a:r>
            <a:endParaRPr lang="en-US" sz="900" dirty="0"/>
          </a:p>
        </p:txBody>
      </p:sp>
      <p:sp>
        <p:nvSpPr>
          <p:cNvPr id="23" name="Text 21"/>
          <p:cNvSpPr txBox="1"/>
          <p:nvPr/>
        </p:nvSpPr>
        <p:spPr>
          <a:xfrm>
            <a:off x="548640" y="4069080"/>
            <a:ext cx="6949440" cy="274320"/>
          </a:xfrm>
          <a:prstGeom prst="rect">
            <a:avLst/>
          </a:prstGeom>
          <a:noFill/>
          <a:ln/>
        </p:spPr>
        <p:txBody>
          <a:bodyPr wrap="square" lIns="0" tIns="0" rIns="0" bIns="0" rtlCol="0" anchor="ctr"/>
          <a:lstStyle/>
          <a:p>
            <a:pPr marL="0" indent="0">
              <a:buNone/>
            </a:pPr>
            <a:r>
              <a:rPr lang="en-US" sz="900" dirty="0">
                <a:solidFill>
                  <a:srgbClr val="6B6B6B"/>
                </a:solidFill>
                <a:latin typeface="Courier New" pitchFamily="34" charset="0"/>
                <a:ea typeface="Courier New" pitchFamily="34" charset="-122"/>
                <a:cs typeface="Courier New" pitchFamily="34" charset="-120"/>
              </a:rPr>
              <a:t>application reads the reader; a miss computes on demand and stays materialized</a:t>
            </a:r>
            <a:endParaRPr lang="en-US" sz="900" dirty="0"/>
          </a:p>
        </p:txBody>
      </p:sp>
      <p:sp>
        <p:nvSpPr>
          <p:cNvPr id="24" name="Text 22"/>
          <p:cNvSpPr txBox="1"/>
          <p:nvPr/>
        </p:nvSpPr>
        <p:spPr>
          <a:xfrm>
            <a:off x="548640" y="2286000"/>
            <a:ext cx="6949440" cy="274320"/>
          </a:xfrm>
          <a:prstGeom prst="rect">
            <a:avLst/>
          </a:prstGeom>
          <a:noFill/>
          <a:ln/>
        </p:spPr>
        <p:txBody>
          <a:bodyPr wrap="square" lIns="0" tIns="0" rIns="0" bIns="0" rtlCol="0" anchor="ctr"/>
          <a:lstStyle/>
          <a:p>
            <a:pPr marL="0" indent="0">
              <a:buNone/>
            </a:pPr>
            <a:r>
              <a:rPr lang="en-US" sz="950" dirty="0">
                <a:solidFill>
                  <a:srgbClr val="E5472F"/>
                </a:solidFill>
                <a:latin typeface="Courier New" pitchFamily="34" charset="0"/>
                <a:ea typeface="Courier New" pitchFamily="34" charset="-122"/>
                <a:cs typeface="Courier New" pitchFamily="34" charset="-120"/>
              </a:rPr>
              <a:t>Change stream · dataflow · incremental view maintenance</a:t>
            </a:r>
            <a:endParaRPr lang="en-US" sz="950" dirty="0"/>
          </a:p>
        </p:txBody>
      </p:sp>
      <p:sp>
        <p:nvSpPr>
          <p:cNvPr id="25" name="Shape 23"/>
          <p:cNvSpPr/>
          <p:nvPr/>
        </p:nvSpPr>
        <p:spPr>
          <a:xfrm>
            <a:off x="7772400" y="2185416"/>
            <a:ext cx="82296" cy="82296"/>
          </a:xfrm>
          <a:prstGeom prst="ellipse">
            <a:avLst/>
          </a:prstGeom>
          <a:solidFill>
            <a:srgbClr val="E5472F"/>
          </a:solidFill>
          <a:ln w="12700">
            <a:solidFill>
              <a:srgbClr val="E5472F"/>
            </a:solidFill>
            <a:prstDash val="solid"/>
          </a:ln>
        </p:spPr>
        <p:txBody>
          <a:bodyPr/>
          <a:lstStyle/>
          <a:p>
            <a:endParaRPr lang="en-US"/>
          </a:p>
        </p:txBody>
      </p:sp>
      <p:sp>
        <p:nvSpPr>
          <p:cNvPr id="26" name="Text 24"/>
          <p:cNvSpPr txBox="1"/>
          <p:nvPr/>
        </p:nvSpPr>
        <p:spPr>
          <a:xfrm>
            <a:off x="8001000" y="2103120"/>
            <a:ext cx="3657600" cy="64008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Updates are driven by the replication stream. </a:t>
            </a:r>
            <a:endParaRPr lang="en-US" sz="1350" dirty="0"/>
          </a:p>
        </p:txBody>
      </p:sp>
      <p:sp>
        <p:nvSpPr>
          <p:cNvPr id="27" name="Shape 25"/>
          <p:cNvSpPr/>
          <p:nvPr/>
        </p:nvSpPr>
        <p:spPr>
          <a:xfrm>
            <a:off x="7772400" y="2871216"/>
            <a:ext cx="82296" cy="82296"/>
          </a:xfrm>
          <a:prstGeom prst="ellipse">
            <a:avLst/>
          </a:prstGeom>
          <a:solidFill>
            <a:srgbClr val="E5472F"/>
          </a:solidFill>
          <a:ln w="12700">
            <a:solidFill>
              <a:srgbClr val="E5472F"/>
            </a:solidFill>
            <a:prstDash val="solid"/>
          </a:ln>
        </p:spPr>
        <p:txBody>
          <a:bodyPr/>
          <a:lstStyle/>
          <a:p>
            <a:endParaRPr lang="en-US"/>
          </a:p>
        </p:txBody>
      </p:sp>
      <p:sp>
        <p:nvSpPr>
          <p:cNvPr id="28" name="Text 26"/>
          <p:cNvSpPr txBox="1"/>
          <p:nvPr/>
        </p:nvSpPr>
        <p:spPr>
          <a:xfrm>
            <a:off x="8001000" y="2788920"/>
            <a:ext cx="3657600" cy="96012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Each SQL operator is a node in a dataflow graph. </a:t>
            </a:r>
            <a:r>
              <a:rPr lang="en-US" sz="1350" dirty="0">
                <a:solidFill>
                  <a:srgbClr val="141414"/>
                </a:solidFill>
                <a:latin typeface="Arial" pitchFamily="34" charset="0"/>
                <a:ea typeface="Arial" pitchFamily="34" charset="-122"/>
                <a:cs typeface="Arial" pitchFamily="34" charset="-120"/>
              </a:rPr>
              <a:t>A write adjusts only the affected rows, so cost scales with the size of the change. [13]</a:t>
            </a:r>
            <a:endParaRPr lang="en-US" sz="1350" dirty="0"/>
          </a:p>
        </p:txBody>
      </p:sp>
      <p:sp>
        <p:nvSpPr>
          <p:cNvPr id="29" name="Shape 27"/>
          <p:cNvSpPr/>
          <p:nvPr/>
        </p:nvSpPr>
        <p:spPr>
          <a:xfrm>
            <a:off x="7772400" y="3877056"/>
            <a:ext cx="82296" cy="82296"/>
          </a:xfrm>
          <a:prstGeom prst="ellipse">
            <a:avLst/>
          </a:prstGeom>
          <a:solidFill>
            <a:srgbClr val="E5472F"/>
          </a:solidFill>
          <a:ln w="12700">
            <a:solidFill>
              <a:srgbClr val="E5472F"/>
            </a:solidFill>
            <a:prstDash val="solid"/>
          </a:ln>
        </p:spPr>
        <p:txBody>
          <a:bodyPr/>
          <a:lstStyle/>
          <a:p>
            <a:endParaRPr lang="en-US"/>
          </a:p>
        </p:txBody>
      </p:sp>
      <p:sp>
        <p:nvSpPr>
          <p:cNvPr id="30" name="Text 28"/>
          <p:cNvSpPr txBox="1"/>
          <p:nvPr/>
        </p:nvSpPr>
        <p:spPr>
          <a:xfrm>
            <a:off x="8001000" y="3794760"/>
            <a:ext cx="3657600" cy="68580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Partial materialization: </a:t>
            </a:r>
            <a:r>
              <a:rPr lang="en-US" sz="1350" dirty="0">
                <a:solidFill>
                  <a:srgbClr val="141414"/>
                </a:solidFill>
                <a:latin typeface="Arial" pitchFamily="34" charset="0"/>
                <a:ea typeface="Arial" pitchFamily="34" charset="-122"/>
                <a:cs typeface="Arial" pitchFamily="34" charset="-120"/>
              </a:rPr>
              <a:t>only the keys that have been queried are held in memory. [13]</a:t>
            </a:r>
            <a:endParaRPr lang="en-US" sz="1350" dirty="0"/>
          </a:p>
        </p:txBody>
      </p:sp>
      <p:sp>
        <p:nvSpPr>
          <p:cNvPr id="31" name="Shape 29"/>
          <p:cNvSpPr/>
          <p:nvPr/>
        </p:nvSpPr>
        <p:spPr>
          <a:xfrm>
            <a:off x="7772400" y="4608576"/>
            <a:ext cx="82296" cy="82296"/>
          </a:xfrm>
          <a:prstGeom prst="ellipse">
            <a:avLst/>
          </a:prstGeom>
          <a:solidFill>
            <a:srgbClr val="E5472F"/>
          </a:solidFill>
          <a:ln w="12700">
            <a:solidFill>
              <a:srgbClr val="E5472F"/>
            </a:solidFill>
            <a:prstDash val="solid"/>
          </a:ln>
        </p:spPr>
        <p:txBody>
          <a:bodyPr/>
          <a:lstStyle/>
          <a:p>
            <a:endParaRPr lang="en-US"/>
          </a:p>
        </p:txBody>
      </p:sp>
      <p:sp>
        <p:nvSpPr>
          <p:cNvPr id="32" name="Text 30"/>
          <p:cNvSpPr txBox="1"/>
          <p:nvPr/>
        </p:nvSpPr>
        <p:spPr>
          <a:xfrm>
            <a:off x="8001000" y="4526280"/>
            <a:ext cx="3657600" cy="685800"/>
          </a:xfrm>
          <a:prstGeom prst="rect">
            <a:avLst/>
          </a:prstGeom>
          <a:noFill/>
          <a:ln/>
        </p:spPr>
        <p:txBody>
          <a:bodyPr wrap="square" lIns="0" tIns="0" rIns="0" bIns="0" rtlCol="0" anchor="t"/>
          <a:lstStyle/>
          <a:p>
            <a:pPr marL="0" indent="0">
              <a:lnSpc>
                <a:spcPct val="112000"/>
              </a:lnSpc>
              <a:buNone/>
            </a:pPr>
            <a:r>
              <a:rPr lang="en-US" sz="1350" b="1" dirty="0">
                <a:solidFill>
                  <a:srgbClr val="141414"/>
                </a:solidFill>
                <a:latin typeface="Arial" pitchFamily="34" charset="0"/>
                <a:ea typeface="Arial" pitchFamily="34" charset="-122"/>
                <a:cs typeface="Arial" pitchFamily="34" charset="-120"/>
              </a:rPr>
              <a:t>Nothing expires. </a:t>
            </a:r>
            <a:r>
              <a:rPr lang="en-US" sz="1350" dirty="0">
                <a:solidFill>
                  <a:srgbClr val="141414"/>
                </a:solidFill>
                <a:latin typeface="Arial" pitchFamily="34" charset="0"/>
                <a:ea typeface="Arial" pitchFamily="34" charset="-122"/>
                <a:cs typeface="Arial" pitchFamily="34" charset="-120"/>
              </a:rPr>
              <a:t>The view is maintained continuously as the data changes. [14]</a:t>
            </a:r>
            <a:endParaRPr lang="en-US" sz="1350" dirty="0"/>
          </a:p>
        </p:txBody>
      </p:sp>
      <p:sp>
        <p:nvSpPr>
          <p:cNvPr id="33" name="Text 31"/>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[13] J. Gjengset et al., “Noria: dynamic, partially-stateful data-flow for high-performance web applications”, USENIX OSDI 2018 (MIT PDOS) — pdos.csail.mit.edu/papers/noria:osdi18.pdf   [14] A. Gupta &amp; I. S. Mumick, “Maintenance of Materialized Views: Problems, Techniques, and Applications”, IEEE Data Engineering Bulletin 18(2), 1995.</a:t>
            </a:r>
            <a:endParaRPr lang="en-US" sz="800" dirty="0"/>
          </a:p>
        </p:txBody>
      </p:sp>
      <p:pic>
        <p:nvPicPr>
          <p:cNvPr id="34" name="Picture 33" descr="user_logo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06 · the platform · scored</a:t>
            </a:r>
            <a:endParaRPr lang="en-US" sz="1100" dirty="0"/>
          </a:p>
        </p:txBody>
      </p:sp>
      <p:sp>
        <p:nvSpPr>
          <p:cNvPr id="3" name="Text 1"/>
          <p:cNvSpPr txBox="1"/>
          <p:nvPr/>
        </p:nvSpPr>
        <p:spPr>
          <a:xfrm>
            <a:off x="548640" y="731520"/>
            <a:ext cx="11094415" cy="566928"/>
          </a:xfrm>
          <a:prstGeom prst="rect">
            <a:avLst/>
          </a:prstGeom>
          <a:noFill/>
          <a:ln/>
        </p:spPr>
        <p:txBody>
          <a:bodyPr wrap="square" lIns="0" tIns="0" rIns="0" bIns="0" rtlCol="0" anchor="t"/>
          <a:lstStyle/>
          <a:p>
            <a:pPr marL="0" indent="0">
              <a:lnSpc>
                <a:spcPct val="105000"/>
              </a:lnSpc>
              <a:buNone/>
            </a:pPr>
            <a:r>
              <a:rPr lang="en-US" sz="3000" b="1" dirty="0">
                <a:solidFill>
                  <a:srgbClr val="141414"/>
                </a:solidFill>
                <a:latin typeface="Arial" pitchFamily="34" charset="0"/>
                <a:ea typeface="Arial" pitchFamily="34" charset="-122"/>
                <a:cs typeface="Arial" pitchFamily="34" charset="-120"/>
              </a:rPr>
              <a:t>The new query cache for modern MySQL deployments.</a:t>
            </a:r>
            <a:endParaRPr lang="en-US" sz="3000" dirty="0"/>
          </a:p>
        </p:txBody>
      </p:sp>
      <p:sp>
        <p:nvSpPr>
          <p:cNvPr id="4" name="Shape 2"/>
          <p:cNvSpPr/>
          <p:nvPr/>
        </p:nvSpPr>
        <p:spPr>
          <a:xfrm>
            <a:off x="548640" y="1344168"/>
            <a:ext cx="11094415" cy="0"/>
          </a:xfrm>
          <a:prstGeom prst="line">
            <a:avLst/>
          </a:prstGeom>
          <a:noFill/>
          <a:ln w="9525">
            <a:solidFill>
              <a:srgbClr val="141414"/>
            </a:solidFill>
            <a:prstDash val="solid"/>
          </a:ln>
        </p:spPr>
        <p:txBody>
          <a:bodyPr/>
          <a:lstStyle/>
          <a:p>
            <a:endParaRPr lang="pt-BR"/>
          </a:p>
        </p:txBody>
      </p:sp>
      <p:sp>
        <p:nvSpPr>
          <p:cNvPr id="5" name="Shape 3"/>
          <p:cNvSpPr/>
          <p:nvPr/>
        </p:nvSpPr>
        <p:spPr>
          <a:xfrm>
            <a:off x="566928" y="1517904"/>
            <a:ext cx="109728" cy="109728"/>
          </a:xfrm>
          <a:prstGeom prst="ellipse">
            <a:avLst/>
          </a:prstGeom>
          <a:solidFill>
            <a:srgbClr val="E5472F"/>
          </a:solidFill>
          <a:ln w="12700">
            <a:solidFill>
              <a:srgbClr val="E5472F"/>
            </a:solidFill>
            <a:prstDash val="solid"/>
          </a:ln>
        </p:spPr>
        <p:txBody>
          <a:bodyPr/>
          <a:lstStyle/>
          <a:p>
            <a:endParaRPr lang="pt-BR"/>
          </a:p>
        </p:txBody>
      </p:sp>
      <p:sp>
        <p:nvSpPr>
          <p:cNvPr id="6" name="Text 4"/>
          <p:cNvSpPr txBox="1"/>
          <p:nvPr/>
        </p:nvSpPr>
        <p:spPr>
          <a:xfrm>
            <a:off x="768096" y="1490472"/>
            <a:ext cx="1554480" cy="146304"/>
          </a:xfrm>
          <a:prstGeom prst="rect">
            <a:avLst/>
          </a:prstGeom>
          <a:noFill/>
          <a:ln/>
        </p:spPr>
        <p:txBody>
          <a:bodyPr wrap="square" lIns="0" tIns="0" rIns="0" bIns="0" rtlCol="0" anchor="ctr"/>
          <a:lstStyle/>
          <a:p>
            <a:pPr marL="0" indent="0">
              <a:buNone/>
            </a:pPr>
            <a:r>
              <a:rPr lang="en-US" sz="850" dirty="0">
                <a:solidFill>
                  <a:srgbClr val="6B6B6B"/>
                </a:solidFill>
                <a:latin typeface="Courier New" pitchFamily="34" charset="0"/>
                <a:ea typeface="Courier New" pitchFamily="34" charset="-122"/>
                <a:cs typeface="Courier New" pitchFamily="34" charset="-120"/>
              </a:rPr>
              <a:t>meets</a:t>
            </a:r>
            <a:endParaRPr lang="en-US" sz="850" dirty="0"/>
          </a:p>
        </p:txBody>
      </p:sp>
      <p:sp>
        <p:nvSpPr>
          <p:cNvPr id="7" name="Text 5"/>
          <p:cNvSpPr txBox="1"/>
          <p:nvPr/>
        </p:nvSpPr>
        <p:spPr>
          <a:xfrm>
            <a:off x="2514600" y="1508760"/>
            <a:ext cx="9128455" cy="256032"/>
          </a:xfrm>
          <a:prstGeom prst="rect">
            <a:avLst/>
          </a:prstGeom>
          <a:noFill/>
          <a:ln/>
        </p:spPr>
        <p:txBody>
          <a:bodyPr wrap="square" lIns="0" tIns="0" rIns="0" bIns="0" rtlCol="0" anchor="b"/>
          <a:lstStyle/>
          <a:p>
            <a:pPr marL="0" indent="0">
              <a:buNone/>
            </a:pPr>
            <a:r>
              <a:rPr lang="en-US" sz="1200" b="1" dirty="0">
                <a:solidFill>
                  <a:srgbClr val="141414"/>
                </a:solidFill>
                <a:latin typeface="Arial" pitchFamily="34" charset="0"/>
                <a:ea typeface="Arial" pitchFamily="34" charset="-122"/>
                <a:cs typeface="Arial" pitchFamily="34" charset="-120"/>
              </a:rPr>
              <a:t>Readyset Platform</a:t>
            </a:r>
            <a:endParaRPr lang="en-US" sz="1200" dirty="0"/>
          </a:p>
        </p:txBody>
      </p:sp>
      <p:sp>
        <p:nvSpPr>
          <p:cNvPr id="8" name="Text 6"/>
          <p:cNvSpPr txBox="1"/>
          <p:nvPr/>
        </p:nvSpPr>
        <p:spPr>
          <a:xfrm>
            <a:off x="2514600" y="1773936"/>
            <a:ext cx="9128455" cy="182880"/>
          </a:xfrm>
          <a:prstGeom prst="rect">
            <a:avLst/>
          </a:prstGeom>
          <a:noFill/>
          <a:ln/>
        </p:spPr>
        <p:txBody>
          <a:bodyPr wrap="square" lIns="0" tIns="0" rIns="0" bIns="0" rtlCol="0" anchor="t"/>
          <a:lstStyle/>
          <a:p>
            <a:pPr marL="0" indent="0">
              <a:buNone/>
            </a:pPr>
            <a:r>
              <a:rPr lang="en-US" sz="850" dirty="0">
                <a:solidFill>
                  <a:srgbClr val="6B6B6B"/>
                </a:solidFill>
                <a:latin typeface="Courier New" pitchFamily="34" charset="0"/>
                <a:ea typeface="Courier New" pitchFamily="34" charset="-122"/>
                <a:cs typeface="Courier New" pitchFamily="34" charset="-120"/>
              </a:rPr>
              <a:t>QueryPilot · Cache · Guard, in front of MySQL</a:t>
            </a:r>
            <a:endParaRPr lang="en-US" sz="850" dirty="0"/>
          </a:p>
        </p:txBody>
      </p:sp>
      <p:sp>
        <p:nvSpPr>
          <p:cNvPr id="9" name="Shape 7"/>
          <p:cNvSpPr/>
          <p:nvPr/>
        </p:nvSpPr>
        <p:spPr>
          <a:xfrm>
            <a:off x="548640" y="2011680"/>
            <a:ext cx="1828800" cy="749808"/>
          </a:xfrm>
          <a:prstGeom prst="roundRect">
            <a:avLst>
              <a:gd name="adj" fmla="val 7317"/>
            </a:avLst>
          </a:prstGeom>
          <a:solidFill>
            <a:srgbClr val="141414"/>
          </a:solidFill>
          <a:ln w="12700">
            <a:solidFill>
              <a:srgbClr val="141414"/>
            </a:solidFill>
            <a:prstDash val="solid"/>
          </a:ln>
        </p:spPr>
        <p:txBody>
          <a:bodyPr/>
          <a:lstStyle/>
          <a:p>
            <a:endParaRPr lang="pt-BR"/>
          </a:p>
        </p:txBody>
      </p:sp>
      <p:sp>
        <p:nvSpPr>
          <p:cNvPr id="10" name="Text 8"/>
          <p:cNvSpPr txBox="1"/>
          <p:nvPr/>
        </p:nvSpPr>
        <p:spPr>
          <a:xfrm>
            <a:off x="777240" y="201168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transparent</a:t>
            </a:r>
            <a:endParaRPr lang="en-US" sz="1100" dirty="0"/>
          </a:p>
        </p:txBody>
      </p:sp>
      <p:sp>
        <p:nvSpPr>
          <p:cNvPr id="11" name="Shape 9"/>
          <p:cNvSpPr/>
          <p:nvPr/>
        </p:nvSpPr>
        <p:spPr>
          <a:xfrm>
            <a:off x="2514600" y="2011680"/>
            <a:ext cx="9128455" cy="749808"/>
          </a:xfrm>
          <a:prstGeom prst="roundRect">
            <a:avLst>
              <a:gd name="adj" fmla="val 9756"/>
            </a:avLst>
          </a:prstGeom>
          <a:solidFill>
            <a:srgbClr val="FFFFFF"/>
          </a:solidFill>
          <a:ln w="9525">
            <a:solidFill>
              <a:srgbClr val="DED9D0"/>
            </a:solidFill>
            <a:prstDash val="solid"/>
          </a:ln>
        </p:spPr>
        <p:txBody>
          <a:bodyPr/>
          <a:lstStyle/>
          <a:p>
            <a:endParaRPr lang="pt-BR"/>
          </a:p>
        </p:txBody>
      </p:sp>
      <p:sp>
        <p:nvSpPr>
          <p:cNvPr id="12" name="Shape 10"/>
          <p:cNvSpPr/>
          <p:nvPr/>
        </p:nvSpPr>
        <p:spPr>
          <a:xfrm>
            <a:off x="2660904" y="2276856"/>
            <a:ext cx="219456" cy="219456"/>
          </a:xfrm>
          <a:prstGeom prst="ellipse">
            <a:avLst/>
          </a:prstGeom>
          <a:solidFill>
            <a:srgbClr val="E5472F"/>
          </a:solidFill>
          <a:ln w="12700">
            <a:solidFill>
              <a:srgbClr val="E5472F"/>
            </a:solidFill>
            <a:prstDash val="solid"/>
          </a:ln>
        </p:spPr>
        <p:txBody>
          <a:bodyPr/>
          <a:lstStyle/>
          <a:p>
            <a:endParaRPr lang="pt-BR"/>
          </a:p>
        </p:txBody>
      </p:sp>
      <p:sp>
        <p:nvSpPr>
          <p:cNvPr id="13" name="Text 11"/>
          <p:cNvSpPr txBox="1"/>
          <p:nvPr/>
        </p:nvSpPr>
        <p:spPr>
          <a:xfrm>
            <a:off x="3017520" y="2121408"/>
            <a:ext cx="8488375" cy="292608"/>
          </a:xfrm>
          <a:prstGeom prst="rect">
            <a:avLst/>
          </a:prstGeom>
          <a:noFill/>
          <a:ln/>
        </p:spPr>
        <p:txBody>
          <a:bodyPr wrap="square" lIns="0" tIns="0" rIns="0" bIns="0" rtlCol="0" anchor="t"/>
          <a:lstStyle/>
          <a:p>
            <a:pPr marL="0" indent="0">
              <a:buNone/>
            </a:pPr>
            <a:r>
              <a:rPr lang="en-US" sz="1300" dirty="0">
                <a:solidFill>
                  <a:srgbClr val="141414"/>
                </a:solidFill>
                <a:latin typeface="Arial" pitchFamily="34" charset="0"/>
                <a:ea typeface="Arial" pitchFamily="34" charset="-122"/>
                <a:cs typeface="Arial" pitchFamily="34" charset="-120"/>
              </a:rPr>
              <a:t>SQL in, SQL out. One connection string.</a:t>
            </a:r>
            <a:endParaRPr lang="en-US" sz="1300" dirty="0"/>
          </a:p>
        </p:txBody>
      </p:sp>
      <p:sp>
        <p:nvSpPr>
          <p:cNvPr id="14" name="Text 12"/>
          <p:cNvSpPr txBox="1"/>
          <p:nvPr/>
        </p:nvSpPr>
        <p:spPr>
          <a:xfrm>
            <a:off x="3017520" y="2487168"/>
            <a:ext cx="8488375" cy="201168"/>
          </a:xfrm>
          <a:prstGeom prst="rect">
            <a:avLst/>
          </a:prstGeom>
          <a:noFill/>
          <a:ln/>
        </p:spPr>
        <p:txBody>
          <a:bodyPr wrap="square" lIns="0" tIns="0" rIns="0" bIns="0" rtlCol="0" anchor="b"/>
          <a:lstStyle/>
          <a:p>
            <a:pPr marL="0" indent="0">
              <a:buNone/>
            </a:pPr>
            <a:r>
              <a:rPr lang="en-US" sz="850" dirty="0">
                <a:solidFill>
                  <a:srgbClr val="6B6B6B"/>
                </a:solidFill>
                <a:latin typeface="Courier New" pitchFamily="34" charset="0"/>
                <a:ea typeface="Courier New" pitchFamily="34" charset="-122"/>
                <a:cs typeface="Courier New" pitchFamily="34" charset="-120"/>
              </a:rPr>
              <a:t>QueryPilot · MySQL wire protocol</a:t>
            </a:r>
            <a:endParaRPr lang="en-US" sz="850" dirty="0"/>
          </a:p>
        </p:txBody>
      </p:sp>
      <p:sp>
        <p:nvSpPr>
          <p:cNvPr id="15" name="Shape 13"/>
          <p:cNvSpPr/>
          <p:nvPr/>
        </p:nvSpPr>
        <p:spPr>
          <a:xfrm>
            <a:off x="548640" y="2834640"/>
            <a:ext cx="1828800" cy="749808"/>
          </a:xfrm>
          <a:prstGeom prst="roundRect">
            <a:avLst>
              <a:gd name="adj" fmla="val 7317"/>
            </a:avLst>
          </a:prstGeom>
          <a:solidFill>
            <a:srgbClr val="141414"/>
          </a:solidFill>
          <a:ln w="12700">
            <a:solidFill>
              <a:srgbClr val="141414"/>
            </a:solidFill>
            <a:prstDash val="solid"/>
          </a:ln>
        </p:spPr>
        <p:txBody>
          <a:bodyPr/>
          <a:lstStyle/>
          <a:p>
            <a:endParaRPr lang="pt-BR"/>
          </a:p>
        </p:txBody>
      </p:sp>
      <p:sp>
        <p:nvSpPr>
          <p:cNvPr id="16" name="Text 14"/>
          <p:cNvSpPr txBox="1"/>
          <p:nvPr/>
        </p:nvSpPr>
        <p:spPr>
          <a:xfrm>
            <a:off x="777240" y="283464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change-driven</a:t>
            </a:r>
            <a:endParaRPr lang="en-US" sz="1100" dirty="0"/>
          </a:p>
        </p:txBody>
      </p:sp>
      <p:sp>
        <p:nvSpPr>
          <p:cNvPr id="17" name="Shape 15"/>
          <p:cNvSpPr/>
          <p:nvPr/>
        </p:nvSpPr>
        <p:spPr>
          <a:xfrm>
            <a:off x="2514600" y="2834640"/>
            <a:ext cx="9128455" cy="749808"/>
          </a:xfrm>
          <a:prstGeom prst="roundRect">
            <a:avLst>
              <a:gd name="adj" fmla="val 9756"/>
            </a:avLst>
          </a:prstGeom>
          <a:solidFill>
            <a:srgbClr val="FFFFFF"/>
          </a:solidFill>
          <a:ln w="9525">
            <a:solidFill>
              <a:srgbClr val="DED9D0"/>
            </a:solidFill>
            <a:prstDash val="solid"/>
          </a:ln>
        </p:spPr>
        <p:txBody>
          <a:bodyPr/>
          <a:lstStyle/>
          <a:p>
            <a:endParaRPr lang="pt-BR"/>
          </a:p>
        </p:txBody>
      </p:sp>
      <p:sp>
        <p:nvSpPr>
          <p:cNvPr id="18" name="Shape 16"/>
          <p:cNvSpPr/>
          <p:nvPr/>
        </p:nvSpPr>
        <p:spPr>
          <a:xfrm>
            <a:off x="2660904" y="3099816"/>
            <a:ext cx="219456" cy="219456"/>
          </a:xfrm>
          <a:prstGeom prst="ellipse">
            <a:avLst/>
          </a:prstGeom>
          <a:solidFill>
            <a:srgbClr val="E5472F"/>
          </a:solidFill>
          <a:ln w="12700">
            <a:solidFill>
              <a:srgbClr val="E5472F"/>
            </a:solidFill>
            <a:prstDash val="solid"/>
          </a:ln>
        </p:spPr>
        <p:txBody>
          <a:bodyPr/>
          <a:lstStyle/>
          <a:p>
            <a:endParaRPr lang="pt-BR"/>
          </a:p>
        </p:txBody>
      </p:sp>
      <p:sp>
        <p:nvSpPr>
          <p:cNvPr id="19" name="Text 17"/>
          <p:cNvSpPr txBox="1"/>
          <p:nvPr/>
        </p:nvSpPr>
        <p:spPr>
          <a:xfrm>
            <a:off x="3017520" y="2944368"/>
            <a:ext cx="8488375" cy="292608"/>
          </a:xfrm>
          <a:prstGeom prst="rect">
            <a:avLst/>
          </a:prstGeom>
          <a:noFill/>
          <a:ln/>
        </p:spPr>
        <p:txBody>
          <a:bodyPr wrap="square" lIns="0" tIns="0" rIns="0" bIns="0" rtlCol="0" anchor="t"/>
          <a:lstStyle/>
          <a:p>
            <a:pPr marL="0" indent="0">
              <a:buNone/>
            </a:pPr>
            <a:r>
              <a:rPr lang="en-US" sz="1300" dirty="0">
                <a:solidFill>
                  <a:srgbClr val="141414"/>
                </a:solidFill>
                <a:latin typeface="Arial" pitchFamily="34" charset="0"/>
                <a:ea typeface="Arial" pitchFamily="34" charset="-122"/>
                <a:cs typeface="Arial" pitchFamily="34" charset="-120"/>
              </a:rPr>
              <a:t>The cache is told what changed.</a:t>
            </a:r>
            <a:endParaRPr lang="en-US" sz="1300" dirty="0"/>
          </a:p>
        </p:txBody>
      </p:sp>
      <p:sp>
        <p:nvSpPr>
          <p:cNvPr id="20" name="Text 18"/>
          <p:cNvSpPr txBox="1"/>
          <p:nvPr/>
        </p:nvSpPr>
        <p:spPr>
          <a:xfrm>
            <a:off x="3017520" y="3310128"/>
            <a:ext cx="8488375" cy="201168"/>
          </a:xfrm>
          <a:prstGeom prst="rect">
            <a:avLst/>
          </a:prstGeom>
          <a:noFill/>
          <a:ln/>
        </p:spPr>
        <p:txBody>
          <a:bodyPr wrap="square" lIns="0" tIns="0" rIns="0" bIns="0" rtlCol="0" anchor="b"/>
          <a:lstStyle/>
          <a:p>
            <a:pPr marL="0" indent="0">
              <a:buNone/>
            </a:pPr>
            <a:r>
              <a:rPr lang="en-US" sz="850" dirty="0">
                <a:solidFill>
                  <a:srgbClr val="6B6B6B"/>
                </a:solidFill>
                <a:latin typeface="Courier New" pitchFamily="34" charset="0"/>
                <a:ea typeface="Courier New" pitchFamily="34" charset="-122"/>
                <a:cs typeface="Courier New" pitchFamily="34" charset="-120"/>
              </a:rPr>
              <a:t>adaptive refresh · incremental view maintenance from the binlog</a:t>
            </a:r>
            <a:endParaRPr lang="en-US" sz="850" dirty="0"/>
          </a:p>
        </p:txBody>
      </p:sp>
      <p:sp>
        <p:nvSpPr>
          <p:cNvPr id="21" name="Shape 19"/>
          <p:cNvSpPr/>
          <p:nvPr/>
        </p:nvSpPr>
        <p:spPr>
          <a:xfrm>
            <a:off x="548640" y="3657600"/>
            <a:ext cx="1828800" cy="749808"/>
          </a:xfrm>
          <a:prstGeom prst="roundRect">
            <a:avLst>
              <a:gd name="adj" fmla="val 7317"/>
            </a:avLst>
          </a:prstGeom>
          <a:solidFill>
            <a:srgbClr val="141414"/>
          </a:solidFill>
          <a:ln w="12700">
            <a:solidFill>
              <a:srgbClr val="141414"/>
            </a:solidFill>
            <a:prstDash val="solid"/>
          </a:ln>
        </p:spPr>
        <p:txBody>
          <a:bodyPr/>
          <a:lstStyle/>
          <a:p>
            <a:endParaRPr lang="pt-BR"/>
          </a:p>
        </p:txBody>
      </p:sp>
      <p:sp>
        <p:nvSpPr>
          <p:cNvPr id="22" name="Text 20"/>
          <p:cNvSpPr txBox="1"/>
          <p:nvPr/>
        </p:nvSpPr>
        <p:spPr>
          <a:xfrm>
            <a:off x="777240" y="365760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safe under load</a:t>
            </a:r>
            <a:endParaRPr lang="en-US" sz="1100" dirty="0"/>
          </a:p>
        </p:txBody>
      </p:sp>
      <p:sp>
        <p:nvSpPr>
          <p:cNvPr id="23" name="Shape 21"/>
          <p:cNvSpPr/>
          <p:nvPr/>
        </p:nvSpPr>
        <p:spPr>
          <a:xfrm>
            <a:off x="2514600" y="3657600"/>
            <a:ext cx="9128455" cy="749808"/>
          </a:xfrm>
          <a:prstGeom prst="roundRect">
            <a:avLst>
              <a:gd name="adj" fmla="val 9756"/>
            </a:avLst>
          </a:prstGeom>
          <a:solidFill>
            <a:srgbClr val="FFFFFF"/>
          </a:solidFill>
          <a:ln w="9525">
            <a:solidFill>
              <a:srgbClr val="DED9D0"/>
            </a:solidFill>
            <a:prstDash val="solid"/>
          </a:ln>
        </p:spPr>
        <p:txBody>
          <a:bodyPr/>
          <a:lstStyle/>
          <a:p>
            <a:endParaRPr lang="pt-BR"/>
          </a:p>
        </p:txBody>
      </p:sp>
      <p:sp>
        <p:nvSpPr>
          <p:cNvPr id="24" name="Shape 22"/>
          <p:cNvSpPr/>
          <p:nvPr/>
        </p:nvSpPr>
        <p:spPr>
          <a:xfrm>
            <a:off x="2660904" y="3922776"/>
            <a:ext cx="219456" cy="219456"/>
          </a:xfrm>
          <a:prstGeom prst="ellipse">
            <a:avLst/>
          </a:prstGeom>
          <a:solidFill>
            <a:srgbClr val="E5472F"/>
          </a:solidFill>
          <a:ln w="12700">
            <a:solidFill>
              <a:srgbClr val="E5472F"/>
            </a:solidFill>
            <a:prstDash val="solid"/>
          </a:ln>
        </p:spPr>
        <p:txBody>
          <a:bodyPr/>
          <a:lstStyle/>
          <a:p>
            <a:endParaRPr lang="pt-BR"/>
          </a:p>
        </p:txBody>
      </p:sp>
      <p:sp>
        <p:nvSpPr>
          <p:cNvPr id="25" name="Text 23"/>
          <p:cNvSpPr txBox="1"/>
          <p:nvPr/>
        </p:nvSpPr>
        <p:spPr>
          <a:xfrm>
            <a:off x="3017520" y="3767328"/>
            <a:ext cx="8488375" cy="292608"/>
          </a:xfrm>
          <a:prstGeom prst="rect">
            <a:avLst/>
          </a:prstGeom>
          <a:noFill/>
          <a:ln/>
        </p:spPr>
        <p:txBody>
          <a:bodyPr wrap="square" lIns="0" tIns="0" rIns="0" bIns="0" rtlCol="0" anchor="t"/>
          <a:lstStyle/>
          <a:p>
            <a:pPr marL="0" indent="0">
              <a:buNone/>
            </a:pPr>
            <a:r>
              <a:rPr lang="en-US" sz="1300" dirty="0">
                <a:solidFill>
                  <a:srgbClr val="141414"/>
                </a:solidFill>
                <a:latin typeface="Arial" pitchFamily="34" charset="0"/>
                <a:ea typeface="Arial" pitchFamily="34" charset="-122"/>
                <a:cs typeface="Arial" pitchFamily="34" charset="-120"/>
              </a:rPr>
              <a:t>Misses collapse to one. Every hit is checked against the caller.</a:t>
            </a:r>
            <a:endParaRPr lang="en-US" sz="1300" dirty="0"/>
          </a:p>
        </p:txBody>
      </p:sp>
      <p:sp>
        <p:nvSpPr>
          <p:cNvPr id="26" name="Text 24"/>
          <p:cNvSpPr txBox="1"/>
          <p:nvPr/>
        </p:nvSpPr>
        <p:spPr>
          <a:xfrm>
            <a:off x="3017520" y="4133088"/>
            <a:ext cx="8488375" cy="201168"/>
          </a:xfrm>
          <a:prstGeom prst="rect">
            <a:avLst/>
          </a:prstGeom>
          <a:noFill/>
          <a:ln/>
        </p:spPr>
        <p:txBody>
          <a:bodyPr wrap="square" lIns="0" tIns="0" rIns="0" bIns="0" rtlCol="0" anchor="b"/>
          <a:lstStyle/>
          <a:p>
            <a:pPr marL="0" indent="0">
              <a:buNone/>
            </a:pPr>
            <a:r>
              <a:rPr lang="en-US" sz="850" dirty="0">
                <a:solidFill>
                  <a:srgbClr val="6B6B6B"/>
                </a:solidFill>
                <a:latin typeface="Courier New" pitchFamily="34" charset="0"/>
                <a:ea typeface="Courier New" pitchFamily="34" charset="-122"/>
                <a:cs typeface="Courier New" pitchFamily="34" charset="-120"/>
              </a:rPr>
              <a:t>request coalescing · Guard</a:t>
            </a:r>
            <a:endParaRPr lang="en-US" sz="850" dirty="0"/>
          </a:p>
        </p:txBody>
      </p:sp>
      <p:sp>
        <p:nvSpPr>
          <p:cNvPr id="27" name="Shape 25"/>
          <p:cNvSpPr/>
          <p:nvPr/>
        </p:nvSpPr>
        <p:spPr>
          <a:xfrm>
            <a:off x="548640" y="4480560"/>
            <a:ext cx="1828800" cy="749808"/>
          </a:xfrm>
          <a:prstGeom prst="roundRect">
            <a:avLst>
              <a:gd name="adj" fmla="val 7317"/>
            </a:avLst>
          </a:prstGeom>
          <a:solidFill>
            <a:srgbClr val="141414"/>
          </a:solidFill>
          <a:ln w="12700">
            <a:solidFill>
              <a:srgbClr val="141414"/>
            </a:solidFill>
            <a:prstDash val="solid"/>
          </a:ln>
        </p:spPr>
        <p:txBody>
          <a:bodyPr/>
          <a:lstStyle/>
          <a:p>
            <a:endParaRPr lang="pt-BR"/>
          </a:p>
        </p:txBody>
      </p:sp>
      <p:sp>
        <p:nvSpPr>
          <p:cNvPr id="28" name="Text 26"/>
          <p:cNvSpPr txBox="1"/>
          <p:nvPr/>
        </p:nvSpPr>
        <p:spPr>
          <a:xfrm>
            <a:off x="777240" y="4480560"/>
            <a:ext cx="1554480" cy="749808"/>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unowned</a:t>
            </a:r>
            <a:endParaRPr lang="en-US" sz="1100" dirty="0"/>
          </a:p>
        </p:txBody>
      </p:sp>
      <p:sp>
        <p:nvSpPr>
          <p:cNvPr id="29" name="Shape 27"/>
          <p:cNvSpPr/>
          <p:nvPr/>
        </p:nvSpPr>
        <p:spPr>
          <a:xfrm>
            <a:off x="2514600" y="4480560"/>
            <a:ext cx="9128455" cy="749808"/>
          </a:xfrm>
          <a:prstGeom prst="roundRect">
            <a:avLst>
              <a:gd name="adj" fmla="val 9756"/>
            </a:avLst>
          </a:prstGeom>
          <a:solidFill>
            <a:srgbClr val="FFFFFF"/>
          </a:solidFill>
          <a:ln w="9525">
            <a:solidFill>
              <a:srgbClr val="DED9D0"/>
            </a:solidFill>
            <a:prstDash val="solid"/>
          </a:ln>
        </p:spPr>
        <p:txBody>
          <a:bodyPr/>
          <a:lstStyle/>
          <a:p>
            <a:endParaRPr lang="pt-BR"/>
          </a:p>
        </p:txBody>
      </p:sp>
      <p:sp>
        <p:nvSpPr>
          <p:cNvPr id="30" name="Shape 28"/>
          <p:cNvSpPr/>
          <p:nvPr/>
        </p:nvSpPr>
        <p:spPr>
          <a:xfrm>
            <a:off x="2660904" y="4745736"/>
            <a:ext cx="219456" cy="219456"/>
          </a:xfrm>
          <a:prstGeom prst="ellipse">
            <a:avLst/>
          </a:prstGeom>
          <a:solidFill>
            <a:srgbClr val="E5472F"/>
          </a:solidFill>
          <a:ln w="12700">
            <a:solidFill>
              <a:srgbClr val="E5472F"/>
            </a:solidFill>
            <a:prstDash val="solid"/>
          </a:ln>
        </p:spPr>
        <p:txBody>
          <a:bodyPr/>
          <a:lstStyle/>
          <a:p>
            <a:endParaRPr lang="pt-BR"/>
          </a:p>
        </p:txBody>
      </p:sp>
      <p:sp>
        <p:nvSpPr>
          <p:cNvPr id="31" name="Text 29"/>
          <p:cNvSpPr txBox="1"/>
          <p:nvPr/>
        </p:nvSpPr>
        <p:spPr>
          <a:xfrm>
            <a:off x="3017520" y="4590288"/>
            <a:ext cx="8488375" cy="292608"/>
          </a:xfrm>
          <a:prstGeom prst="rect">
            <a:avLst/>
          </a:prstGeom>
          <a:noFill/>
          <a:ln/>
        </p:spPr>
        <p:txBody>
          <a:bodyPr wrap="square" lIns="0" tIns="0" rIns="0" bIns="0" rtlCol="0" anchor="t"/>
          <a:lstStyle/>
          <a:p>
            <a:pPr marL="0" indent="0">
              <a:buNone/>
            </a:pPr>
            <a:r>
              <a:rPr lang="en-US" sz="1300" dirty="0">
                <a:solidFill>
                  <a:srgbClr val="141414"/>
                </a:solidFill>
                <a:latin typeface="Arial" pitchFamily="34" charset="0"/>
                <a:ea typeface="Arial" pitchFamily="34" charset="-122"/>
                <a:cs typeface="Arial" pitchFamily="34" charset="-120"/>
              </a:rPr>
              <a:t>No rules to write, no intervals to tune.</a:t>
            </a:r>
            <a:endParaRPr lang="en-US" sz="1300" dirty="0"/>
          </a:p>
        </p:txBody>
      </p:sp>
      <p:sp>
        <p:nvSpPr>
          <p:cNvPr id="32" name="Text 30"/>
          <p:cNvSpPr txBox="1"/>
          <p:nvPr/>
        </p:nvSpPr>
        <p:spPr>
          <a:xfrm>
            <a:off x="3017520" y="4956048"/>
            <a:ext cx="8488375" cy="201168"/>
          </a:xfrm>
          <a:prstGeom prst="rect">
            <a:avLst/>
          </a:prstGeom>
          <a:noFill/>
          <a:ln/>
        </p:spPr>
        <p:txBody>
          <a:bodyPr wrap="square" lIns="0" tIns="0" rIns="0" bIns="0" rtlCol="0" anchor="b"/>
          <a:lstStyle/>
          <a:p>
            <a:pPr marL="0" indent="0">
              <a:buNone/>
            </a:pPr>
            <a:r>
              <a:rPr lang="en-US" sz="850" dirty="0">
                <a:solidFill>
                  <a:srgbClr val="6B6B6B"/>
                </a:solidFill>
                <a:latin typeface="Courier New" pitchFamily="34" charset="0"/>
                <a:ea typeface="Courier New" pitchFamily="34" charset="-122"/>
                <a:cs typeface="Courier New" pitchFamily="34" charset="-120"/>
              </a:rPr>
              <a:t>adaptive cache · automatic caching</a:t>
            </a:r>
            <a:endParaRPr lang="en-US" sz="850" dirty="0"/>
          </a:p>
        </p:txBody>
      </p:sp>
      <p:sp>
        <p:nvSpPr>
          <p:cNvPr id="33" name="Shape 31"/>
          <p:cNvSpPr/>
          <p:nvPr/>
        </p:nvSpPr>
        <p:spPr>
          <a:xfrm>
            <a:off x="548640" y="5349240"/>
            <a:ext cx="11094415" cy="457200"/>
          </a:xfrm>
          <a:prstGeom prst="roundRect">
            <a:avLst>
              <a:gd name="adj" fmla="val 16000"/>
            </a:avLst>
          </a:prstGeom>
          <a:solidFill>
            <a:srgbClr val="141414"/>
          </a:solidFill>
          <a:ln w="12700">
            <a:solidFill>
              <a:srgbClr val="141414"/>
            </a:solidFill>
            <a:prstDash val="solid"/>
          </a:ln>
        </p:spPr>
        <p:txBody>
          <a:bodyPr/>
          <a:lstStyle/>
          <a:p>
            <a:endParaRPr lang="pt-BR"/>
          </a:p>
        </p:txBody>
      </p:sp>
      <p:sp>
        <p:nvSpPr>
          <p:cNvPr id="34" name="Text 32"/>
          <p:cNvSpPr txBox="1"/>
          <p:nvPr/>
        </p:nvSpPr>
        <p:spPr>
          <a:xfrm>
            <a:off x="822960" y="5349240"/>
            <a:ext cx="10545775" cy="45720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Four for four. The specification MySQL wrote in 2001, built for the MySQL deployments of 2026.</a:t>
            </a:r>
            <a:endParaRPr lang="en-US" sz="1450" dirty="0"/>
          </a:p>
        </p:txBody>
      </p:sp>
      <p:sp>
        <p:nvSpPr>
          <p:cNvPr id="35" name="Text 33"/>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[10] Readyset, “Nobody Wants a Cache: Introducing the Readyset Platform”, 21 Jul 2026.   [12] M. Altmann, Percona Live Amsterdam, 11 Sep 2026: request coalescing; per-cache authorization.   MySQL wire protocol; also speaks PostgreSQL.</a:t>
            </a:r>
            <a:endParaRPr lang="en-US" sz="800" dirty="0"/>
          </a:p>
        </p:txBody>
      </p:sp>
      <p:pic>
        <p:nvPicPr>
          <p:cNvPr id="36" name="Picture 35" descr="image.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07 · the ceiling, measured</a:t>
            </a:r>
            <a:endParaRPr lang="en-US" sz="1100" dirty="0"/>
          </a:p>
        </p:txBody>
      </p:sp>
      <p:sp>
        <p:nvSpPr>
          <p:cNvPr id="6" name="Text 4"/>
          <p:cNvSpPr txBox="1"/>
          <p:nvPr/>
        </p:nvSpPr>
        <p:spPr>
          <a:xfrm>
            <a:off x="548640" y="731520"/>
            <a:ext cx="11094415" cy="685800"/>
          </a:xfrm>
          <a:prstGeom prst="rect">
            <a:avLst/>
          </a:prstGeom>
          <a:noFill/>
          <a:ln/>
        </p:spPr>
        <p:txBody>
          <a:bodyPr wrap="square" lIns="0" tIns="0" rIns="0" bIns="0" rtlCol="0" anchor="t"/>
          <a:lstStyle/>
          <a:p>
            <a:pPr marL="0" indent="0">
              <a:lnSpc>
                <a:spcPct val="105000"/>
              </a:lnSpc>
              <a:buNone/>
            </a:pPr>
            <a:r>
              <a:rPr lang="en-US" sz="3400" b="1" dirty="0">
                <a:solidFill>
                  <a:srgbClr val="141414"/>
                </a:solidFill>
                <a:latin typeface="Arial" pitchFamily="34" charset="0"/>
                <a:ea typeface="Arial" pitchFamily="34" charset="-122"/>
                <a:cs typeface="Arial" pitchFamily="34" charset="-120"/>
              </a:rPr>
              <a:t>One node. 4.38 million queries per second.</a:t>
            </a:r>
            <a:endParaRPr lang="en-US" sz="3400" dirty="0"/>
          </a:p>
        </p:txBody>
      </p:sp>
      <p:sp>
        <p:nvSpPr>
          <p:cNvPr id="7" name="Shape 5"/>
          <p:cNvSpPr/>
          <p:nvPr/>
        </p:nvSpPr>
        <p:spPr>
          <a:xfrm>
            <a:off x="548640" y="1463040"/>
            <a:ext cx="11094415" cy="0"/>
          </a:xfrm>
          <a:prstGeom prst="line">
            <a:avLst/>
          </a:prstGeom>
          <a:noFill/>
          <a:ln w="9525">
            <a:solidFill>
              <a:srgbClr val="141414"/>
            </a:solidFill>
            <a:prstDash val="solid"/>
          </a:ln>
        </p:spPr>
        <p:txBody>
          <a:bodyPr/>
          <a:lstStyle/>
          <a:p>
            <a:endParaRPr lang="en-US"/>
          </a:p>
        </p:txBody>
      </p:sp>
      <p:sp>
        <p:nvSpPr>
          <p:cNvPr id="8" name="Text 6"/>
          <p:cNvSpPr txBox="1"/>
          <p:nvPr/>
        </p:nvSpPr>
        <p:spPr>
          <a:xfrm>
            <a:off x="548640" y="1691640"/>
            <a:ext cx="6949440" cy="274320"/>
          </a:xfrm>
          <a:prstGeom prst="rect">
            <a:avLst/>
          </a:prstGeom>
          <a:noFill/>
          <a:ln/>
        </p:spPr>
        <p:txBody>
          <a:bodyPr wrap="square" lIns="0" tIns="0" rIns="0" bIns="0" rtlCol="0" anchor="ctr"/>
          <a:lstStyle/>
          <a:p>
            <a:pPr marL="0" indent="0">
              <a:buNone/>
            </a:pPr>
            <a:r>
              <a:rPr lang="en-US" sz="950" dirty="0">
                <a:solidFill>
                  <a:srgbClr val="6B6B6B"/>
                </a:solidFill>
                <a:latin typeface="Courier New" pitchFamily="34" charset="0"/>
                <a:ea typeface="Courier New" pitchFamily="34" charset="-122"/>
                <a:cs typeface="Courier New" pitchFamily="34" charset="-120"/>
              </a:rPr>
              <a:t>Queries per second (millions) vs. client connections · same host, same workload, same day</a:t>
            </a:r>
            <a:endParaRPr lang="en-US" sz="950" dirty="0"/>
          </a:p>
        </p:txBody>
      </p:sp>
      <p:graphicFrame>
        <p:nvGraphicFramePr>
          <p:cNvPr id="9" name="Chart 0"/>
          <p:cNvGraphicFramePr/>
          <p:nvPr/>
        </p:nvGraphicFramePr>
        <p:xfrm>
          <a:off x="457200" y="1965960"/>
          <a:ext cx="71323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7772400" y="1737360"/>
            <a:ext cx="3886200" cy="502920"/>
          </a:xfrm>
          <a:prstGeom prst="rect">
            <a:avLst/>
          </a:prstGeom>
          <a:noFill/>
          <a:ln/>
        </p:spPr>
        <p:txBody>
          <a:bodyPr wrap="square" lIns="0" tIns="0" rIns="0" bIns="0" rtlCol="0" anchor="ctr"/>
          <a:lstStyle/>
          <a:p>
            <a:pPr marL="0" indent="0">
              <a:buNone/>
            </a:pPr>
            <a:r>
              <a:rPr lang="en-US" sz="2600" b="1" dirty="0">
                <a:solidFill>
                  <a:srgbClr val="E5472F"/>
                </a:solidFill>
                <a:latin typeface="Arial" pitchFamily="34" charset="0"/>
                <a:ea typeface="Arial" pitchFamily="34" charset="-122"/>
                <a:cs typeface="Arial" pitchFamily="34" charset="-120"/>
              </a:rPr>
              <a:t>4,379,212 q/s</a:t>
            </a:r>
            <a:endParaRPr lang="en-US" sz="2600" dirty="0"/>
          </a:p>
        </p:txBody>
      </p:sp>
      <p:sp>
        <p:nvSpPr>
          <p:cNvPr id="11" name="Text 8"/>
          <p:cNvSpPr txBox="1"/>
          <p:nvPr/>
        </p:nvSpPr>
        <p:spPr>
          <a:xfrm>
            <a:off x="7772400" y="2240280"/>
            <a:ext cx="3886200" cy="594360"/>
          </a:xfrm>
          <a:prstGeom prst="rect">
            <a:avLst/>
          </a:prstGeom>
          <a:noFill/>
          <a:ln/>
        </p:spPr>
        <p:txBody>
          <a:bodyPr wrap="square" lIns="0" tIns="0" rIns="0" bIns="0" rtlCol="0" anchor="t"/>
          <a:lstStyle/>
          <a:p>
            <a:pPr marL="0" indent="0">
              <a:lnSpc>
                <a:spcPct val="110000"/>
              </a:lnSpc>
              <a:buNone/>
            </a:pPr>
            <a:r>
              <a:rPr lang="en-US" sz="1200" dirty="0">
                <a:solidFill>
                  <a:srgbClr val="141414"/>
                </a:solidFill>
                <a:latin typeface="Arial" pitchFamily="34" charset="0"/>
                <a:ea typeface="Arial" pitchFamily="34" charset="-122"/>
                <a:cs typeface="Arial" pitchFamily="34" charset="-120"/>
              </a:rPr>
              <a:t>peak from a single node · p95 2.26 ms · 2.9 billion requests · zero misses</a:t>
            </a:r>
            <a:endParaRPr lang="en-US" sz="1200" dirty="0"/>
          </a:p>
        </p:txBody>
      </p:sp>
      <p:sp>
        <p:nvSpPr>
          <p:cNvPr id="12" name="Text 9"/>
          <p:cNvSpPr txBox="1"/>
          <p:nvPr/>
        </p:nvSpPr>
        <p:spPr>
          <a:xfrm>
            <a:off x="7772400" y="2926080"/>
            <a:ext cx="3886200" cy="502920"/>
          </a:xfrm>
          <a:prstGeom prst="rect">
            <a:avLst/>
          </a:prstGeom>
          <a:noFill/>
          <a:ln/>
        </p:spPr>
        <p:txBody>
          <a:bodyPr wrap="square" lIns="0" tIns="0" rIns="0" bIns="0" rtlCol="0" anchor="ctr"/>
          <a:lstStyle/>
          <a:p>
            <a:pPr marL="0" indent="0">
              <a:buNone/>
            </a:pPr>
            <a:r>
              <a:rPr lang="en-US" sz="2600" b="1" dirty="0">
                <a:solidFill>
                  <a:srgbClr val="141414"/>
                </a:solidFill>
                <a:latin typeface="Arial" pitchFamily="34" charset="0"/>
                <a:ea typeface="Arial" pitchFamily="34" charset="-122"/>
                <a:cs typeface="Arial" pitchFamily="34" charset="-120"/>
              </a:rPr>
              <a:t>2.75×</a:t>
            </a:r>
            <a:endParaRPr lang="en-US" sz="2600" dirty="0"/>
          </a:p>
        </p:txBody>
      </p:sp>
      <p:sp>
        <p:nvSpPr>
          <p:cNvPr id="13" name="Text 10"/>
          <p:cNvSpPr txBox="1"/>
          <p:nvPr/>
        </p:nvSpPr>
        <p:spPr>
          <a:xfrm>
            <a:off x="7772400" y="3429000"/>
            <a:ext cx="3886200" cy="594360"/>
          </a:xfrm>
          <a:prstGeom prst="rect">
            <a:avLst/>
          </a:prstGeom>
          <a:noFill/>
          <a:ln/>
        </p:spPr>
        <p:txBody>
          <a:bodyPr wrap="square" lIns="0" tIns="0" rIns="0" bIns="0" rtlCol="0" anchor="t"/>
          <a:lstStyle/>
          <a:p>
            <a:pPr marL="0" indent="0">
              <a:lnSpc>
                <a:spcPct val="110000"/>
              </a:lnSpc>
              <a:buNone/>
            </a:pPr>
            <a:r>
              <a:rPr lang="en-US" sz="1200" dirty="0">
                <a:solidFill>
                  <a:srgbClr val="141414"/>
                </a:solidFill>
                <a:latin typeface="Arial" pitchFamily="34" charset="0"/>
                <a:ea typeface="Arial" pitchFamily="34" charset="-122"/>
                <a:cs typeface="Arial" pitchFamily="34" charset="-120"/>
              </a:rPr>
              <a:t>Percona MySQL 8.4 on the same hardware and workload (1.57 M q/s at its peak)</a:t>
            </a:r>
            <a:endParaRPr lang="en-US" sz="1200" dirty="0"/>
          </a:p>
        </p:txBody>
      </p:sp>
      <p:sp>
        <p:nvSpPr>
          <p:cNvPr id="14" name="Text 11"/>
          <p:cNvSpPr txBox="1"/>
          <p:nvPr/>
        </p:nvSpPr>
        <p:spPr>
          <a:xfrm>
            <a:off x="7772400" y="4114800"/>
            <a:ext cx="3886200" cy="502920"/>
          </a:xfrm>
          <a:prstGeom prst="rect">
            <a:avLst/>
          </a:prstGeom>
          <a:noFill/>
          <a:ln/>
        </p:spPr>
        <p:txBody>
          <a:bodyPr wrap="square" lIns="0" tIns="0" rIns="0" bIns="0" rtlCol="0" anchor="ctr"/>
          <a:lstStyle/>
          <a:p>
            <a:pPr marL="0" indent="0">
              <a:buNone/>
            </a:pPr>
            <a:r>
              <a:rPr lang="en-US" sz="2600" b="1" dirty="0">
                <a:solidFill>
                  <a:srgbClr val="141414"/>
                </a:solidFill>
                <a:latin typeface="Arial" pitchFamily="34" charset="0"/>
                <a:ea typeface="Arial" pitchFamily="34" charset="-122"/>
                <a:cs typeface="Arial" pitchFamily="34" charset="-120"/>
              </a:rPr>
              <a:t>21.7 µs</a:t>
            </a:r>
            <a:endParaRPr lang="en-US" sz="2600" dirty="0"/>
          </a:p>
        </p:txBody>
      </p:sp>
      <p:sp>
        <p:nvSpPr>
          <p:cNvPr id="15" name="Text 12"/>
          <p:cNvSpPr txBox="1"/>
          <p:nvPr/>
        </p:nvSpPr>
        <p:spPr>
          <a:xfrm>
            <a:off x="7772400" y="4617720"/>
            <a:ext cx="3886200" cy="594360"/>
          </a:xfrm>
          <a:prstGeom prst="rect">
            <a:avLst/>
          </a:prstGeom>
          <a:noFill/>
          <a:ln/>
        </p:spPr>
        <p:txBody>
          <a:bodyPr wrap="square" lIns="0" tIns="0" rIns="0" bIns="0" rtlCol="0" anchor="t"/>
          <a:lstStyle/>
          <a:p>
            <a:pPr marL="0" indent="0">
              <a:lnSpc>
                <a:spcPct val="110000"/>
              </a:lnSpc>
              <a:buNone/>
            </a:pPr>
            <a:r>
              <a:rPr lang="en-US" sz="1200" dirty="0">
                <a:solidFill>
                  <a:srgbClr val="141414"/>
                </a:solidFill>
                <a:latin typeface="Arial" pitchFamily="34" charset="0"/>
                <a:ea typeface="Arial" pitchFamily="34" charset="-122"/>
                <a:cs typeface="Arial" pitchFamily="34" charset="-120"/>
              </a:rPr>
              <a:t>machine CPU per query, against 60.1 µs for MySQL alone</a:t>
            </a:r>
            <a:endParaRPr lang="en-US" sz="1200" dirty="0"/>
          </a:p>
        </p:txBody>
      </p:sp>
      <p:sp>
        <p:nvSpPr>
          <p:cNvPr id="16" name="Text 13"/>
          <p:cNvSpPr txBox="1"/>
          <p:nvPr/>
        </p:nvSpPr>
        <p:spPr>
          <a:xfrm>
            <a:off x="7772400" y="5303520"/>
            <a:ext cx="3886200" cy="548640"/>
          </a:xfrm>
          <a:prstGeom prst="rect">
            <a:avLst/>
          </a:prstGeom>
          <a:noFill/>
          <a:ln/>
        </p:spPr>
        <p:txBody>
          <a:bodyPr wrap="square" lIns="0" tIns="0" rIns="0" bIns="0" rtlCol="0" anchor="t"/>
          <a:lstStyle/>
          <a:p>
            <a:pPr marL="0" indent="0">
              <a:buNone/>
            </a:pPr>
            <a:r>
              <a:rPr lang="en-US" sz="850" dirty="0">
                <a:solidFill>
                  <a:srgbClr val="6B6B6B"/>
                </a:solidFill>
                <a:latin typeface="Courier New" pitchFamily="34" charset="0"/>
                <a:ea typeface="Courier New" pitchFamily="34" charset="-122"/>
                <a:cs typeface="Courier New" pitchFamily="34" charset="-120"/>
              </a:rPr>
              <a:t>Single primary-key lookup, read-only, 100% cache hit, 35 load generators, AMD EPYC 9454 (48c/96t). A ceiling for the serving path; production adds writes, replication and mixed query shapes. [15]</a:t>
            </a:r>
            <a:endParaRPr lang="en-US" sz="850" dirty="0"/>
          </a:p>
        </p:txBody>
      </p:sp>
      <p:sp>
        <p:nvSpPr>
          <p:cNvPr id="17" name="Text 14"/>
          <p:cNvSpPr txBox="1"/>
          <p:nvPr/>
        </p:nvSpPr>
        <p:spPr>
          <a:xfrm>
            <a:off x="548640" y="5760720"/>
            <a:ext cx="11094415" cy="502920"/>
          </a:xfrm>
          <a:prstGeom prst="rect">
            <a:avLst/>
          </a:prstGeom>
          <a:noFill/>
          <a:ln/>
        </p:spPr>
        <p:txBody>
          <a:bodyPr wrap="square" lIns="0" tIns="0" rIns="0" bIns="0" rtlCol="0" anchor="b"/>
          <a:lstStyle/>
          <a:p>
            <a:pPr marL="0" indent="0">
              <a:buNone/>
            </a:pPr>
            <a:r>
              <a:rPr lang="en-US" sz="800" dirty="0">
                <a:solidFill>
                  <a:srgbClr val="6B6B6B"/>
                </a:solidFill>
                <a:latin typeface="Courier New" pitchFamily="34" charset="0"/>
                <a:ea typeface="Courier New" pitchFamily="34" charset="-122"/>
                <a:cs typeface="Courier New" pitchFamily="34" charset="-120"/>
              </a:rPr>
              <a:t>[15] Readyset Engineering, “Measuring the Maximum Query Throughput of a Single Readyset Node”, measured 14 Aug 2026 — Tables 1 &amp; 3, §7 Limitations. Peak 4,379,212 q/s from the isolated sweep; the 2.75× comparison uses the same-day four-system sweep (4,332,492 vs 1,573,565). readyset.io/case-studies/…43-million-qps…</a:t>
            </a:r>
            <a:endParaRPr lang="en-US" sz="800" dirty="0"/>
          </a:p>
        </p:txBody>
      </p:sp>
      <p:pic>
        <p:nvPicPr>
          <p:cNvPr id="18" name="Picture 17" descr="user_logo_trim.png"/>
          <p:cNvPicPr>
            <a:picLocks noChangeAspect="1"/>
          </p:cNvPicPr>
          <p:nvPr/>
        </p:nvPicPr>
        <p:blipFill>
          <a:blip r:embed="rId4"/>
          <a:stretch>
            <a:fillRect/>
          </a:stretch>
        </p:blipFill>
        <p:spPr>
          <a:xfrm>
            <a:off x="548640" y="6364224"/>
            <a:ext cx="1016485" cy="2194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41414"/>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 demo</a:t>
            </a:r>
            <a:endParaRPr lang="en-US" sz="1100" dirty="0"/>
          </a:p>
        </p:txBody>
      </p:sp>
      <p:sp>
        <p:nvSpPr>
          <p:cNvPr id="6" name="Text 4"/>
          <p:cNvSpPr txBox="1"/>
          <p:nvPr/>
        </p:nvSpPr>
        <p:spPr>
          <a:xfrm>
            <a:off x="548640" y="1097280"/>
            <a:ext cx="10515600" cy="1737360"/>
          </a:xfrm>
          <a:prstGeom prst="rect">
            <a:avLst/>
          </a:prstGeom>
          <a:noFill/>
          <a:ln/>
        </p:spPr>
        <p:txBody>
          <a:bodyPr wrap="square" lIns="0" tIns="0" rIns="0" bIns="0" rtlCol="0" anchor="t"/>
          <a:lstStyle/>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Now, live: the same application.</a:t>
            </a:r>
            <a:endParaRPr lang="en-US" sz="4000" dirty="0"/>
          </a:p>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One connection string changed.</a:t>
            </a:r>
            <a:endParaRPr lang="en-US" sz="4000" dirty="0"/>
          </a:p>
        </p:txBody>
      </p:sp>
      <p:sp>
        <p:nvSpPr>
          <p:cNvPr id="7" name="Text 5"/>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watch for three things</a:t>
            </a:r>
            <a:endParaRPr lang="en-US" sz="1100" dirty="0"/>
          </a:p>
        </p:txBody>
      </p:sp>
      <p:sp>
        <p:nvSpPr>
          <p:cNvPr id="8" name="Text 6"/>
          <p:cNvSpPr txBox="1"/>
          <p:nvPr/>
        </p:nvSpPr>
        <p:spPr>
          <a:xfrm>
            <a:off x="548640" y="3474720"/>
            <a:ext cx="548640" cy="457200"/>
          </a:xfrm>
          <a:prstGeom prst="rect">
            <a:avLst/>
          </a:prstGeom>
          <a:noFill/>
          <a:ln/>
        </p:spPr>
        <p:txBody>
          <a:bodyPr wrap="square" lIns="0" tIns="0" rIns="0" bIns="0" rtlCol="0" anchor="ctr"/>
          <a:lstStyle/>
          <a:p>
            <a:pPr marL="0" indent="0">
              <a:buNone/>
            </a:pPr>
            <a:r>
              <a:rPr lang="en-US" sz="1800" dirty="0">
                <a:solidFill>
                  <a:srgbClr val="E5472F"/>
                </a:solidFill>
                <a:latin typeface="Courier New" pitchFamily="34" charset="0"/>
                <a:ea typeface="Courier New" pitchFamily="34" charset="-122"/>
                <a:cs typeface="Courier New" pitchFamily="34" charset="-120"/>
              </a:rPr>
              <a:t>01</a:t>
            </a:r>
            <a:endParaRPr lang="en-US" sz="1800" dirty="0"/>
          </a:p>
        </p:txBody>
      </p:sp>
      <p:sp>
        <p:nvSpPr>
          <p:cNvPr id="9" name="Text 7"/>
          <p:cNvSpPr txBox="1"/>
          <p:nvPr/>
        </p:nvSpPr>
        <p:spPr>
          <a:xfrm>
            <a:off x="1280160" y="3474720"/>
            <a:ext cx="9601200" cy="548640"/>
          </a:xfrm>
          <a:prstGeom prst="rect">
            <a:avLst/>
          </a:prstGeom>
          <a:noFill/>
          <a:ln/>
        </p:spPr>
        <p:txBody>
          <a:bodyPr wrap="square" lIns="0" tIns="0" rIns="0" bIns="0" rtlCol="0" anchor="t"/>
          <a:lstStyle/>
          <a:p>
            <a:pPr marL="0" indent="0">
              <a:buNone/>
            </a:pPr>
            <a:r>
              <a:rPr lang="en-US" sz="1700" dirty="0">
                <a:solidFill>
                  <a:srgbClr val="E6E6E6"/>
                </a:solidFill>
                <a:latin typeface="Arial" pitchFamily="34" charset="0"/>
                <a:ea typeface="Arial" pitchFamily="34" charset="-122"/>
                <a:cs typeface="Arial" pitchFamily="34" charset="-120"/>
              </a:rPr>
              <a:t>Reads per second: MySQL alone, then the same box with Readyset in front of it.</a:t>
            </a:r>
            <a:endParaRPr lang="en-US" sz="1700" dirty="0"/>
          </a:p>
        </p:txBody>
      </p:sp>
      <p:sp>
        <p:nvSpPr>
          <p:cNvPr id="10" name="Text 8"/>
          <p:cNvSpPr txBox="1"/>
          <p:nvPr/>
        </p:nvSpPr>
        <p:spPr>
          <a:xfrm>
            <a:off x="548640" y="4133088"/>
            <a:ext cx="548640" cy="457200"/>
          </a:xfrm>
          <a:prstGeom prst="rect">
            <a:avLst/>
          </a:prstGeom>
          <a:noFill/>
          <a:ln/>
        </p:spPr>
        <p:txBody>
          <a:bodyPr wrap="square" lIns="0" tIns="0" rIns="0" bIns="0" rtlCol="0" anchor="ctr"/>
          <a:lstStyle/>
          <a:p>
            <a:pPr marL="0" indent="0">
              <a:buNone/>
            </a:pPr>
            <a:r>
              <a:rPr lang="en-US" sz="1800" dirty="0">
                <a:solidFill>
                  <a:srgbClr val="E5472F"/>
                </a:solidFill>
                <a:latin typeface="Courier New" pitchFamily="34" charset="0"/>
                <a:ea typeface="Courier New" pitchFamily="34" charset="-122"/>
                <a:cs typeface="Courier New" pitchFamily="34" charset="-120"/>
              </a:rPr>
              <a:t>02</a:t>
            </a:r>
            <a:endParaRPr lang="en-US" sz="1800" dirty="0"/>
          </a:p>
        </p:txBody>
      </p:sp>
      <p:sp>
        <p:nvSpPr>
          <p:cNvPr id="11" name="Text 9"/>
          <p:cNvSpPr txBox="1"/>
          <p:nvPr/>
        </p:nvSpPr>
        <p:spPr>
          <a:xfrm>
            <a:off x="1280160" y="4133088"/>
            <a:ext cx="9601200" cy="548640"/>
          </a:xfrm>
          <a:prstGeom prst="rect">
            <a:avLst/>
          </a:prstGeom>
          <a:noFill/>
          <a:ln/>
        </p:spPr>
        <p:txBody>
          <a:bodyPr wrap="square" lIns="0" tIns="0" rIns="0" bIns="0" rtlCol="0" anchor="t"/>
          <a:lstStyle/>
          <a:p>
            <a:pPr marL="0" indent="0">
              <a:buNone/>
            </a:pPr>
            <a:r>
              <a:rPr lang="en-US" sz="1700" dirty="0">
                <a:solidFill>
                  <a:srgbClr val="E6E6E6"/>
                </a:solidFill>
                <a:latin typeface="Arial" pitchFamily="34" charset="0"/>
                <a:ea typeface="Arial" pitchFamily="34" charset="-122"/>
                <a:cs typeface="Arial" pitchFamily="34" charset="-120"/>
              </a:rPr>
              <a:t>Primary CPU while the reads are served from cache.</a:t>
            </a:r>
            <a:endParaRPr lang="en-US" sz="1700" dirty="0"/>
          </a:p>
        </p:txBody>
      </p:sp>
      <p:sp>
        <p:nvSpPr>
          <p:cNvPr id="12" name="Text 10"/>
          <p:cNvSpPr txBox="1"/>
          <p:nvPr/>
        </p:nvSpPr>
        <p:spPr>
          <a:xfrm>
            <a:off x="548640" y="4791456"/>
            <a:ext cx="548640" cy="457200"/>
          </a:xfrm>
          <a:prstGeom prst="rect">
            <a:avLst/>
          </a:prstGeom>
          <a:noFill/>
          <a:ln/>
        </p:spPr>
        <p:txBody>
          <a:bodyPr wrap="square" lIns="0" tIns="0" rIns="0" bIns="0" rtlCol="0" anchor="ctr"/>
          <a:lstStyle/>
          <a:p>
            <a:pPr marL="0" indent="0">
              <a:buNone/>
            </a:pPr>
            <a:r>
              <a:rPr lang="en-US" sz="1800" dirty="0">
                <a:solidFill>
                  <a:srgbClr val="E5472F"/>
                </a:solidFill>
                <a:latin typeface="Courier New" pitchFamily="34" charset="0"/>
                <a:ea typeface="Courier New" pitchFamily="34" charset="-122"/>
                <a:cs typeface="Courier New" pitchFamily="34" charset="-120"/>
              </a:rPr>
              <a:t>03</a:t>
            </a:r>
            <a:endParaRPr lang="en-US" sz="1800" dirty="0"/>
          </a:p>
        </p:txBody>
      </p:sp>
      <p:sp>
        <p:nvSpPr>
          <p:cNvPr id="13" name="Text 11"/>
          <p:cNvSpPr txBox="1"/>
          <p:nvPr/>
        </p:nvSpPr>
        <p:spPr>
          <a:xfrm>
            <a:off x="1280160" y="4791456"/>
            <a:ext cx="9601200" cy="548640"/>
          </a:xfrm>
          <a:prstGeom prst="rect">
            <a:avLst/>
          </a:prstGeom>
          <a:noFill/>
          <a:ln/>
        </p:spPr>
        <p:txBody>
          <a:bodyPr wrap="square" lIns="0" tIns="0" rIns="0" bIns="0" rtlCol="0" anchor="t"/>
          <a:lstStyle/>
          <a:p>
            <a:pPr marL="0" indent="0">
              <a:buNone/>
            </a:pPr>
            <a:r>
              <a:rPr lang="en-US" sz="1700" dirty="0">
                <a:solidFill>
                  <a:srgbClr val="E6E6E6"/>
                </a:solidFill>
                <a:latin typeface="Arial" pitchFamily="34" charset="0"/>
                <a:ea typeface="Arial" pitchFamily="34" charset="-122"/>
                <a:cs typeface="Arial" pitchFamily="34" charset="-120"/>
              </a:rPr>
              <a:t>A write lands and the cached answer updates on its own.</a:t>
            </a:r>
            <a:endParaRPr lang="en-US" sz="1700" dirty="0"/>
          </a:p>
        </p:txBody>
      </p:sp>
      <p:sp>
        <p:nvSpPr>
          <p:cNvPr id="14" name="Shape 12"/>
          <p:cNvSpPr/>
          <p:nvPr/>
        </p:nvSpPr>
        <p:spPr>
          <a:xfrm>
            <a:off x="548640" y="5577840"/>
            <a:ext cx="548640" cy="0"/>
          </a:xfrm>
          <a:prstGeom prst="line">
            <a:avLst/>
          </a:prstGeom>
          <a:noFill/>
          <a:ln w="25400">
            <a:solidFill>
              <a:srgbClr val="E5472F"/>
            </a:solidFill>
            <a:prstDash val="solid"/>
          </a:ln>
        </p:spPr>
        <p:txBody>
          <a:bodyPr/>
          <a:lstStyle/>
          <a:p>
            <a:endParaRPr lang="en-US"/>
          </a:p>
        </p:txBody>
      </p:sp>
      <p:sp>
        <p:nvSpPr>
          <p:cNvPr id="15" name="Text 13"/>
          <p:cNvSpPr txBox="1"/>
          <p:nvPr/>
        </p:nvSpPr>
        <p:spPr>
          <a:xfrm>
            <a:off x="548640" y="5650992"/>
            <a:ext cx="54864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Vini · Readyset</a:t>
            </a:r>
            <a:endParaRPr lang="en-US" sz="1400" dirty="0"/>
          </a:p>
        </p:txBody>
      </p:sp>
      <p:pic>
        <p:nvPicPr>
          <p:cNvPr id="16" name="Picture 15" descr="user_logo_white_trim.png"/>
          <p:cNvPicPr>
            <a:picLocks noChangeAspect="1"/>
          </p:cNvPicPr>
          <p:nvPr/>
        </p:nvPicPr>
        <p:blipFill>
          <a:blip r:embed="rId3"/>
          <a:stretch>
            <a:fillRect/>
          </a:stretch>
        </p:blipFill>
        <p:spPr>
          <a:xfrm>
            <a:off x="548640" y="6364224"/>
            <a:ext cx="1016485" cy="2194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D913A38-BD22-23F1-15C1-0BE0BDC5C042}"/>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CCE5E16E-466D-E538-F0D8-DD5DEF2C0EF8}"/>
              </a:ext>
            </a:extLst>
          </p:cNvPr>
          <p:cNvSpPr txBox="1"/>
          <p:nvPr/>
        </p:nvSpPr>
        <p:spPr>
          <a:xfrm>
            <a:off x="548640" y="1097280"/>
            <a:ext cx="10515600" cy="1737360"/>
          </a:xfrm>
          <a:prstGeom prst="rect">
            <a:avLst/>
          </a:prstGeom>
          <a:noFill/>
          <a:ln/>
        </p:spPr>
        <p:txBody>
          <a:bodyPr wrap="square" lIns="0" tIns="0" rIns="0" bIns="0" rtlCol="0" anchor="t"/>
          <a:lstStyle/>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Don’t miss our next session at 11:10</a:t>
            </a:r>
            <a:endParaRPr lang="en-US" sz="4000" dirty="0"/>
          </a:p>
        </p:txBody>
      </p:sp>
      <p:sp>
        <p:nvSpPr>
          <p:cNvPr id="14" name="Shape 12">
            <a:extLst>
              <a:ext uri="{FF2B5EF4-FFF2-40B4-BE49-F238E27FC236}">
                <a16:creationId xmlns:a16="http://schemas.microsoft.com/office/drawing/2014/main" id="{4FF88136-2310-5729-F18A-09DF635391C3}"/>
              </a:ext>
            </a:extLst>
          </p:cNvPr>
          <p:cNvSpPr/>
          <p:nvPr/>
        </p:nvSpPr>
        <p:spPr>
          <a:xfrm>
            <a:off x="548640" y="5577840"/>
            <a:ext cx="548640" cy="0"/>
          </a:xfrm>
          <a:prstGeom prst="line">
            <a:avLst/>
          </a:prstGeom>
          <a:noFill/>
          <a:ln w="25400">
            <a:solidFill>
              <a:srgbClr val="E5472F"/>
            </a:solidFill>
            <a:prstDash val="solid"/>
          </a:ln>
        </p:spPr>
        <p:txBody>
          <a:bodyPr/>
          <a:lstStyle/>
          <a:p>
            <a:endParaRPr lang="en-US"/>
          </a:p>
        </p:txBody>
      </p:sp>
      <p:pic>
        <p:nvPicPr>
          <p:cNvPr id="16" name="Picture 15" descr="user_logo_white_trim.png">
            <a:extLst>
              <a:ext uri="{FF2B5EF4-FFF2-40B4-BE49-F238E27FC236}">
                <a16:creationId xmlns:a16="http://schemas.microsoft.com/office/drawing/2014/main" id="{3BAD74D0-2FFE-535C-D2C0-5024308AF85C}"/>
              </a:ext>
            </a:extLst>
          </p:cNvPr>
          <p:cNvPicPr>
            <a:picLocks noChangeAspect="1"/>
          </p:cNvPicPr>
          <p:nvPr/>
        </p:nvPicPr>
        <p:blipFill>
          <a:blip r:embed="rId3"/>
          <a:stretch>
            <a:fillRect/>
          </a:stretch>
        </p:blipFill>
        <p:spPr>
          <a:xfrm>
            <a:off x="548640" y="6364224"/>
            <a:ext cx="1016485" cy="219456"/>
          </a:xfrm>
          <a:prstGeom prst="rect">
            <a:avLst/>
          </a:prstGeom>
        </p:spPr>
      </p:pic>
      <p:sp>
        <p:nvSpPr>
          <p:cNvPr id="2" name="Slide title">
            <a:extLst>
              <a:ext uri="{FF2B5EF4-FFF2-40B4-BE49-F238E27FC236}">
                <a16:creationId xmlns:a16="http://schemas.microsoft.com/office/drawing/2014/main" id="{DA0A3964-C273-F4B4-63FA-AB5BDC73A905}"/>
              </a:ext>
            </a:extLst>
          </p:cNvPr>
          <p:cNvSpPr>
            <a:spLocks noGrp="1"/>
          </p:cNvSpPr>
          <p:nvPr/>
        </p:nvSpPr>
        <p:spPr>
          <a:xfrm>
            <a:off x="2247900" y="2851786"/>
            <a:ext cx="8191500" cy="1000125"/>
          </a:xfrm>
          <a:prstGeom prst="rect">
            <a:avLst/>
          </a:prstGeom>
          <a:noFill/>
          <a:ln w="0">
            <a:noFill/>
          </a:ln>
        </p:spPr>
        <p:txBody>
          <a:bodyPr wrap="none" lIns="0" tIns="0" rIns="0" bIns="0">
            <a:noAutofit/>
          </a:bodyPr>
          <a:lstStyle/>
          <a:p>
            <a:pPr>
              <a:lnSpc>
                <a:spcPct val="110000"/>
              </a:lnSpc>
              <a:buNone/>
              <a:defRPr sz="6000" b="1">
                <a:solidFill>
                  <a:srgbClr val="EDEDEC"/>
                </a:solidFill>
                <a:latin typeface="Arial"/>
                <a:ea typeface="Arial"/>
                <a:cs typeface="Arial"/>
              </a:defRPr>
            </a:pPr>
            <a:r>
              <a:rPr lang="en-US" sz="3600" b="1" dirty="0">
                <a:solidFill>
                  <a:srgbClr val="EDEDEC"/>
                </a:solidFill>
                <a:latin typeface="Arial"/>
                <a:ea typeface="Arial"/>
                <a:cs typeface="Arial"/>
              </a:rPr>
              <a:t>Too Much ACID, Not Enough Reality</a:t>
            </a:r>
            <a:endParaRPr sz="3600" b="1" dirty="0">
              <a:solidFill>
                <a:srgbClr val="EDEDEC"/>
              </a:solidFill>
              <a:latin typeface="Arial"/>
              <a:ea typeface="Arial"/>
              <a:cs typeface="Arial"/>
            </a:endParaRPr>
          </a:p>
        </p:txBody>
      </p:sp>
      <p:sp>
        <p:nvSpPr>
          <p:cNvPr id="3" name="text-1">
            <a:extLst>
              <a:ext uri="{FF2B5EF4-FFF2-40B4-BE49-F238E27FC236}">
                <a16:creationId xmlns:a16="http://schemas.microsoft.com/office/drawing/2014/main" id="{82210C00-DA19-1B4B-F27F-9C949E34A8BA}"/>
              </a:ext>
            </a:extLst>
          </p:cNvPr>
          <p:cNvSpPr>
            <a:spLocks noGrp="1"/>
          </p:cNvSpPr>
          <p:nvPr/>
        </p:nvSpPr>
        <p:spPr>
          <a:xfrm>
            <a:off x="2286000" y="4023361"/>
            <a:ext cx="7620000" cy="352901"/>
          </a:xfrm>
          <a:prstGeom prst="rect">
            <a:avLst/>
          </a:prstGeom>
          <a:noFill/>
          <a:ln w="0">
            <a:noFill/>
          </a:ln>
        </p:spPr>
        <p:txBody>
          <a:bodyPr wrap="none" lIns="0" tIns="0" rIns="0" bIns="0">
            <a:noAutofit/>
          </a:bodyPr>
          <a:lstStyle/>
          <a:p>
            <a:pPr algn="ctr"/>
            <a:r>
              <a:rPr lang="en-US" sz="2400" dirty="0">
                <a:solidFill>
                  <a:srgbClr val="888888"/>
                </a:solidFill>
                <a:latin typeface="Urbanist"/>
              </a:rPr>
              <a:t>A guided tour of what your SELECT thinks happened.</a:t>
            </a:r>
            <a:endParaRPr lang="en-BR" sz="2400" b="0" dirty="0">
              <a:effectLst/>
            </a:endParaRPr>
          </a:p>
        </p:txBody>
      </p:sp>
    </p:spTree>
    <p:extLst>
      <p:ext uri="{BB962C8B-B14F-4D97-AF65-F5344CB8AC3E}">
        <p14:creationId xmlns:p14="http://schemas.microsoft.com/office/powerpoint/2010/main" val="175992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5" name="Text 3"/>
          <p:cNvSpPr txBox="1"/>
          <p:nvPr/>
        </p:nvSpPr>
        <p:spPr>
          <a:xfrm>
            <a:off x="548640" y="438912"/>
            <a:ext cx="11094415" cy="274320"/>
          </a:xfrm>
          <a:prstGeom prst="rect">
            <a:avLst/>
          </a:prstGeom>
          <a:noFill/>
          <a:ln/>
        </p:spPr>
        <p:txBody>
          <a:bodyPr wrap="square" lIns="0" tIns="0" rIns="0" bIns="0" rtlCol="0" anchor="ctr"/>
          <a:lstStyle/>
          <a:p>
            <a:pPr marL="0" indent="0">
              <a:buNone/>
            </a:pPr>
            <a:r>
              <a:rPr lang="en-US" sz="1100" dirty="0">
                <a:solidFill>
                  <a:srgbClr val="E5472F"/>
                </a:solidFill>
                <a:latin typeface="Courier New" pitchFamily="34" charset="0"/>
                <a:ea typeface="Courier New" pitchFamily="34" charset="-122"/>
                <a:cs typeface="Courier New" pitchFamily="34" charset="-120"/>
              </a:rPr>
              <a:t>— references</a:t>
            </a:r>
            <a:endParaRPr lang="en-US" sz="1100" dirty="0"/>
          </a:p>
        </p:txBody>
      </p:sp>
      <p:sp>
        <p:nvSpPr>
          <p:cNvPr id="6" name="Text 4"/>
          <p:cNvSpPr txBox="1"/>
          <p:nvPr/>
        </p:nvSpPr>
        <p:spPr>
          <a:xfrm>
            <a:off x="548640" y="731520"/>
            <a:ext cx="11094415" cy="685800"/>
          </a:xfrm>
          <a:prstGeom prst="rect">
            <a:avLst/>
          </a:prstGeom>
          <a:noFill/>
          <a:ln/>
        </p:spPr>
        <p:txBody>
          <a:bodyPr wrap="square" lIns="0" tIns="0" rIns="0" bIns="0" rtlCol="0" anchor="t"/>
          <a:lstStyle/>
          <a:p>
            <a:pPr marL="0" indent="0">
              <a:lnSpc>
                <a:spcPct val="105000"/>
              </a:lnSpc>
              <a:buNone/>
            </a:pPr>
            <a:r>
              <a:rPr lang="en-US" sz="3400" b="1" dirty="0">
                <a:solidFill>
                  <a:srgbClr val="141414"/>
                </a:solidFill>
                <a:latin typeface="Arial" pitchFamily="34" charset="0"/>
                <a:ea typeface="Arial" pitchFamily="34" charset="-122"/>
                <a:cs typeface="Arial" pitchFamily="34" charset="-120"/>
              </a:rPr>
              <a:t>References</a:t>
            </a:r>
            <a:endParaRPr lang="en-US" sz="3400" dirty="0"/>
          </a:p>
        </p:txBody>
      </p:sp>
      <p:sp>
        <p:nvSpPr>
          <p:cNvPr id="7" name="Shape 5"/>
          <p:cNvSpPr/>
          <p:nvPr/>
        </p:nvSpPr>
        <p:spPr>
          <a:xfrm>
            <a:off x="548640" y="1463040"/>
            <a:ext cx="11094415" cy="0"/>
          </a:xfrm>
          <a:prstGeom prst="line">
            <a:avLst/>
          </a:prstGeom>
          <a:noFill/>
          <a:ln w="9525">
            <a:solidFill>
              <a:srgbClr val="141414"/>
            </a:solidFill>
            <a:prstDash val="solid"/>
          </a:ln>
        </p:spPr>
        <p:txBody>
          <a:bodyPr/>
          <a:lstStyle/>
          <a:p>
            <a:endParaRPr lang="en-US"/>
          </a:p>
        </p:txBody>
      </p:sp>
      <p:sp>
        <p:nvSpPr>
          <p:cNvPr id="8" name="Text 6"/>
          <p:cNvSpPr txBox="1"/>
          <p:nvPr/>
        </p:nvSpPr>
        <p:spPr>
          <a:xfrm>
            <a:off x="548640" y="1645920"/>
            <a:ext cx="11094415" cy="4206240"/>
          </a:xfrm>
          <a:prstGeom prst="rect">
            <a:avLst/>
          </a:prstGeom>
          <a:noFill/>
          <a:ln/>
        </p:spPr>
        <p:txBody>
          <a:bodyPr wrap="square" lIns="0" tIns="0" rIns="0" bIns="0" rtlCol="0" anchor="t"/>
          <a:lstStyle/>
          <a:p>
            <a:pPr marL="0" indent="0">
              <a:lnSpc>
                <a:spcPct val="135000"/>
              </a:lnSpc>
              <a:buNone/>
            </a:pPr>
            <a:r>
              <a:rPr lang="en-US" sz="900" dirty="0">
                <a:solidFill>
                  <a:srgbClr val="141414"/>
                </a:solidFill>
                <a:latin typeface="Courier New" pitchFamily="34" charset="0"/>
                <a:ea typeface="Courier New" pitchFamily="34" charset="-122"/>
                <a:cs typeface="Courier New" pitchFamily="34" charset="-120"/>
              </a:rPr>
              <a:t>[1]  R. Nishtala et al., “Scaling Memcache at Facebook”, USENIX NSDI, 2013.
[2]  Futurum Group &amp; ScyllaDB, “New Research on Cloud Database Trends: Technical Risks, Cost Pressures, and Migration Triggers”, 12 May 2026. scylladb.com/2026/05/12/new-research-on-cloud-database-trends/
[3]  Amazon Web Services, Amazon RDS User Guide — “Working with DB instance read replicas”. docs.aws.amazon.com/AmazonRDS/latest/UserGuide/USER_ReadRepl.html
[4]  TrendForce, DRAM contract price report, 1 Jun 2026. trendforce.com/presscenter/news/20260601-13070.html
[5]  TrendForce, “AI Server Demand to Drive Memory Contract Price Increases in 2Q26…”, 31 Mar 2026. trendforce.com/presscenter/news/20260331-12995.html
[6]  The Register, “Hetzner 50% price hike…”, 24 Feb 2026; The Register on OVHcloud increases, 24 Nov 2025.
[7]  M. K. Shehzad, “The network footprint of replication in popular DBMSs”, arXiv:2008.05164, 2020.
[8]  MySQL Server source history, commit 1d26537 (2 Dec 2001), via M. Altmann, “What happened to the MySQL Query Cache?”, Percona Live Amsterdam, 11 Sep 2026.
[9]  M. Lord, “MySQL 8.0: Retiring Support for the Query Cache”, MySQL Server Blog, 30 May 2017. dev.mysql.com/blog-archive/mysql-8-0-retiring-support-for-the-query-cache/
[10] Readyset, “Nobody Wants a Cache: Introducing the Readyset Platform”, 21 Jul 2026. readyset.io/blog/nobody-wants-a-cache
[11] Readyset Docs, “Automatic Shallow Caching”. readyset.io/docs/concepts/shallow-caching/auto-caching
[12] M. Altmann, “What happened to the MySQL Query Cache?”, Percona Live Amsterdam, 11 Sep 2026.
[13] J. Gjengset, M. Schwarzkopf, J. Behrens, L. T. Araújo, M. Ek, E. Kohler, M. F. Kaashoek, R. Morris, “Noria: dynamic, partially-stateful data-flow for high-performance web applications”, USENIX OSDI, 2018.
[14] A. Gupta, I. S. Mumick, “Maintenance of Materialized Views: Problems, Techniques, and Applications”, IEEE Data Engineering Bulletin 18(2), 1995.
[15] Readyset Engineering, “Measuring the Maximum Query Throughput of a Single Readyset Node”, measured 14 Aug 2026. readyset.io/case-studies/how-we-reached-43-million-qps-for-mysql-and-postgresql-workloads-on-a-single-readyset-node
[16] T. Sinha, “Beyond Read Replicas: Introducing QueryPilot for MySQL Scaling”, MySQL Brazil, São Paulo, 4 Oct 2025.
[17] Counterpoint Research, Memory Tracker, 29 Jun 2026; reported in TechTimes, “More Than Half of DRAM Now Goes to Data Centers”, 1 Jul 2026.
[18] Bloomberg, “SK Hynix Sells Full 2026 Chip Slate in Strong AI Demand Sign”, 28 Oct 2025; Bloomberg, “SK Hynix CEO Expects Memory Crunch to Last Beyond 2030”, 10 Jul 2026.
[19] The Register, “AWS raises GPU prices 15% on a Saturday”, 5 Jan 2026; Computing, “AWS raises AI cloud compute prices again as memory shortage deepens”, Jul 2026 (speaker notes, slide 4).</a:t>
            </a:r>
            <a:endParaRPr lang="en-US" sz="900" dirty="0"/>
          </a:p>
        </p:txBody>
      </p:sp>
      <p:pic>
        <p:nvPicPr>
          <p:cNvPr id="9" name="Picture 8" descr="user_logo_trim.png"/>
          <p:cNvPicPr>
            <a:picLocks noChangeAspect="1"/>
          </p:cNvPicPr>
          <p:nvPr/>
        </p:nvPicPr>
        <p:blipFill>
          <a:blip r:embed="rId2"/>
          <a:stretch>
            <a:fillRect/>
          </a:stretch>
        </p:blipFill>
        <p:spPr>
          <a:xfrm>
            <a:off x="548640" y="6364224"/>
            <a:ext cx="1016485" cy="2194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6321</Words>
  <Application>Microsoft Macintosh PowerPoint</Application>
  <PresentationFormat>Widescreen</PresentationFormat>
  <Paragraphs>402</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Courier New</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Invisible Cache</dc:title>
  <dc:subject>PptxGenJS Presentation</dc:subject>
  <dc:creator>Tanmay Sinha</dc:creator>
  <cp:lastModifiedBy>Tanmay Sinha</cp:lastModifiedBy>
  <cp:revision>8</cp:revision>
  <dcterms:created xsi:type="dcterms:W3CDTF">2026-09-22T14:07:18Z</dcterms:created>
  <dcterms:modified xsi:type="dcterms:W3CDTF">2026-09-25T22:31:54Z</dcterms:modified>
</cp:coreProperties>
</file>