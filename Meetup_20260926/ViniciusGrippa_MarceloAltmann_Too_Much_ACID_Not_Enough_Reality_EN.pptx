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90" r:id="rId3"/>
    <p:sldId id="257" r:id="rId4"/>
    <p:sldId id="294" r:id="rId5"/>
    <p:sldId id="259" r:id="rId6"/>
    <p:sldId id="293" r:id="rId7"/>
    <p:sldId id="291" r:id="rId8"/>
    <p:sldId id="292" r:id="rId9"/>
    <p:sldId id="260" r:id="rId10"/>
    <p:sldId id="295" r:id="rId11"/>
    <p:sldId id="296" r:id="rId12"/>
    <p:sldId id="297" r:id="rId13"/>
    <p:sldId id="298" r:id="rId14"/>
    <p:sldId id="299" r:id="rId15"/>
    <p:sldId id="265" r:id="rId16"/>
    <p:sldId id="268" r:id="rId17"/>
    <p:sldId id="269" r:id="rId18"/>
    <p:sldId id="270" r:id="rId19"/>
    <p:sldId id="300" r:id="rId20"/>
    <p:sldId id="302" r:id="rId21"/>
    <p:sldId id="304" r:id="rId22"/>
    <p:sldId id="306" r:id="rId23"/>
    <p:sldId id="307" r:id="rId24"/>
    <p:sldId id="305" r:id="rId25"/>
    <p:sldId id="308" r:id="rId26"/>
    <p:sldId id="309" r:id="rId27"/>
    <p:sldId id="310" r:id="rId28"/>
    <p:sldId id="311" r:id="rId29"/>
    <p:sldId id="312" r:id="rId30"/>
    <p:sldId id="313" r:id="rId31"/>
    <p:sldId id="314" r:id="rId32"/>
    <p:sldId id="1001" r:id="rId33"/>
    <p:sldId id="1002" r:id="rId34"/>
    <p:sldId id="1003" r:id="rId35"/>
    <p:sldId id="1004" r:id="rId36"/>
    <p:sldId id="1006" r:id="rId37"/>
    <p:sldId id="1008" r:id="rId38"/>
    <p:sldId id="315" r:id="rId39"/>
    <p:sldId id="316" r:id="rId40"/>
    <p:sldId id="317" r:id="rId41"/>
    <p:sldId id="289" r:id="rId42"/>
  </p:sldIdLst>
  <p:sldSz cx="9144000" cy="5143500" type="screen16x9"/>
  <p:notesSz cx="6858000" cy="9144000"/>
  <p:defaultTextStyle>
    <a:defPPr>
      <a:defRPr lang="en-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330D6-3F49-9185-78A6-001DFB547E59}" v="16" dt="2026-09-25T13:19:00.546"/>
    <p1510:client id="{5938E318-F965-0C46-A466-6260FA19D97B}" v="153" dt="2026-09-25T13:45:58.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60"/>
    <p:restoredTop sz="94658"/>
  </p:normalViewPr>
  <p:slideViewPr>
    <p:cSldViewPr snapToGrid="0">
      <p:cViewPr varScale="1">
        <p:scale>
          <a:sx n="131" d="100"/>
          <a:sy n="131" d="100"/>
        </p:scale>
        <p:origin x="184"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35 min slot. Content runs to 30:42, Q&amp;A from there.</a:t>
            </a:r>
          </a:p>
          <a:p>
            <a:r>
              <a:rPr dirty="0"/>
              <a:t>Technical evidence from original slide:</a:t>
            </a:r>
          </a:p>
          <a:p>
            <a:r>
              <a:rPr dirty="0"/>
              <a:t>Diluted ACID</a:t>
            </a:r>
          </a:p>
          <a:p>
            <a:endParaRPr dirty="0"/>
          </a:p>
          <a:p>
            <a:r>
              <a:rPr dirty="0"/>
              <a:t>What your SELECT actually returns  ·  MySQL </a:t>
            </a:r>
            <a:r>
              <a:rPr dirty="0" err="1"/>
              <a:t>BRConf</a:t>
            </a:r>
            <a:r>
              <a:rPr dirty="0"/>
              <a:t> 2026</a:t>
            </a:r>
          </a:p>
          <a:p>
            <a:endParaRPr dirty="0"/>
          </a:p>
          <a:p>
            <a:r>
              <a:rPr dirty="0"/>
              <a:t>Vinicius Grippa  ·  Lead Database Engineer  ·  </a:t>
            </a:r>
            <a:r>
              <a:rPr dirty="0" err="1"/>
              <a:t>Behaviour</a:t>
            </a:r>
            <a:r>
              <a:rPr dirty="0"/>
              <a:t> verified against MySQL 9.7 LTS, commit 845d525d49c  ·  Bench on MySQL 8.4</a:t>
            </a:r>
          </a:p>
          <a:p>
            <a:r>
              <a:rPr dirty="0"/>
              <a:t>Brand assets and palette: https://</a:t>
            </a:r>
            <a:r>
              <a:rPr dirty="0" err="1"/>
              <a:t>readyset.io</a:t>
            </a:r>
            <a:r>
              <a:rPr dirty="0"/>
              <a:t>/ ; glyphs: https://</a:t>
            </a:r>
            <a:r>
              <a:rPr dirty="0" err="1"/>
              <a:t>readyset.io</a:t>
            </a:r>
            <a:r>
              <a:rPr dirty="0"/>
              <a:t>/icons/sprite-</a:t>
            </a:r>
            <a:r>
              <a:rPr dirty="0" err="1"/>
              <a:t>bulk.svg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a85691b02d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3a85691b02d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 name="Google Shape;2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 name="Google Shape;2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Technical detail retained from original presentation:</a:t>
            </a:r>
          </a:p>
          <a:p>
            <a:r>
              <a:t>Original slide 3:</a:t>
            </a:r>
          </a:p>
          <a:p>
            <a:r>
              <a:t>Three questions, answered with numbers</a:t>
            </a:r>
          </a:p>
          <a:p>
            <a:endParaRPr/>
          </a:p>
          <a:p>
            <a:r>
              <a:t>How far behind is your read already, measured against the source itself?</a:t>
            </a:r>
          </a:p>
          <a:p>
            <a:endParaRPr/>
          </a:p>
          <a:p>
            <a:r>
              <a:t>What does a replica add on top of that?</a:t>
            </a:r>
          </a:p>
          <a:p>
            <a:endParaRPr/>
          </a:p>
          <a:p>
            <a:r>
              <a:t>What changes when the read stops executing the query at all?</a:t>
            </a:r>
          </a:p>
          <a:p>
            <a:endParaRPr/>
          </a:p>
          <a:p>
            <a:r>
              <a:t>Method: every behaviour claim carries a file.cc:line from the MySQL source. Every number carries the result file it came from. Where a measurement was wrong, the correction is in the deck.</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r>
              <a:rPr dirty="0"/>
              <a:t>Technical evidence from original slide:</a:t>
            </a:r>
          </a:p>
          <a:p>
            <a:r>
              <a:rPr dirty="0"/>
              <a:t>01</a:t>
            </a:r>
          </a:p>
          <a:p>
            <a:endParaRPr dirty="0"/>
          </a:p>
          <a:p>
            <a:r>
              <a:rPr dirty="0"/>
              <a:t>ACID</a:t>
            </a:r>
          </a:p>
          <a:p>
            <a:endParaRPr dirty="0"/>
          </a:p>
          <a:p>
            <a:r>
              <a:rPr dirty="0"/>
              <a:t>What each letter guarantees in </a:t>
            </a:r>
            <a:r>
              <a:rPr dirty="0" err="1"/>
              <a:t>InnoDB</a:t>
            </a:r>
            <a:r>
              <a:rPr dirty="0"/>
              <a:t>, and where the guarantee ends</a:t>
            </a:r>
          </a:p>
          <a:p>
            <a:r>
              <a:rPr dirty="0"/>
              <a:t>Brand assets and palette: https://</a:t>
            </a:r>
            <a:r>
              <a:rPr dirty="0" err="1"/>
              <a:t>readyset.io</a:t>
            </a:r>
            <a:r>
              <a:rPr dirty="0"/>
              <a:t>/ ; glyphs: https://</a:t>
            </a:r>
            <a:r>
              <a:rPr dirty="0" err="1"/>
              <a:t>readyset.io</a:t>
            </a:r>
            <a:r>
              <a:rPr dirty="0"/>
              <a:t>/icons/sprite-</a:t>
            </a:r>
            <a:r>
              <a:rPr dirty="0" err="1"/>
              <a:t>bulk.svg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FC3F4-8976-9D7F-34D9-AC56E32E0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CFF62-A6A1-054A-5989-143F9DC08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B098A-85D7-B2FE-06F6-63587DC6767B}"/>
              </a:ext>
            </a:extLst>
          </p:cNvPr>
          <p:cNvSpPr>
            <a:spLocks noGrp="1"/>
          </p:cNvSpPr>
          <p:nvPr>
            <p:ph type="body" idx="1"/>
          </p:nvPr>
        </p:nvSpPr>
        <p:spPr/>
        <p:txBody>
          <a:bodyPr/>
          <a:lstStyle/>
          <a:p>
            <a:r>
              <a:rPr dirty="0"/>
              <a:t>Explain each property using the same transfer example. Atomicity: debit Alice and credit Bob in one transaction; if the operation cannot complete, roll back the transaction. A statement error does not necessarily roll back the entire MySQL transaction automatically. Consistency: the transaction must preserve valid state and obey declared constraints; application-only business rules require application logic. Isolation: controls concurrent visibility and locking. Serial execution is the ideal of SERIALIZABLE, not a blanket promise of every isolation level. Durability: a successful durable commit survives a crash or power loss, subject to log flush settings and storage guarantees. Replication and backups are separate concerns.</a:t>
            </a:r>
          </a:p>
          <a:p>
            <a:endParaRPr dirty="0"/>
          </a:p>
          <a:p>
            <a:r>
              <a:rPr dirty="0"/>
              <a:t>Original introduction retained for the presenter:</a:t>
            </a:r>
          </a:p>
          <a:p>
            <a:r>
              <a:rPr dirty="0"/>
              <a:t>Three questions, answered with numbers</a:t>
            </a:r>
          </a:p>
          <a:p>
            <a:endParaRPr dirty="0"/>
          </a:p>
          <a:p>
            <a:r>
              <a:rPr dirty="0"/>
              <a:t>How far behind is your read already, measured against the source itself?</a:t>
            </a:r>
          </a:p>
          <a:p>
            <a:endParaRPr dirty="0"/>
          </a:p>
          <a:p>
            <a:r>
              <a:rPr dirty="0"/>
              <a:t>What does a replica add on top of that?</a:t>
            </a:r>
          </a:p>
          <a:p>
            <a:endParaRPr dirty="0"/>
          </a:p>
          <a:p>
            <a:r>
              <a:rPr dirty="0"/>
              <a:t>What changes when the read stops executing the query at all?</a:t>
            </a:r>
          </a:p>
          <a:p>
            <a:endParaRPr dirty="0"/>
          </a:p>
          <a:p>
            <a:r>
              <a:rPr dirty="0"/>
              <a:t>Method: every </a:t>
            </a:r>
            <a:r>
              <a:rPr dirty="0" err="1"/>
              <a:t>behaviour</a:t>
            </a:r>
            <a:r>
              <a:rPr dirty="0"/>
              <a:t> claim carries a </a:t>
            </a:r>
            <a:r>
              <a:rPr dirty="0" err="1"/>
              <a:t>file.cc:line</a:t>
            </a:r>
            <a:r>
              <a:rPr dirty="0"/>
              <a:t> from the MySQL source. Every number carries the result file it came from. Where a measurement was wrong, the correction is in the deck.</a:t>
            </a:r>
          </a:p>
          <a:p>
            <a:r>
              <a:rPr dirty="0"/>
              <a:t>Brand assets: https://</a:t>
            </a:r>
            <a:r>
              <a:rPr dirty="0" err="1"/>
              <a:t>readyset.io</a:t>
            </a:r>
            <a:r>
              <a:rPr dirty="0"/>
              <a:t>/</a:t>
            </a:r>
          </a:p>
        </p:txBody>
      </p:sp>
      <p:sp>
        <p:nvSpPr>
          <p:cNvPr id="4" name="Slide Number Placeholder 3">
            <a:extLst>
              <a:ext uri="{FF2B5EF4-FFF2-40B4-BE49-F238E27FC236}">
                <a16:creationId xmlns:a16="http://schemas.microsoft.com/office/drawing/2014/main" id="{AA93C60F-2B1B-7269-5F99-43BCD62DF47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330351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4069C-92A7-CC91-205A-E4C3F74DE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C3EDE-A529-4E93-6FD6-F2813563E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0B482-B166-AC08-13A9-C68425C29BDA}"/>
              </a:ext>
            </a:extLst>
          </p:cNvPr>
          <p:cNvSpPr>
            <a:spLocks noGrp="1"/>
          </p:cNvSpPr>
          <p:nvPr>
            <p:ph type="body" idx="1"/>
          </p:nvPr>
        </p:nvSpPr>
        <p:spPr/>
        <p:txBody>
          <a:bodyPr/>
          <a:lstStyle/>
          <a:p>
            <a:endParaRPr dirty="0"/>
          </a:p>
          <a:p>
            <a:r>
              <a:rPr dirty="0"/>
              <a:t>Technical evidence from original slide:</a:t>
            </a:r>
          </a:p>
          <a:p>
            <a:r>
              <a:rPr dirty="0"/>
              <a:t>01</a:t>
            </a:r>
          </a:p>
          <a:p>
            <a:endParaRPr dirty="0"/>
          </a:p>
          <a:p>
            <a:r>
              <a:rPr dirty="0"/>
              <a:t>ACID</a:t>
            </a:r>
          </a:p>
          <a:p>
            <a:endParaRPr dirty="0"/>
          </a:p>
          <a:p>
            <a:r>
              <a:rPr dirty="0"/>
              <a:t>What each letter guarantees in </a:t>
            </a:r>
            <a:r>
              <a:rPr dirty="0" err="1"/>
              <a:t>InnoDB</a:t>
            </a:r>
            <a:r>
              <a:rPr dirty="0"/>
              <a:t>, and where the guarantee ends</a:t>
            </a:r>
          </a:p>
          <a:p>
            <a:r>
              <a:rPr dirty="0"/>
              <a:t>Brand assets and palette: https://</a:t>
            </a:r>
            <a:r>
              <a:rPr dirty="0" err="1"/>
              <a:t>readyset.io</a:t>
            </a:r>
            <a:r>
              <a:rPr dirty="0"/>
              <a:t>/ ; glyphs: https://</a:t>
            </a:r>
            <a:r>
              <a:rPr dirty="0" err="1"/>
              <a:t>readyset.io</a:t>
            </a:r>
            <a:r>
              <a:rPr dirty="0"/>
              <a:t>/icons/sprite-</a:t>
            </a:r>
            <a:r>
              <a:rPr dirty="0" err="1"/>
              <a:t>bulk.svg</a:t>
            </a:r>
            <a:endParaRPr dirty="0"/>
          </a:p>
        </p:txBody>
      </p:sp>
      <p:sp>
        <p:nvSpPr>
          <p:cNvPr id="4" name="Slide Number Placeholder 3">
            <a:extLst>
              <a:ext uri="{FF2B5EF4-FFF2-40B4-BE49-F238E27FC236}">
                <a16:creationId xmlns:a16="http://schemas.microsoft.com/office/drawing/2014/main" id="{A3A7DAC3-BFF1-F519-8B2E-416D7446375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6126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each property using the same transfer example. Atomicity: debit Alice and credit Bob in one transaction; if the operation cannot complete, roll back the transaction. A statement error does not necessarily roll back the entire MySQL transaction automatically. Consistency: the transaction must preserve valid state and obey declared constraints; application-only business rules require application logic. Isolation: controls concurrent visibility and locking. Serial execution is the ideal of SERIALIZABLE, not a blanket promise of every isolation level. Durability: a successful durable commit survives a crash or power loss, subject to log flush settings and storage guarantees. Replication and backups are separate concerns.</a:t>
            </a:r>
          </a:p>
          <a:p>
            <a:endParaRPr dirty="0"/>
          </a:p>
          <a:p>
            <a:r>
              <a:rPr dirty="0"/>
              <a:t>Original introduction retained for the presenter:</a:t>
            </a:r>
          </a:p>
          <a:p>
            <a:r>
              <a:rPr dirty="0"/>
              <a:t>Three questions, answered with numbers</a:t>
            </a:r>
          </a:p>
          <a:p>
            <a:endParaRPr dirty="0"/>
          </a:p>
          <a:p>
            <a:r>
              <a:rPr dirty="0"/>
              <a:t>How far behind is your read already, measured against the source itself?</a:t>
            </a:r>
          </a:p>
          <a:p>
            <a:endParaRPr dirty="0"/>
          </a:p>
          <a:p>
            <a:r>
              <a:rPr dirty="0"/>
              <a:t>What does a replica add on top of that?</a:t>
            </a:r>
          </a:p>
          <a:p>
            <a:endParaRPr dirty="0"/>
          </a:p>
          <a:p>
            <a:r>
              <a:rPr dirty="0"/>
              <a:t>What changes when the read stops executing the query at all?</a:t>
            </a:r>
          </a:p>
          <a:p>
            <a:endParaRPr dirty="0"/>
          </a:p>
          <a:p>
            <a:r>
              <a:rPr dirty="0"/>
              <a:t>Method: every </a:t>
            </a:r>
            <a:r>
              <a:rPr dirty="0" err="1"/>
              <a:t>behaviour</a:t>
            </a:r>
            <a:r>
              <a:rPr dirty="0"/>
              <a:t> claim carries a </a:t>
            </a:r>
            <a:r>
              <a:rPr dirty="0" err="1"/>
              <a:t>file.cc:line</a:t>
            </a:r>
            <a:r>
              <a:rPr dirty="0"/>
              <a:t> from the MySQL source. Every number carries the result file it came from. Where a measurement was wrong, the correction is in the deck.</a:t>
            </a:r>
          </a:p>
          <a:p>
            <a:r>
              <a:rPr dirty="0"/>
              <a:t>Brand assets: https://</a:t>
            </a:r>
            <a:r>
              <a:rPr dirty="0" err="1"/>
              <a:t>readyset.io</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Illustrative transfer. A statement error alone does not necessarily roll back a whole MySQL transaction. The application rolls back when the transfer cannot complete. Undo supports rollback.</a:t>
            </a:r>
          </a:p>
          <a:p>
            <a:endParaRPr dirty="0"/>
          </a:p>
          <a:p>
            <a:r>
              <a:rPr dirty="0"/>
              <a:t>Technical detail retained from original presentation:</a:t>
            </a:r>
          </a:p>
          <a:p>
            <a:r>
              <a:rPr dirty="0"/>
              <a:t>Original slide 5:</a:t>
            </a:r>
          </a:p>
          <a:p>
            <a:r>
              <a:rPr dirty="0"/>
              <a:t>ACID, letter by letter, with the mechanism behind it</a:t>
            </a:r>
          </a:p>
          <a:p>
            <a:endParaRPr dirty="0"/>
          </a:p>
          <a:p>
            <a:r>
              <a:rPr dirty="0"/>
              <a:t>A  ·  Atomicity — the undo log. Rollback walks the same version chain a consistent read does (trx0roll.cc:708-712).</a:t>
            </a:r>
          </a:p>
          <a:p>
            <a:endParaRPr dirty="0"/>
          </a:p>
          <a:p>
            <a:r>
              <a:rPr dirty="0"/>
              <a:t>C  ·  Consistency — only what is declared: NOT NULL, CHECK, FOREIGN KEY (row0ins.cc:1412-1416). Nothing about freshness.</a:t>
            </a:r>
          </a:p>
          <a:p>
            <a:endParaRPr dirty="0"/>
          </a:p>
          <a:p>
            <a:r>
              <a:rPr dirty="0"/>
              <a:t>I  ·  Isolation — the read view and the lock manager (row0sel.cc:4833-4842 and :5226).</a:t>
            </a:r>
          </a:p>
          <a:p>
            <a:endParaRPr dirty="0"/>
          </a:p>
          <a:p>
            <a:r>
              <a:rPr dirty="0"/>
              <a:t>D  ·  Durability — redo log plus binary log (trx0trx.cc:1735-1750).</a:t>
            </a:r>
          </a:p>
          <a:p>
            <a:endParaRPr dirty="0"/>
          </a:p>
          <a:p>
            <a:r>
              <a:rPr dirty="0"/>
              <a:t>Default isolation level is REPEATABLE READ (sys_vars.cc:5058-5062).</a:t>
            </a:r>
          </a:p>
          <a:p>
            <a:endParaRPr dirty="0"/>
          </a:p>
          <a:p>
            <a:r>
              <a:rPr dirty="0"/>
              <a:t>Original slide 6:</a:t>
            </a:r>
          </a:p>
          <a:p>
            <a:r>
              <a:rPr dirty="0"/>
              <a:t>The undo log serves both A and I</a:t>
            </a:r>
          </a:p>
          <a:p>
            <a:endParaRPr dirty="0"/>
          </a:p>
          <a:p>
            <a:r>
              <a:rPr dirty="0" err="1"/>
              <a:t>row_sel_build_prev_vers_for_mysql</a:t>
            </a:r>
            <a:r>
              <a:rPr dirty="0"/>
              <a:t>() calls </a:t>
            </a:r>
            <a:r>
              <a:rPr dirty="0" err="1"/>
              <a:t>row_vers_build_for_consistent_read</a:t>
            </a:r>
            <a:r>
              <a:rPr dirty="0"/>
              <a:t>(), and returns DB_MISSING_HISTORY when the version it needs is gone (row0sel.cc:5336-5344, row0vers.cc:1249-1252).</a:t>
            </a:r>
          </a:p>
          <a:p>
            <a:endParaRPr dirty="0"/>
          </a:p>
          <a:p>
            <a:r>
              <a:rPr dirty="0"/>
              <a:t>Same structure, two jobs: undoing a transaction, and reconstructing the past for a reader.</a:t>
            </a:r>
          </a:p>
          <a:p>
            <a:endParaRPr dirty="0"/>
          </a:p>
          <a:p>
            <a:r>
              <a:rPr dirty="0"/>
              <a:t>Operational consequence: History list length grows because rollback and consistent read compete for the same chain.</a:t>
            </a:r>
          </a:p>
          <a:p>
            <a:r>
              <a:rPr dirty="0"/>
              <a:t>Brand: https://</a:t>
            </a:r>
            <a:r>
              <a:rPr dirty="0" err="1"/>
              <a:t>readyset.io</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Illustrative declared CHECK(balance &gt;= 0). Database constraints do not implement every business rule. FK checks can take shared locks. Freshness is a separate concern.</a:t>
            </a:r>
          </a:p>
          <a:p>
            <a:endParaRPr dirty="0"/>
          </a:p>
          <a:p>
            <a:r>
              <a:rPr dirty="0"/>
              <a:t>Technical detail retained from original presentation:</a:t>
            </a:r>
          </a:p>
          <a:p>
            <a:r>
              <a:rPr dirty="0"/>
              <a:t>Original slide 5:</a:t>
            </a:r>
          </a:p>
          <a:p>
            <a:r>
              <a:rPr dirty="0"/>
              <a:t>ACID, letter by letter, with the mechanism behind it</a:t>
            </a:r>
          </a:p>
          <a:p>
            <a:endParaRPr dirty="0"/>
          </a:p>
          <a:p>
            <a:r>
              <a:rPr dirty="0"/>
              <a:t>A  ·  Atomicity — the undo log. Rollback walks the same version chain a consistent read does (trx0roll.cc:708-712).</a:t>
            </a:r>
          </a:p>
          <a:p>
            <a:endParaRPr dirty="0"/>
          </a:p>
          <a:p>
            <a:r>
              <a:rPr dirty="0"/>
              <a:t>C  ·  Consistency — only what is declared: NOT NULL, CHECK, FOREIGN KEY (row0ins.cc:1412-1416). Nothing about freshness.</a:t>
            </a:r>
          </a:p>
          <a:p>
            <a:endParaRPr dirty="0"/>
          </a:p>
          <a:p>
            <a:r>
              <a:rPr dirty="0"/>
              <a:t>I  ·  Isolation — the read view and the lock manager (row0sel.cc:4833-4842 and :5226).</a:t>
            </a:r>
          </a:p>
          <a:p>
            <a:endParaRPr dirty="0"/>
          </a:p>
          <a:p>
            <a:r>
              <a:rPr dirty="0"/>
              <a:t>D  ·  Durability — redo log plus binary log (trx0trx.cc:1735-1750).</a:t>
            </a:r>
          </a:p>
          <a:p>
            <a:endParaRPr dirty="0"/>
          </a:p>
          <a:p>
            <a:r>
              <a:rPr dirty="0"/>
              <a:t>Default isolation level is REPEATABLE READ (sys_vars.cc:5058-5062).</a:t>
            </a:r>
          </a:p>
          <a:p>
            <a:endParaRPr dirty="0"/>
          </a:p>
          <a:p>
            <a:r>
              <a:rPr dirty="0"/>
              <a:t>Original slide 7:</a:t>
            </a:r>
          </a:p>
          <a:p>
            <a:r>
              <a:rPr dirty="0"/>
              <a:t>C is only what you declared. D costs an </a:t>
            </a:r>
            <a:r>
              <a:rPr dirty="0" err="1"/>
              <a:t>fsync</a:t>
            </a:r>
            <a:r>
              <a:rPr dirty="0"/>
              <a:t>.</a:t>
            </a:r>
          </a:p>
          <a:p>
            <a:endParaRPr dirty="0"/>
          </a:p>
          <a:p>
            <a:r>
              <a:rPr dirty="0"/>
              <a:t>Consistency</a:t>
            </a:r>
          </a:p>
          <a:p>
            <a:endParaRPr dirty="0"/>
          </a:p>
          <a:p>
            <a:r>
              <a:rPr dirty="0"/>
              <a:t>NOT NULL, CHECK, FOREIGN KEY</a:t>
            </a:r>
          </a:p>
          <a:p>
            <a:endParaRPr dirty="0"/>
          </a:p>
          <a:p>
            <a:r>
              <a:rPr dirty="0"/>
              <a:t>FK checks take shared locks inside your own transaction (row0ins.cc:1412-1415)</a:t>
            </a:r>
          </a:p>
          <a:p>
            <a:endParaRPr dirty="0"/>
          </a:p>
          <a:p>
            <a:r>
              <a:rPr dirty="0"/>
              <a:t>Out of scope: any rule that lives only in the application</a:t>
            </a:r>
          </a:p>
          <a:p>
            <a:endParaRPr dirty="0"/>
          </a:p>
          <a:p>
            <a:r>
              <a:rPr dirty="0"/>
              <a:t>Out of scope: recency. C never promised you a fresh row.</a:t>
            </a:r>
          </a:p>
          <a:p>
            <a:endParaRPr dirty="0"/>
          </a:p>
          <a:p>
            <a:r>
              <a:rPr dirty="0"/>
              <a:t>Durability</a:t>
            </a:r>
          </a:p>
          <a:p>
            <a:endParaRPr dirty="0"/>
          </a:p>
          <a:p>
            <a:r>
              <a:rPr dirty="0"/>
              <a:t>flush, sync, then commit in the engine (binlog.cc:7961, :8031, :8106)</a:t>
            </a:r>
          </a:p>
          <a:p>
            <a:endParaRPr dirty="0"/>
          </a:p>
          <a:p>
            <a:r>
              <a:rPr dirty="0"/>
              <a:t>With </a:t>
            </a:r>
            <a:r>
              <a:rPr dirty="0" err="1"/>
              <a:t>innodb_flush_method</a:t>
            </a:r>
            <a:r>
              <a:rPr dirty="0"/>
              <a:t>=</a:t>
            </a:r>
            <a:r>
              <a:rPr dirty="0" err="1"/>
              <a:t>nosync</a:t>
            </a:r>
            <a:r>
              <a:rPr dirty="0"/>
              <a:t>, the value 1 writes without </a:t>
            </a:r>
            <a:r>
              <a:rPr dirty="0" err="1"/>
              <a:t>fsync</a:t>
            </a:r>
            <a:r>
              <a:rPr dirty="0"/>
              <a:t> (trx0trx.cc:1727-1742)</a:t>
            </a:r>
          </a:p>
          <a:p>
            <a:endParaRPr dirty="0"/>
          </a:p>
          <a:p>
            <a:r>
              <a:rPr dirty="0"/>
              <a:t>Group commit amortizes the </a:t>
            </a:r>
            <a:r>
              <a:rPr dirty="0" err="1"/>
              <a:t>fsync</a:t>
            </a:r>
            <a:r>
              <a:rPr dirty="0"/>
              <a:t> pair per group, not per commit</a:t>
            </a:r>
          </a:p>
          <a:p>
            <a:endParaRPr dirty="0"/>
          </a:p>
          <a:p>
            <a:r>
              <a:rPr dirty="0"/>
              <a:t>9.7 note: </a:t>
            </a:r>
            <a:r>
              <a:rPr dirty="0" err="1"/>
              <a:t>innodb_log_file_size</a:t>
            </a:r>
            <a:r>
              <a:rPr dirty="0"/>
              <a:t> is gone; WL#16484 replaced </a:t>
            </a:r>
            <a:r>
              <a:rPr dirty="0" err="1"/>
              <a:t>hardware_concurrency</a:t>
            </a:r>
            <a:r>
              <a:rPr dirty="0"/>
              <a:t>()</a:t>
            </a:r>
          </a:p>
          <a:p>
            <a:r>
              <a:rPr dirty="0"/>
              <a:t>Brand: https://</a:t>
            </a:r>
            <a:r>
              <a:rPr dirty="0" err="1"/>
              <a:t>readyset.io</a:t>
            </a:r>
            <a:r>
              <a:rPr dirty="0"/>
              <a:t>/</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Concurrent transactions need rules for visibility and locking. Serial execution is the ideal of SERIALIZABLE, not a blanket guarantee of all isolation levels.</a:t>
            </a:r>
          </a:p>
          <a:p>
            <a:endParaRPr/>
          </a:p>
          <a:p>
            <a:r>
              <a:t>Technical detail retained from original presentation:</a:t>
            </a:r>
          </a:p>
          <a:p>
            <a:r>
              <a:t>Original slide 5:</a:t>
            </a:r>
          </a:p>
          <a:p>
            <a:r>
              <a:t>ACID, letter by letter, with the mechanism behind it</a:t>
            </a:r>
          </a:p>
          <a:p>
            <a:endParaRPr/>
          </a:p>
          <a:p>
            <a:r>
              <a:t>A  ·  Atomicity — the undo log. Rollback walks the same version chain a consistent read does (trx0roll.cc:708-712).</a:t>
            </a:r>
          </a:p>
          <a:p>
            <a:endParaRPr/>
          </a:p>
          <a:p>
            <a:r>
              <a:t>C  ·  Consistency — only what is declared: NOT NULL, CHECK, FOREIGN KEY (row0ins.cc:1412-1416). Nothing about freshness.</a:t>
            </a:r>
          </a:p>
          <a:p>
            <a:endParaRPr/>
          </a:p>
          <a:p>
            <a:r>
              <a:t>I  ·  Isolation — the read view and the lock manager (row0sel.cc:4833-4842 and :5226).</a:t>
            </a:r>
          </a:p>
          <a:p>
            <a:endParaRPr/>
          </a:p>
          <a:p>
            <a:r>
              <a:t>D  ·  Durability — redo log plus binary log (trx0trx.cc:1735-1750).</a:t>
            </a:r>
          </a:p>
          <a:p>
            <a:endParaRPr/>
          </a:p>
          <a:p>
            <a:r>
              <a:t>Default isolation level is REPEATABLE READ (sys_vars.cc:5058-5062).</a:t>
            </a:r>
          </a:p>
          <a:p>
            <a:endParaRPr/>
          </a:p>
          <a:p>
            <a:r>
              <a:t>Original slide 10:</a:t>
            </a:r>
          </a:p>
          <a:p>
            <a:r>
              <a:t>02</a:t>
            </a:r>
          </a:p>
          <a:p>
            <a:endParaRPr/>
          </a:p>
          <a:p>
            <a:r>
              <a:t>Isolation levels</a:t>
            </a:r>
          </a:p>
          <a:p>
            <a:endParaRPr/>
          </a:p>
          <a:p>
            <a:r>
              <a:t>What each level does with the read view</a:t>
            </a:r>
          </a:p>
          <a:p>
            <a:endParaRPr/>
          </a:p>
          <a:p>
            <a:r>
              <a:t>Original slide 11:</a:t>
            </a:r>
          </a:p>
          <a:p>
            <a:r>
              <a:t>The four levels, in InnoDB's own words</a:t>
            </a:r>
          </a:p>
          <a:p>
            <a:endParaRPr/>
          </a:p>
          <a:p>
            <a:r>
              <a:t>From trx0trx.h:676-699, pasted without cuts.</a:t>
            </a:r>
          </a:p>
          <a:p>
            <a:endParaRPr/>
          </a:p>
          <a:p>
            <a:r>
              <a:t>The READ UNCOMMITTED comment ends with '; otherwise like level 2'. That clause matters: it is what ties RU to the gap-lock behaviour of READ COMMITTED (trx0trx.h:1113-1124, skip_gap_locks()).</a:t>
            </a:r>
          </a:p>
          <a:p>
            <a:endParaRPr/>
          </a:p>
          <a:p>
            <a:r>
              <a:t>The SERIALIZABLE comment mentions neither read view nor gap lock.</a:t>
            </a:r>
          </a:p>
          <a:p>
            <a:endParaRPr/>
          </a:p>
          <a:p>
            <a:r>
              <a:t>The levels are numbered 0 to 3 in the source, and that number becomes a numeric guard on the next slide.</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Durability depends on log flushing settings and storage guarantees. InnoDB redo and binary log coordination support durable commit. Group commit shares sync cost. Replication and backups address different failure modes.</a:t>
            </a:r>
          </a:p>
          <a:p>
            <a:endParaRPr/>
          </a:p>
          <a:p>
            <a:r>
              <a:t>Technical detail retained from original presentation:</a:t>
            </a:r>
          </a:p>
          <a:p>
            <a:r>
              <a:t>Original slide 5:</a:t>
            </a:r>
          </a:p>
          <a:p>
            <a:r>
              <a:t>ACID, letter by letter, with the mechanism behind it</a:t>
            </a:r>
          </a:p>
          <a:p>
            <a:endParaRPr/>
          </a:p>
          <a:p>
            <a:r>
              <a:t>A  ·  Atomicity — the undo log. Rollback walks the same version chain a consistent read does (trx0roll.cc:708-712).</a:t>
            </a:r>
          </a:p>
          <a:p>
            <a:endParaRPr/>
          </a:p>
          <a:p>
            <a:r>
              <a:t>C  ·  Consistency — only what is declared: NOT NULL, CHECK, FOREIGN KEY (row0ins.cc:1412-1416). Nothing about freshness.</a:t>
            </a:r>
          </a:p>
          <a:p>
            <a:endParaRPr/>
          </a:p>
          <a:p>
            <a:r>
              <a:t>I  ·  Isolation — the read view and the lock manager (row0sel.cc:4833-4842 and :5226).</a:t>
            </a:r>
          </a:p>
          <a:p>
            <a:endParaRPr/>
          </a:p>
          <a:p>
            <a:r>
              <a:t>D  ·  Durability — redo log plus binary log (trx0trx.cc:1735-1750).</a:t>
            </a:r>
          </a:p>
          <a:p>
            <a:endParaRPr/>
          </a:p>
          <a:p>
            <a:r>
              <a:t>Default isolation level is REPEATABLE READ (sys_vars.cc:5058-5062).</a:t>
            </a:r>
          </a:p>
          <a:p>
            <a:endParaRPr/>
          </a:p>
          <a:p>
            <a:r>
              <a:t>Original slide 7:</a:t>
            </a:r>
          </a:p>
          <a:p>
            <a:r>
              <a:t>C is only what you declared. D costs an fsync.</a:t>
            </a:r>
          </a:p>
          <a:p>
            <a:endParaRPr/>
          </a:p>
          <a:p>
            <a:r>
              <a:t>Consistency</a:t>
            </a:r>
          </a:p>
          <a:p>
            <a:endParaRPr/>
          </a:p>
          <a:p>
            <a:r>
              <a:t>NOT NULL, CHECK, FOREIGN KEY</a:t>
            </a:r>
          </a:p>
          <a:p>
            <a:endParaRPr/>
          </a:p>
          <a:p>
            <a:r>
              <a:t>FK checks take shared locks inside your own transaction (row0ins.cc:1412-1415)</a:t>
            </a:r>
          </a:p>
          <a:p>
            <a:endParaRPr/>
          </a:p>
          <a:p>
            <a:r>
              <a:t>Out of scope: any rule that lives only in the application</a:t>
            </a:r>
          </a:p>
          <a:p>
            <a:endParaRPr/>
          </a:p>
          <a:p>
            <a:r>
              <a:t>Out of scope: recency. C never promised you a fresh row.</a:t>
            </a:r>
          </a:p>
          <a:p>
            <a:endParaRPr/>
          </a:p>
          <a:p>
            <a:r>
              <a:t>Durability</a:t>
            </a:r>
          </a:p>
          <a:p>
            <a:endParaRPr/>
          </a:p>
          <a:p>
            <a:r>
              <a:t>flush, sync, then commit in the engine (binlog.cc:7961, :8031, :8106)</a:t>
            </a:r>
          </a:p>
          <a:p>
            <a:endParaRPr/>
          </a:p>
          <a:p>
            <a:r>
              <a:t>With innodb_flush_method=nosync, the value 1 writes without fsync (trx0trx.cc:1727-1742)</a:t>
            </a:r>
          </a:p>
          <a:p>
            <a:endParaRPr/>
          </a:p>
          <a:p>
            <a:r>
              <a:t>Group commit amortizes the fsync pair per group, not per commit</a:t>
            </a:r>
          </a:p>
          <a:p>
            <a:endParaRPr/>
          </a:p>
          <a:p>
            <a:r>
              <a:t>9.7 note: innodb_log_file_size is gone; WL#16484 replaced hardware_concurrency()</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Technical detail retained from original presentation:</a:t>
            </a:r>
          </a:p>
          <a:p>
            <a:r>
              <a:t>Original slide 6:</a:t>
            </a:r>
          </a:p>
          <a:p>
            <a:r>
              <a:t>The undo log serves both A and I</a:t>
            </a:r>
          </a:p>
          <a:p>
            <a:endParaRPr/>
          </a:p>
          <a:p>
            <a:r>
              <a:t>row_sel_build_prev_vers_for_mysql() calls row_vers_build_for_consistent_read(), and returns DB_MISSING_HISTORY when the version it needs is gone (row0sel.cc:5336-5344, row0vers.cc:1249-1252).</a:t>
            </a:r>
          </a:p>
          <a:p>
            <a:endParaRPr/>
          </a:p>
          <a:p>
            <a:r>
              <a:t>Same structure, two jobs: undoing a transaction, and reconstructing the past for a reader.</a:t>
            </a:r>
          </a:p>
          <a:p>
            <a:endParaRPr/>
          </a:p>
          <a:p>
            <a:r>
              <a:t>Operational consequence: History list length grows because rollback and consistent read compete for the same chain.</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r>
              <a:t>Technical detail retained from original presentation:</a:t>
            </a:r>
          </a:p>
          <a:p>
            <a:r>
              <a:t>Original slide 8:</a:t>
            </a:r>
          </a:p>
          <a:p>
            <a:r>
              <a:t>ACID is a property of the transaction</a:t>
            </a:r>
          </a:p>
          <a:p>
            <a:endParaRPr/>
          </a:p>
          <a:p>
            <a:r>
              <a:t>There are two scopes, STMT and SESSION (handler.cc:1273-1275, :1706-1714). Under autocommit the statement commits implicitly in external_lock(F_UNLCK) (ha_innodb.cc:19142-19148).</a:t>
            </a:r>
          </a:p>
          <a:p>
            <a:endParaRPr/>
          </a:p>
          <a:p>
            <a:r>
              <a:t>So every statement runs inside a transaction, even in autocommit. The audience question is fair: what is the difference then?</a:t>
            </a:r>
          </a:p>
          <a:p>
            <a:endParaRPr/>
          </a:p>
          <a:p>
            <a:r>
              <a:t>Under REPEATABLE READ, visibility is identical. What differs is which scope is durable, and what SERIALIZABLE does to your SELECT.</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Technical evidence from original slide:</a:t>
            </a:r>
          </a:p>
          <a:p>
            <a:r>
              <a:t>02</a:t>
            </a:r>
          </a:p>
          <a:p>
            <a:endParaRPr/>
          </a:p>
          <a:p>
            <a:r>
              <a:t>Isolation levels</a:t>
            </a:r>
          </a:p>
          <a:p>
            <a:endParaRPr/>
          </a:p>
          <a:p>
            <a:r>
              <a:t>What each level does with the read view</a:t>
            </a:r>
          </a:p>
          <a:p>
            <a:r>
              <a:t>Brand assets and palette: https://readyset.io/ ; glyphs: https://readyset.io/icons/sprite-bulk.svg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may read data B later rolls back.</a:t>
            </a:r>
          </a:p>
          <a:p>
            <a:r>
              <a:t>Illustrative timeline, not a benchmark. A and B are separate sessions. B begins a transaction before UPDATE. A uses an explicit transaction. * means uncommitted. https://dev.mysql.com/doc/refman/8.4/en/innodb-transaction-isolation-levels.html</a:t>
            </a:r>
          </a:p>
          <a:p>
            <a:endParaRPr/>
          </a:p>
          <a:p>
            <a:r>
              <a:t>Technical detail retained from original presentation:</a:t>
            </a:r>
          </a:p>
          <a:p>
            <a:r>
              <a:t>Original slide 11:</a:t>
            </a:r>
          </a:p>
          <a:p>
            <a:r>
              <a:t>The four levels, in InnoDB's own words</a:t>
            </a:r>
          </a:p>
          <a:p>
            <a:endParaRPr/>
          </a:p>
          <a:p>
            <a:r>
              <a:t>From trx0trx.h:676-699, pasted without cuts.</a:t>
            </a:r>
          </a:p>
          <a:p>
            <a:endParaRPr/>
          </a:p>
          <a:p>
            <a:r>
              <a:t>The READ UNCOMMITTED comment ends with '; otherwise like level 2'. That clause matters: it is what ties RU to the gap-lock behaviour of READ COMMITTED (trx0trx.h:1113-1124, skip_gap_locks()).</a:t>
            </a:r>
          </a:p>
          <a:p>
            <a:endParaRPr/>
          </a:p>
          <a:p>
            <a:r>
              <a:t>The SERIALIZABLE comment mentions neither read view nor gap lock.</a:t>
            </a:r>
          </a:p>
          <a:p>
            <a:endParaRPr/>
          </a:p>
          <a:p>
            <a:r>
              <a:t>The levels are numbered 0 to 3 in the source, and that number becomes a numeric guard on the next slide.</a:t>
            </a:r>
          </a:p>
          <a:p>
            <a:endParaRPr/>
          </a:p>
          <a:p>
            <a:r>
              <a:t>Original slide 12:</a:t>
            </a:r>
          </a:p>
          <a:p>
            <a:r>
              <a:t>Where the read view is born, and who closes it</a:t>
            </a:r>
          </a:p>
          <a:p>
            <a:endParaRPr/>
          </a:p>
          <a:p>
            <a:r>
              <a:t>Born: row0sel.cc:4818-4842, in start-of-statement preparation, before the cursor opens at :4856. trx0trx.cc:2291-2305 opens a view only if none is active.</a:t>
            </a:r>
          </a:p>
          <a:p>
            <a:endParaRPr/>
          </a:p>
          <a:p>
            <a:r>
              <a:t>Closed: two sites, both guarded by isolation_level &lt;= TRX_ISO_READ_COMMITTED (ha_innodb.cc:19749 and :19156).</a:t>
            </a:r>
          </a:p>
          <a:p>
            <a:endParaRPr/>
          </a:p>
          <a:p>
            <a:r>
              <a:t>Under pure autocommit the second one does not fire: it sits in the else branch of thd_test_options(OPTION_NOT_AUTOCOMMIT|OPTION_BEGIN). The implicit commit closes the view instead.</a:t>
            </a:r>
          </a:p>
          <a:p>
            <a:endParaRPr/>
          </a:p>
          <a:p>
            <a:r>
              <a:t>Under REPEATABLE READ neither fires. The view lives until COMMIT, and the undo history is pinned with it.</a:t>
            </a:r>
          </a:p>
          <a:p>
            <a:endParaRPr/>
          </a:p>
          <a:p>
            <a:r>
              <a:t>Original slide 13:</a:t>
            </a:r>
          </a:p>
          <a:p>
            <a:r>
              <a:t>READ UNCOMMITTED: the view is assigned and never consulted</a:t>
            </a:r>
          </a:p>
          <a:p>
            <a:endParaRPr/>
          </a:p>
          <a:p>
            <a:r>
              <a:t>row0sel.cc:5322-5330 is an empty branch with the comment: 'Do nothing: we let a non-locking SELECT read the latest version of the record'.</a:t>
            </a:r>
          </a:p>
          <a:p>
            <a:endParaRPr/>
          </a:p>
          <a:p>
            <a:r>
              <a:t>The read view is still assigned under RU. There is no isolation guard at :4838, and :4824-4831 aborts if it is missing. What never happens is the lookup.</a:t>
            </a:r>
          </a:p>
          <a:p>
            <a:endParaRPr/>
          </a:p>
          <a:p>
            <a:r>
              <a:t>Compare with ha_innodb.cc:10968, where InnoDB writes an explicit guard when it really does want to skip the view.</a:t>
            </a:r>
          </a:p>
          <a:p>
            <a:endParaRPr/>
          </a:p>
          <a:p>
            <a:r>
              <a:t>This one line explains the lab result three blocks from now.</a:t>
            </a:r>
          </a:p>
          <a:p>
            <a:endParaRPr/>
          </a:p>
          <a:p>
            <a:r>
              <a:t>Original slide 14:</a:t>
            </a:r>
          </a:p>
          <a:p>
            <a:r>
              <a:t>SERIALIZABLE has three conditions, not one</a:t>
            </a:r>
          </a:p>
          <a:p>
            <a:endParaRPr/>
          </a:p>
          <a:p>
            <a:r>
              <a:t>ha_innodb.cc:19072-19076 promotes a non-locking SELECT to LOCK_S only when all three hold. The comment at trx0trx.h:696-698 promises the conversion with no caveat at all.</a:t>
            </a:r>
          </a:p>
          <a:p>
            <a:endParaRPr/>
          </a:p>
          <a:p>
            <a:r>
              <a:t>The third condition is thd_test_options(thd, OPTION_NOT_AUTOCOMMIT | OPTION_BEGIN). That is true inside BEGIN, and also with @@autocommit=0 and no BEGIN at all.</a:t>
            </a:r>
          </a:p>
          <a:p>
            <a:endParaRPr/>
          </a:p>
          <a:p>
            <a:r>
              <a:t>So SERIALIZABLE in plain autocommit takes no record locks. Measured: performance_schema.data_locks returns zero rows of LOCK_TYPE='RECORD'. Inside BEGIN: RECORD S and RECORD S,GAP.</a:t>
            </a:r>
          </a:p>
          <a:p>
            <a:endParaRPr/>
          </a:p>
          <a:p>
            <a:r>
              <a:t>Original slide 15:</a:t>
            </a:r>
          </a:p>
          <a:p>
            <a:r>
              <a:t>The anomalies InnoDB actually has</a:t>
            </a:r>
          </a:p>
          <a:p>
            <a:endParaRPr/>
          </a:p>
          <a:p>
            <a:r>
              <a:t>Consistent read</a:t>
            </a:r>
          </a:p>
          <a:p>
            <a:endParaRPr/>
          </a:p>
          <a:p>
            <a:r>
              <a:t>RR: one view for the whole transaction</a:t>
            </a:r>
          </a:p>
          <a:p>
            <a:endParaRPr/>
          </a:p>
          <a:p>
            <a:r>
              <a:t>RC: a new view per statement</a:t>
            </a:r>
          </a:p>
          <a:p>
            <a:endParaRPr/>
          </a:p>
          <a:p>
            <a:r>
              <a:t>RU: reads the current version, no view lookup</a:t>
            </a:r>
          </a:p>
          <a:p>
            <a:endParaRPr/>
          </a:p>
          <a:p>
            <a:r>
              <a:t>No phantom reads in RR, because of MVCC</a:t>
            </a:r>
          </a:p>
          <a:p>
            <a:endParaRPr/>
          </a:p>
          <a:p>
            <a:r>
              <a:t>Locking read</a:t>
            </a:r>
          </a:p>
          <a:p>
            <a:endParaRPr/>
          </a:p>
          <a:p>
            <a:r>
              <a:t>Never consults the read view (row0sel.cc:5226)</a:t>
            </a:r>
          </a:p>
          <a:p>
            <a:endParaRPr/>
          </a:p>
          <a:p>
            <a:r>
              <a:t>So one transaction can have a SELECT that misses a row and a SELECT FOR UPDATE that sees it</a:t>
            </a:r>
          </a:p>
          <a:p>
            <a:endParaRPr/>
          </a:p>
          <a:p>
            <a:r>
              <a:t>Once touched, the row carries your own trx id (read0types.h:167)</a:t>
            </a:r>
          </a:p>
          <a:p>
            <a:endParaRPr/>
          </a:p>
          <a:p>
            <a:r>
              <a:t>Exact match on a full UNIQUE key becomes LOCK_REC_NOT_GAP (row0sel.cc:4618-4627)</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new SELECT gets a new snapshot. A running SELECT keeps its view.</a:t>
            </a:r>
          </a:p>
          <a:p>
            <a:r>
              <a:t>Illustrative timeline, not a benchmark. A and B are separate sessions. B begins a transaction before UPDATE. A uses an explicit transaction. * means uncommitted. https://dev.mysql.com/doc/refman/8.4/en/innodb-transaction-isolation-levels.html</a:t>
            </a:r>
          </a:p>
          <a:p>
            <a:endParaRPr/>
          </a:p>
          <a:p>
            <a:r>
              <a:t>Technical detail retained from original presentation:</a:t>
            </a:r>
          </a:p>
          <a:p>
            <a:r>
              <a:t>Original slide 11:</a:t>
            </a:r>
          </a:p>
          <a:p>
            <a:r>
              <a:t>The four levels, in InnoDB's own words</a:t>
            </a:r>
          </a:p>
          <a:p>
            <a:endParaRPr/>
          </a:p>
          <a:p>
            <a:r>
              <a:t>From trx0trx.h:676-699, pasted without cuts.</a:t>
            </a:r>
          </a:p>
          <a:p>
            <a:endParaRPr/>
          </a:p>
          <a:p>
            <a:r>
              <a:t>The READ UNCOMMITTED comment ends with '; otherwise like level 2'. That clause matters: it is what ties RU to the gap-lock behaviour of READ COMMITTED (trx0trx.h:1113-1124, skip_gap_locks()).</a:t>
            </a:r>
          </a:p>
          <a:p>
            <a:endParaRPr/>
          </a:p>
          <a:p>
            <a:r>
              <a:t>The SERIALIZABLE comment mentions neither read view nor gap lock.</a:t>
            </a:r>
          </a:p>
          <a:p>
            <a:endParaRPr/>
          </a:p>
          <a:p>
            <a:r>
              <a:t>The levels are numbered 0 to 3 in the source, and that number becomes a numeric guard on the next slide.</a:t>
            </a:r>
          </a:p>
          <a:p>
            <a:endParaRPr/>
          </a:p>
          <a:p>
            <a:r>
              <a:t>Original slide 12:</a:t>
            </a:r>
          </a:p>
          <a:p>
            <a:r>
              <a:t>Where the read view is born, and who closes it</a:t>
            </a:r>
          </a:p>
          <a:p>
            <a:endParaRPr/>
          </a:p>
          <a:p>
            <a:r>
              <a:t>Born: row0sel.cc:4818-4842, in start-of-statement preparation, before the cursor opens at :4856. trx0trx.cc:2291-2305 opens a view only if none is active.</a:t>
            </a:r>
          </a:p>
          <a:p>
            <a:endParaRPr/>
          </a:p>
          <a:p>
            <a:r>
              <a:t>Closed: two sites, both guarded by isolation_level &lt;= TRX_ISO_READ_COMMITTED (ha_innodb.cc:19749 and :19156).</a:t>
            </a:r>
          </a:p>
          <a:p>
            <a:endParaRPr/>
          </a:p>
          <a:p>
            <a:r>
              <a:t>Under pure autocommit the second one does not fire: it sits in the else branch of thd_test_options(OPTION_NOT_AUTOCOMMIT|OPTION_BEGIN). The implicit commit closes the view instead.</a:t>
            </a:r>
          </a:p>
          <a:p>
            <a:endParaRPr/>
          </a:p>
          <a:p>
            <a:r>
              <a:t>Under REPEATABLE READ neither fires. The view lives until COMMIT, and the undo history is pinned with it.</a:t>
            </a:r>
          </a:p>
          <a:p>
            <a:endParaRPr/>
          </a:p>
          <a:p>
            <a:r>
              <a:t>Original slide 13:</a:t>
            </a:r>
          </a:p>
          <a:p>
            <a:r>
              <a:t>READ UNCOMMITTED: the view is assigned and never consulted</a:t>
            </a:r>
          </a:p>
          <a:p>
            <a:endParaRPr/>
          </a:p>
          <a:p>
            <a:r>
              <a:t>row0sel.cc:5322-5330 is an empty branch with the comment: 'Do nothing: we let a non-locking SELECT read the latest version of the record'.</a:t>
            </a:r>
          </a:p>
          <a:p>
            <a:endParaRPr/>
          </a:p>
          <a:p>
            <a:r>
              <a:t>The read view is still assigned under RU. There is no isolation guard at :4838, and :4824-4831 aborts if it is missing. What never happens is the lookup.</a:t>
            </a:r>
          </a:p>
          <a:p>
            <a:endParaRPr/>
          </a:p>
          <a:p>
            <a:r>
              <a:t>Compare with ha_innodb.cc:10968, where InnoDB writes an explicit guard when it really does want to skip the view.</a:t>
            </a:r>
          </a:p>
          <a:p>
            <a:endParaRPr/>
          </a:p>
          <a:p>
            <a:r>
              <a:t>This one line explains the lab result three blocks from now.</a:t>
            </a:r>
          </a:p>
          <a:p>
            <a:endParaRPr/>
          </a:p>
          <a:p>
            <a:r>
              <a:t>Original slide 14:</a:t>
            </a:r>
          </a:p>
          <a:p>
            <a:r>
              <a:t>SERIALIZABLE has three conditions, not one</a:t>
            </a:r>
          </a:p>
          <a:p>
            <a:endParaRPr/>
          </a:p>
          <a:p>
            <a:r>
              <a:t>ha_innodb.cc:19072-19076 promotes a non-locking SELECT to LOCK_S only when all three hold. The comment at trx0trx.h:696-698 promises the conversion with no caveat at all.</a:t>
            </a:r>
          </a:p>
          <a:p>
            <a:endParaRPr/>
          </a:p>
          <a:p>
            <a:r>
              <a:t>The third condition is thd_test_options(thd, OPTION_NOT_AUTOCOMMIT | OPTION_BEGIN). That is true inside BEGIN, and also with @@autocommit=0 and no BEGIN at all.</a:t>
            </a:r>
          </a:p>
          <a:p>
            <a:endParaRPr/>
          </a:p>
          <a:p>
            <a:r>
              <a:t>So SERIALIZABLE in plain autocommit takes no record locks. Measured: performance_schema.data_locks returns zero rows of LOCK_TYPE='RECORD'. Inside BEGIN: RECORD S and RECORD S,GAP.</a:t>
            </a:r>
          </a:p>
          <a:p>
            <a:endParaRPr/>
          </a:p>
          <a:p>
            <a:r>
              <a:t>Original slide 15:</a:t>
            </a:r>
          </a:p>
          <a:p>
            <a:r>
              <a:t>The anomalies InnoDB actually has</a:t>
            </a:r>
          </a:p>
          <a:p>
            <a:endParaRPr/>
          </a:p>
          <a:p>
            <a:r>
              <a:t>Consistent read</a:t>
            </a:r>
          </a:p>
          <a:p>
            <a:endParaRPr/>
          </a:p>
          <a:p>
            <a:r>
              <a:t>RR: one view for the whole transaction</a:t>
            </a:r>
          </a:p>
          <a:p>
            <a:endParaRPr/>
          </a:p>
          <a:p>
            <a:r>
              <a:t>RC: a new view per statement</a:t>
            </a:r>
          </a:p>
          <a:p>
            <a:endParaRPr/>
          </a:p>
          <a:p>
            <a:r>
              <a:t>RU: reads the current version, no view lookup</a:t>
            </a:r>
          </a:p>
          <a:p>
            <a:endParaRPr/>
          </a:p>
          <a:p>
            <a:r>
              <a:t>No phantom reads in RR, because of MVCC</a:t>
            </a:r>
          </a:p>
          <a:p>
            <a:endParaRPr/>
          </a:p>
          <a:p>
            <a:r>
              <a:t>Locking read</a:t>
            </a:r>
          </a:p>
          <a:p>
            <a:endParaRPr/>
          </a:p>
          <a:p>
            <a:r>
              <a:t>Never consults the read view (row0sel.cc:5226)</a:t>
            </a:r>
          </a:p>
          <a:p>
            <a:endParaRPr/>
          </a:p>
          <a:p>
            <a:r>
              <a:t>So one transaction can have a SELECT that misses a row and a SELECT FOR UPDATE that sees it</a:t>
            </a:r>
          </a:p>
          <a:p>
            <a:endParaRPr/>
          </a:p>
          <a:p>
            <a:r>
              <a:t>Once touched, the row carries your own trx id (read0types.h:167)</a:t>
            </a:r>
          </a:p>
          <a:p>
            <a:endParaRPr/>
          </a:p>
          <a:p>
            <a:r>
              <a:t>Exact match on a full UNIQUE key becomes LOCK_REC_NOT_GAP (row0sel.cc:4618-4627)</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 first consistent read creates the snapshot. A makes no writes.</a:t>
            </a:r>
          </a:p>
          <a:p>
            <a:r>
              <a:t>Illustrative timeline, not a benchmark. A and B are separate sessions. B begins a transaction before UPDATE. A uses an explicit transaction. * means uncommitted. https://dev.mysql.com/doc/refman/8.4/en/innodb-transaction-isolation-levels.html</a:t>
            </a:r>
          </a:p>
          <a:p>
            <a:endParaRPr/>
          </a:p>
          <a:p>
            <a:r>
              <a:t>Technical detail retained from original presentation:</a:t>
            </a:r>
          </a:p>
          <a:p>
            <a:r>
              <a:t>Original slide 11:</a:t>
            </a:r>
          </a:p>
          <a:p>
            <a:r>
              <a:t>The four levels, in InnoDB's own words</a:t>
            </a:r>
          </a:p>
          <a:p>
            <a:endParaRPr/>
          </a:p>
          <a:p>
            <a:r>
              <a:t>From trx0trx.h:676-699, pasted without cuts.</a:t>
            </a:r>
          </a:p>
          <a:p>
            <a:endParaRPr/>
          </a:p>
          <a:p>
            <a:r>
              <a:t>The READ UNCOMMITTED comment ends with '; otherwise like level 2'. That clause matters: it is what ties RU to the gap-lock behaviour of READ COMMITTED (trx0trx.h:1113-1124, skip_gap_locks()).</a:t>
            </a:r>
          </a:p>
          <a:p>
            <a:endParaRPr/>
          </a:p>
          <a:p>
            <a:r>
              <a:t>The SERIALIZABLE comment mentions neither read view nor gap lock.</a:t>
            </a:r>
          </a:p>
          <a:p>
            <a:endParaRPr/>
          </a:p>
          <a:p>
            <a:r>
              <a:t>The levels are numbered 0 to 3 in the source, and that number becomes a numeric guard on the next slide.</a:t>
            </a:r>
          </a:p>
          <a:p>
            <a:endParaRPr/>
          </a:p>
          <a:p>
            <a:r>
              <a:t>Original slide 12:</a:t>
            </a:r>
          </a:p>
          <a:p>
            <a:r>
              <a:t>Where the read view is born, and who closes it</a:t>
            </a:r>
          </a:p>
          <a:p>
            <a:endParaRPr/>
          </a:p>
          <a:p>
            <a:r>
              <a:t>Born: row0sel.cc:4818-4842, in start-of-statement preparation, before the cursor opens at :4856. trx0trx.cc:2291-2305 opens a view only if none is active.</a:t>
            </a:r>
          </a:p>
          <a:p>
            <a:endParaRPr/>
          </a:p>
          <a:p>
            <a:r>
              <a:t>Closed: two sites, both guarded by isolation_level &lt;= TRX_ISO_READ_COMMITTED (ha_innodb.cc:19749 and :19156).</a:t>
            </a:r>
          </a:p>
          <a:p>
            <a:endParaRPr/>
          </a:p>
          <a:p>
            <a:r>
              <a:t>Under pure autocommit the second one does not fire: it sits in the else branch of thd_test_options(OPTION_NOT_AUTOCOMMIT|OPTION_BEGIN). The implicit commit closes the view instead.</a:t>
            </a:r>
          </a:p>
          <a:p>
            <a:endParaRPr/>
          </a:p>
          <a:p>
            <a:r>
              <a:t>Under REPEATABLE READ neither fires. The view lives until COMMIT, and the undo history is pinned with it.</a:t>
            </a:r>
          </a:p>
          <a:p>
            <a:endParaRPr/>
          </a:p>
          <a:p>
            <a:r>
              <a:t>Original slide 13:</a:t>
            </a:r>
          </a:p>
          <a:p>
            <a:r>
              <a:t>READ UNCOMMITTED: the view is assigned and never consulted</a:t>
            </a:r>
          </a:p>
          <a:p>
            <a:endParaRPr/>
          </a:p>
          <a:p>
            <a:r>
              <a:t>row0sel.cc:5322-5330 is an empty branch with the comment: 'Do nothing: we let a non-locking SELECT read the latest version of the record'.</a:t>
            </a:r>
          </a:p>
          <a:p>
            <a:endParaRPr/>
          </a:p>
          <a:p>
            <a:r>
              <a:t>The read view is still assigned under RU. There is no isolation guard at :4838, and :4824-4831 aborts if it is missing. What never happens is the lookup.</a:t>
            </a:r>
          </a:p>
          <a:p>
            <a:endParaRPr/>
          </a:p>
          <a:p>
            <a:r>
              <a:t>Compare with ha_innodb.cc:10968, where InnoDB writes an explicit guard when it really does want to skip the view.</a:t>
            </a:r>
          </a:p>
          <a:p>
            <a:endParaRPr/>
          </a:p>
          <a:p>
            <a:r>
              <a:t>This one line explains the lab result three blocks from now.</a:t>
            </a:r>
          </a:p>
          <a:p>
            <a:endParaRPr/>
          </a:p>
          <a:p>
            <a:r>
              <a:t>Original slide 14:</a:t>
            </a:r>
          </a:p>
          <a:p>
            <a:r>
              <a:t>SERIALIZABLE has three conditions, not one</a:t>
            </a:r>
          </a:p>
          <a:p>
            <a:endParaRPr/>
          </a:p>
          <a:p>
            <a:r>
              <a:t>ha_innodb.cc:19072-19076 promotes a non-locking SELECT to LOCK_S only when all three hold. The comment at trx0trx.h:696-698 promises the conversion with no caveat at all.</a:t>
            </a:r>
          </a:p>
          <a:p>
            <a:endParaRPr/>
          </a:p>
          <a:p>
            <a:r>
              <a:t>The third condition is thd_test_options(thd, OPTION_NOT_AUTOCOMMIT | OPTION_BEGIN). That is true inside BEGIN, and also with @@autocommit=0 and no BEGIN at all.</a:t>
            </a:r>
          </a:p>
          <a:p>
            <a:endParaRPr/>
          </a:p>
          <a:p>
            <a:r>
              <a:t>So SERIALIZABLE in plain autocommit takes no record locks. Measured: performance_schema.data_locks returns zero rows of LOCK_TYPE='RECORD'. Inside BEGIN: RECORD S and RECORD S,GAP.</a:t>
            </a:r>
          </a:p>
          <a:p>
            <a:endParaRPr/>
          </a:p>
          <a:p>
            <a:r>
              <a:t>Original slide 15:</a:t>
            </a:r>
          </a:p>
          <a:p>
            <a:r>
              <a:t>The anomalies InnoDB actually has</a:t>
            </a:r>
          </a:p>
          <a:p>
            <a:endParaRPr/>
          </a:p>
          <a:p>
            <a:r>
              <a:t>Consistent read</a:t>
            </a:r>
          </a:p>
          <a:p>
            <a:endParaRPr/>
          </a:p>
          <a:p>
            <a:r>
              <a:t>RR: one view for the whole transaction</a:t>
            </a:r>
          </a:p>
          <a:p>
            <a:endParaRPr/>
          </a:p>
          <a:p>
            <a:r>
              <a:t>RC: a new view per statement</a:t>
            </a:r>
          </a:p>
          <a:p>
            <a:endParaRPr/>
          </a:p>
          <a:p>
            <a:r>
              <a:t>RU: reads the current version, no view lookup</a:t>
            </a:r>
          </a:p>
          <a:p>
            <a:endParaRPr/>
          </a:p>
          <a:p>
            <a:r>
              <a:t>No phantom reads in RR, because of MVCC</a:t>
            </a:r>
          </a:p>
          <a:p>
            <a:endParaRPr/>
          </a:p>
          <a:p>
            <a:r>
              <a:t>Locking read</a:t>
            </a:r>
          </a:p>
          <a:p>
            <a:endParaRPr/>
          </a:p>
          <a:p>
            <a:r>
              <a:t>Never consults the read view (row0sel.cc:5226)</a:t>
            </a:r>
          </a:p>
          <a:p>
            <a:endParaRPr/>
          </a:p>
          <a:p>
            <a:r>
              <a:t>So one transaction can have a SELECT that misses a row and a SELECT FOR UPDATE that sees it</a:t>
            </a:r>
          </a:p>
          <a:p>
            <a:endParaRPr/>
          </a:p>
          <a:p>
            <a:r>
              <a:t>Once touched, the row carries your own trx id (read0types.h:167)</a:t>
            </a:r>
          </a:p>
          <a:p>
            <a:endParaRPr/>
          </a:p>
          <a:p>
            <a:r>
              <a:t>Exact match on a full UNIQUE key becomes LOCK_REC_NOT_GAP (row0sel.cc:4618-4627)</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uses BEGIN and reads an existing row by primary key. In plain autocommit, SELECT can use a nonlocking consistent read.</a:t>
            </a:r>
          </a:p>
          <a:p>
            <a:r>
              <a:t>Illustrative timeline, not a benchmark. A and B are separate sessions. B begins a transaction before UPDATE. A uses an explicit transaction. * means uncommitted. https://dev.mysql.com/doc/refman/8.4/en/innodb-transaction-isolation-levels.html</a:t>
            </a:r>
          </a:p>
          <a:p>
            <a:endParaRPr/>
          </a:p>
          <a:p>
            <a:r>
              <a:t>Technical detail retained from original presentation:</a:t>
            </a:r>
          </a:p>
          <a:p>
            <a:r>
              <a:t>Original slide 11:</a:t>
            </a:r>
          </a:p>
          <a:p>
            <a:r>
              <a:t>The four levels, in InnoDB's own words</a:t>
            </a:r>
          </a:p>
          <a:p>
            <a:endParaRPr/>
          </a:p>
          <a:p>
            <a:r>
              <a:t>From trx0trx.h:676-699, pasted without cuts.</a:t>
            </a:r>
          </a:p>
          <a:p>
            <a:endParaRPr/>
          </a:p>
          <a:p>
            <a:r>
              <a:t>The READ UNCOMMITTED comment ends with '; otherwise like level 2'. That clause matters: it is what ties RU to the gap-lock behaviour of READ COMMITTED (trx0trx.h:1113-1124, skip_gap_locks()).</a:t>
            </a:r>
          </a:p>
          <a:p>
            <a:endParaRPr/>
          </a:p>
          <a:p>
            <a:r>
              <a:t>The SERIALIZABLE comment mentions neither read view nor gap lock.</a:t>
            </a:r>
          </a:p>
          <a:p>
            <a:endParaRPr/>
          </a:p>
          <a:p>
            <a:r>
              <a:t>The levels are numbered 0 to 3 in the source, and that number becomes a numeric guard on the next slide.</a:t>
            </a:r>
          </a:p>
          <a:p>
            <a:endParaRPr/>
          </a:p>
          <a:p>
            <a:r>
              <a:t>Original slide 12:</a:t>
            </a:r>
          </a:p>
          <a:p>
            <a:r>
              <a:t>Where the read view is born, and who closes it</a:t>
            </a:r>
          </a:p>
          <a:p>
            <a:endParaRPr/>
          </a:p>
          <a:p>
            <a:r>
              <a:t>Born: row0sel.cc:4818-4842, in start-of-statement preparation, before the cursor opens at :4856. trx0trx.cc:2291-2305 opens a view only if none is active.</a:t>
            </a:r>
          </a:p>
          <a:p>
            <a:endParaRPr/>
          </a:p>
          <a:p>
            <a:r>
              <a:t>Closed: two sites, both guarded by isolation_level &lt;= TRX_ISO_READ_COMMITTED (ha_innodb.cc:19749 and :19156).</a:t>
            </a:r>
          </a:p>
          <a:p>
            <a:endParaRPr/>
          </a:p>
          <a:p>
            <a:r>
              <a:t>Under pure autocommit the second one does not fire: it sits in the else branch of thd_test_options(OPTION_NOT_AUTOCOMMIT|OPTION_BEGIN). The implicit commit closes the view instead.</a:t>
            </a:r>
          </a:p>
          <a:p>
            <a:endParaRPr/>
          </a:p>
          <a:p>
            <a:r>
              <a:t>Under REPEATABLE READ neither fires. The view lives until COMMIT, and the undo history is pinned with it.</a:t>
            </a:r>
          </a:p>
          <a:p>
            <a:endParaRPr/>
          </a:p>
          <a:p>
            <a:r>
              <a:t>Original slide 13:</a:t>
            </a:r>
          </a:p>
          <a:p>
            <a:r>
              <a:t>READ UNCOMMITTED: the view is assigned and never consulted</a:t>
            </a:r>
          </a:p>
          <a:p>
            <a:endParaRPr/>
          </a:p>
          <a:p>
            <a:r>
              <a:t>row0sel.cc:5322-5330 is an empty branch with the comment: 'Do nothing: we let a non-locking SELECT read the latest version of the record'.</a:t>
            </a:r>
          </a:p>
          <a:p>
            <a:endParaRPr/>
          </a:p>
          <a:p>
            <a:r>
              <a:t>The read view is still assigned under RU. There is no isolation guard at :4838, and :4824-4831 aborts if it is missing. What never happens is the lookup.</a:t>
            </a:r>
          </a:p>
          <a:p>
            <a:endParaRPr/>
          </a:p>
          <a:p>
            <a:r>
              <a:t>Compare with ha_innodb.cc:10968, where InnoDB writes an explicit guard when it really does want to skip the view.</a:t>
            </a:r>
          </a:p>
          <a:p>
            <a:endParaRPr/>
          </a:p>
          <a:p>
            <a:r>
              <a:t>This one line explains the lab result three blocks from now.</a:t>
            </a:r>
          </a:p>
          <a:p>
            <a:endParaRPr/>
          </a:p>
          <a:p>
            <a:r>
              <a:t>Original slide 14:</a:t>
            </a:r>
          </a:p>
          <a:p>
            <a:r>
              <a:t>SERIALIZABLE has three conditions, not one</a:t>
            </a:r>
          </a:p>
          <a:p>
            <a:endParaRPr/>
          </a:p>
          <a:p>
            <a:r>
              <a:t>ha_innodb.cc:19072-19076 promotes a non-locking SELECT to LOCK_S only when all three hold. The comment at trx0trx.h:696-698 promises the conversion with no caveat at all.</a:t>
            </a:r>
          </a:p>
          <a:p>
            <a:endParaRPr/>
          </a:p>
          <a:p>
            <a:r>
              <a:t>The third condition is thd_test_options(thd, OPTION_NOT_AUTOCOMMIT | OPTION_BEGIN). That is true inside BEGIN, and also with @@autocommit=0 and no BEGIN at all.</a:t>
            </a:r>
          </a:p>
          <a:p>
            <a:endParaRPr/>
          </a:p>
          <a:p>
            <a:r>
              <a:t>So SERIALIZABLE in plain autocommit takes no record locks. Measured: performance_schema.data_locks returns zero rows of LOCK_TYPE='RECORD'. Inside BEGIN: RECORD S and RECORD S,GAP.</a:t>
            </a:r>
          </a:p>
          <a:p>
            <a:endParaRPr/>
          </a:p>
          <a:p>
            <a:r>
              <a:t>Original slide 15:</a:t>
            </a:r>
          </a:p>
          <a:p>
            <a:r>
              <a:t>The anomalies InnoDB actually has</a:t>
            </a:r>
          </a:p>
          <a:p>
            <a:endParaRPr/>
          </a:p>
          <a:p>
            <a:r>
              <a:t>Consistent read</a:t>
            </a:r>
          </a:p>
          <a:p>
            <a:endParaRPr/>
          </a:p>
          <a:p>
            <a:r>
              <a:t>RR: one view for the whole transaction</a:t>
            </a:r>
          </a:p>
          <a:p>
            <a:endParaRPr/>
          </a:p>
          <a:p>
            <a:r>
              <a:t>RC: a new view per statement</a:t>
            </a:r>
          </a:p>
          <a:p>
            <a:endParaRPr/>
          </a:p>
          <a:p>
            <a:r>
              <a:t>RU: reads the current version, no view lookup</a:t>
            </a:r>
          </a:p>
          <a:p>
            <a:endParaRPr/>
          </a:p>
          <a:p>
            <a:r>
              <a:t>No phantom reads in RR, because of MVCC</a:t>
            </a:r>
          </a:p>
          <a:p>
            <a:endParaRPr/>
          </a:p>
          <a:p>
            <a:r>
              <a:t>Locking read</a:t>
            </a:r>
          </a:p>
          <a:p>
            <a:endParaRPr/>
          </a:p>
          <a:p>
            <a:r>
              <a:t>Never consults the read view (row0sel.cc:5226)</a:t>
            </a:r>
          </a:p>
          <a:p>
            <a:endParaRPr/>
          </a:p>
          <a:p>
            <a:r>
              <a:t>So one transaction can have a SELECT that misses a row and a SELECT FOR UPDATE that sees it</a:t>
            </a:r>
          </a:p>
          <a:p>
            <a:endParaRPr/>
          </a:p>
          <a:p>
            <a:r>
              <a:t>Once touched, the row carries your own trx id (read0types.h:167)</a:t>
            </a:r>
          </a:p>
          <a:p>
            <a:endParaRPr/>
          </a:p>
          <a:p>
            <a:r>
              <a:t>Exact match on a full UNIQUE key becomes LOCK_REC_NOT_GAP (row0sel.cc:4618-4627)</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on MySQL Community Server 8.4.11, source and replica, with GTIDs enabled, InnoDB, four parallel workers and REPEATABLE READ defaults. This slide describes fully row-based transactions in that configuration; it is not an unconditional claim that every replication applier always uses READ COMMITTED.</a:t>
            </a:r>
          </a:p>
          <a:p>
            <a:endParaRPr/>
          </a:p>
          <a:p>
            <a:r>
              <a:t>Live test: source sessions at READ UNCOMMITTED, READ COMMITTED, REPEATABLE READ and SERIALIZABLE each produced an active row-based applier transaction at READ COMMITTED. With binlog_format=STATEMENT, both REPEATABLE READ and SERIALIZABLE source sessions produced an active applier transaction at the replica session default, REPEATABLE READ. Returning to ROW produced READ COMMITTED again on the same worker. The applier session variable remained REPEATABLE-READ even during the active READ COMMITTED transaction.</a:t>
            </a:r>
          </a:p>
          <a:p>
            <a:endParaRPr/>
          </a:p>
          <a:p>
            <a:r>
              <a:t>Method: a replica SELECT ... FOR SHARE held a lock on a dedicated test row. After committing the source update, the test joined information_schema.innodb_trx to performance_schema.threads and replication_applier_status_by_worker, and matched the APPLYING_TRANSACTION GTID to that exact source commit. TRX_ISOLATION_LEVEL measured the active InnoDB transaction, not just its session default. The lock was released by ROLLBACK after each sample. All seven updates reached the replica; both values ended at 7, workers had zero errors, and the dedicated test schema was removed.</a:t>
            </a:r>
          </a:p>
          <a:p>
            <a:endParaRPr/>
          </a:p>
          <a:p>
            <a:r>
              <a:t>Code proof, tag mysql-8.4.11, commit 99960bf74fa919347e4f4e3ca47672f333d6e91f:</a:t>
            </a:r>
          </a:p>
          <a:p>
            <a:r>
              <a:t>https://github.com/mysql/mysql-server/blob/mysql-8.4.11/sql/log_event.cc#L13565-L13594</a:t>
            </a:r>
          </a:p>
          <a:p>
            <a:r>
              <a:t>Gtid_log_event::do_apply_event checks that the transaction cannot contain statement-based changes, that the current applier isolation is above READ COMMITTED, and that the GTID is not being skipped. Only then does set_tx_isolation(... ISO_READ_COMMITTED, true) apply a one-shot override. Its reason is to avoid unnecessary InnoDB gap locking.</a:t>
            </a:r>
          </a:p>
          <a:p>
            <a:r>
              <a:t>https://github.com/mysql/mysql-server/blob/mysql-8.4.11/sql/log_event.cc#L6209-L6232</a:t>
            </a:r>
          </a:p>
          <a:p>
            <a:r>
              <a:t>Xid_log_event::do_commit restores transaction characteristics.</a:t>
            </a:r>
          </a:p>
          <a:p>
            <a:r>
              <a:t>https://github.com/mysql/mysql-server/blob/mysql-8.4.11/sql/transaction.cc#L72-L80</a:t>
            </a:r>
          </a:p>
          <a:p>
            <a:r>
              <a:t>trans_reset_one_shot_chistics restores the session isolation default.</a:t>
            </a:r>
          </a:p>
          <a:p>
            <a:endParaRPr/>
          </a:p>
          <a:p>
            <a:r>
              <a:t>Boundaries: row events apply source-produced row changes; they do not rerun the source transaction's reads or copy its snapshot. Replica application-client SELECTs use their own transaction isolation. MIXED must be reasoned about using actual events, not only its configuration label. The condition does not raise an applier already at READ UNCOMMITTED. This test did not exercise that configuration, XA, Group Replication or other MySQL versions. No universal statement about all replication implementations is implied.</a:t>
            </a:r>
          </a:p>
          <a:p>
            <a:r>
              <a:t>Brand: https://readyset.io/</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DA556-2B97-3ADA-86ED-F0139C206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BF4DD-54DE-2A93-D08B-DFE75E335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5ACF7-C10F-73B7-8A90-0FDD20C3D1E0}"/>
              </a:ext>
            </a:extLst>
          </p:cNvPr>
          <p:cNvSpPr>
            <a:spLocks noGrp="1"/>
          </p:cNvSpPr>
          <p:nvPr>
            <p:ph type="body" idx="1"/>
          </p:nvPr>
        </p:nvSpPr>
        <p:spPr/>
        <p:txBody>
          <a:bodyPr/>
          <a:lstStyle/>
          <a:p>
            <a:endParaRPr/>
          </a:p>
          <a:p>
            <a:r>
              <a:t>Technical evidence from original slide:</a:t>
            </a:r>
          </a:p>
          <a:p>
            <a:r>
              <a:t>03</a:t>
            </a:r>
          </a:p>
          <a:p>
            <a:endParaRPr/>
          </a:p>
          <a:p>
            <a:r>
              <a:t>The lab</a:t>
            </a:r>
          </a:p>
          <a:p>
            <a:endParaRPr/>
          </a:p>
          <a:p>
            <a:r>
              <a:t>What was measured, with which ruler, and where the ruler failed</a:t>
            </a:r>
          </a:p>
          <a:p>
            <a:r>
              <a:t>Brand assets and palette: https://readyset.io/ ; glyphs: https://readyset.io/icons/sprite-bulk.svg</a:t>
            </a:r>
          </a:p>
        </p:txBody>
      </p:sp>
      <p:sp>
        <p:nvSpPr>
          <p:cNvPr id="4" name="Slide Number Placeholder 3">
            <a:extLst>
              <a:ext uri="{FF2B5EF4-FFF2-40B4-BE49-F238E27FC236}">
                <a16:creationId xmlns:a16="http://schemas.microsoft.com/office/drawing/2014/main" id="{FAE018EF-2E24-8F8D-D5FF-85D4DE5C436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882607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D50B-6B49-26CA-A18D-D3D93594A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6BC46-8465-C60C-1633-076644BD2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8691E-8A46-AECC-0FF8-30DDC043E8D1}"/>
              </a:ext>
            </a:extLst>
          </p:cNvPr>
          <p:cNvSpPr>
            <a:spLocks noGrp="1"/>
          </p:cNvSpPr>
          <p:nvPr>
            <p:ph type="body" idx="1"/>
          </p:nvPr>
        </p:nvSpPr>
        <p:spPr/>
        <p:txBody>
          <a:bodyPr/>
          <a:lstStyle/>
          <a:p>
            <a:endParaRPr/>
          </a:p>
          <a:p>
            <a:r>
              <a:t>Technical evidence from original slide:</a:t>
            </a:r>
          </a:p>
          <a:p>
            <a:r>
              <a:t>03</a:t>
            </a:r>
          </a:p>
          <a:p>
            <a:endParaRPr/>
          </a:p>
          <a:p>
            <a:r>
              <a:t>The lab</a:t>
            </a:r>
          </a:p>
          <a:p>
            <a:endParaRPr/>
          </a:p>
          <a:p>
            <a:r>
              <a:t>What was measured, with which ruler, and where the ruler failed</a:t>
            </a:r>
          </a:p>
          <a:p>
            <a:r>
              <a:t>Brand assets and palette: https://readyset.io/ ; glyphs: https://readyset.io/icons/sprite-bulk.svg</a:t>
            </a:r>
          </a:p>
        </p:txBody>
      </p:sp>
      <p:sp>
        <p:nvSpPr>
          <p:cNvPr id="4" name="Slide Number Placeholder 3">
            <a:extLst>
              <a:ext uri="{FF2B5EF4-FFF2-40B4-BE49-F238E27FC236}">
                <a16:creationId xmlns:a16="http://schemas.microsoft.com/office/drawing/2014/main" id="{CB5AA132-004C-1B95-6019-610D522E609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255425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Eight responsibilities — one bullet each. All eight are moves that take a "the application must handle this" decision out of the application layer and put it into the SQL/cache layer, where Readyset owns it. Authorization → verdict per row. Stampede → coalesce upstream. Refresh → pre-expiry, off-path. TTL → sliding from access. Eviction → cost-aware LFU. Row-Level Security → per-tenant keys. Dynamic refresh → per key, when upstream data changes.</a:t>
            </a:r>
            <a:br>
              <a:rPr lang="en-US"/>
            </a:br>
            <a:r>
              <a:rPr lang="en-US"/>
              <a:t>The cost-aware story for memory: Readyset's shallow cache uses cost-aware admission AND eviction. Every cached result records two numbers — its size in bytes and how long the query took to run upstream. Size decides how much of the memory budget the entry uses; upstream execution time is its "cost". When the cache is full, a new result is only admitted if its request frequency multiplied by its cost beats that of the entries it would push out — so a result asked for rarely but slow to recompute can outrank one asked for often but cheap to recompute.</a:t>
            </a:r>
            <a:br>
              <a:rPr lang="en-US"/>
            </a:br>
            <a:r>
              <a:rPr lang="en-US"/>
              <a:t>The next four slides expand one of these bullets at a time — freshness, traffic control, memory and cost, correctness — which is where the bullets lead.</a:t>
            </a:r>
            <a:endParaRPr/>
          </a:p>
        </p:txBody>
      </p:sp>
      <p:sp>
        <p:nvSpPr>
          <p:cNvPr id="465" name="Google Shape;46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C71F-B9E8-813D-D21E-EC1D32C1D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2AD2B-1530-E7B8-39CE-8C89ABA0C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FE30A-70DB-1296-196C-B1102500D547}"/>
              </a:ext>
            </a:extLst>
          </p:cNvPr>
          <p:cNvSpPr>
            <a:spLocks noGrp="1"/>
          </p:cNvSpPr>
          <p:nvPr>
            <p:ph type="body" idx="1"/>
          </p:nvPr>
        </p:nvSpPr>
        <p:spPr/>
        <p:txBody>
          <a:bodyPr/>
          <a:lstStyle/>
          <a:p>
            <a:endParaRPr/>
          </a:p>
          <a:p>
            <a:r>
              <a:t>Technical evidence from original slide:</a:t>
            </a:r>
          </a:p>
          <a:p>
            <a:r>
              <a:t>03</a:t>
            </a:r>
          </a:p>
          <a:p>
            <a:endParaRPr/>
          </a:p>
          <a:p>
            <a:r>
              <a:t>The lab</a:t>
            </a:r>
          </a:p>
          <a:p>
            <a:endParaRPr/>
          </a:p>
          <a:p>
            <a:r>
              <a:t>What was measured, with which ruler, and where the ruler failed</a:t>
            </a:r>
          </a:p>
          <a:p>
            <a:r>
              <a:t>Brand assets and palette: https://readyset.io/ ; glyphs: https://readyset.io/icons/sprite-bulk.svg</a:t>
            </a:r>
          </a:p>
        </p:txBody>
      </p:sp>
      <p:sp>
        <p:nvSpPr>
          <p:cNvPr id="4" name="Slide Number Placeholder 3">
            <a:extLst>
              <a:ext uri="{FF2B5EF4-FFF2-40B4-BE49-F238E27FC236}">
                <a16:creationId xmlns:a16="http://schemas.microsoft.com/office/drawing/2014/main" id="{2C766EA8-DAAC-FB40-E372-15ECE438783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565038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6" name="Google Shape;666;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1" name="Google Shape;70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7" name="Google Shape;737;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8" name="Google Shape;738;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1" name="Google Shape;76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focus: challenge the absolute claim that selecting from the source always guarantees a fresh answer. Freshness here means recency relative to commits when the answer reaches the client, not transactional consistency. Source: https://dev.mysql.com/doc/refman/8.4/en/innodb-consistent-read.html</a:t>
            </a:r>
          </a:p>
          <a:p>
            <a:r>
              <a:t>Lab evidence: Readyset-Lab-Comparison.json. Query: SELECT side, COUNT(*) AS n, SUM(amount) AS s FROM ledger GROUP BY side</a:t>
            </a:r>
          </a:p>
          <a:p>
            <a:r>
              <a:t>Warm reads. Source and replica each start a fresh explicit RR read-only transaction per query. Deep cache autocommit; route checked after every read. One monotonic client clock; freshness counts acknowledged commits absent at response, not exact replication delay. Single writer, two rows/commit; baseline and final counts verified. Random target order, same Docker host. Writes remain in lab ledger under batch_id 1790213058572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plain consistent SELECT in InnoDB REPEATABLE READ sees its read view, not changes committed after that read view was established. The example assumes a fresh read-only transaction and a snapshot established at the start of the illustrated query. An existing RR snapshot could be older still. Locking reads are outside this example. https://dev.mysql.com/doc/refman/8.4/en/innodb-consistent-read.html</a:t>
            </a:r>
          </a:p>
          <a:p>
            <a:r>
              <a:t>Lab evidence: Readyset-Lab-Comparison.json. Query: SELECT side, COUNT(*) AS n, SUM(amount) AS s FROM ledger GROUP BY side</a:t>
            </a:r>
          </a:p>
          <a:p>
            <a:r>
              <a:t>Warm reads. Source and replica each start a fresh explicit RR read-only transaction per query. Deep cache autocommit; route checked after every read. One monotonic client clock; freshness counts acknowledged commits absent at response, not exact replication delay. Single writer, two rows/commit; baseline and final counts verified. Random target order, same Docker host. Writes remain in lab ledger under batch_id 1790213058572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durations, NOT benchmark results. For each separate scenario the snapshot is established at t=0 and the answer arrives at t=T. The snapshot is then T seconds old; this is snapshot age, not the age of every row. Newer commits during execution are not in the result. An idle database would not create missing changes merely because time passes. Query time need not equal snapshot age if view establishment happens later or an older RR snapshot is reused. https://dev.mysql.com/doc/refman/8.4/en/innodb-consistent-read.html</a:t>
            </a:r>
          </a:p>
          <a:p>
            <a:r>
              <a:t>Lab evidence: Readyset-Lab-Comparison.json. Query: SELECT side, COUNT(*) AS n, SUM(amount) AS s FROM ledger GROUP BY side</a:t>
            </a:r>
          </a:p>
          <a:p>
            <a:r>
              <a:t>Warm reads. Source and replica each start a fresh explicit RR read-only transaction per query. Deep cache autocommit; route checked after every read. One monotonic client clock; freshness counts acknowledged commits absent at response, not exact replication delay. Single writer, two rows/commit; baseline and final counts verified. Random target order, same Docker host. Writes remain in lab ledger under batch_id 1790213058572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Readyset deep caching only. Shallow caching and replica comparison are outside the main lab. A warm supported query reuses an incrementally maintained result, with asynchronous source changes. https://readyset.io/docs/concepts/deep-caching</a:t>
            </a:r>
          </a:p>
          <a:p>
            <a:r>
              <a:t>Lab evidence: Readyset-Lab-Comparison.json. Query: SELECT side, COUNT(*) AS n, SUM(amount) AS s FROM ledger GROUP BY side</a:t>
            </a:r>
          </a:p>
          <a:p>
            <a:r>
              <a:t>Warm reads. Source and replica each start a fresh explicit RR read-only transaction per query. Deep cache autocommit; route checked after every read. One monotonic client clock; freshness counts acknowledged commits absent at response, not exact replication delay. Single writer, two rows/commit; baseline and final counts verified. Random target order, same Docker host. Writes remain in lab ledger under batch_id 1790213058572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ILLUSTRATION, not a timed database run. Animation compresses one minute into 18 seconds. Starting value 100; source commits ten-unit increments every ten simulated seconds. Illustrative propagation delay is 0.8 simulated seconds. The source RR read holds the initial snapshot and returns 100 after 60 simulated seconds. A warm deep-cache lookup performed near that completion can return 150, newer than 100 but behind the latest source value 160. This does not claim that a cache request issued at t=0 returns future data. The comparison shows a later lookup versus an already-running query. For requests issued at the same time, judge freshness at each response arrival; the cache can return sooner with less stale data at its own response time. https://dev.mysql.com/doc/refman/8.4/en/innodb-consistent-read.html https://readyset.io/docs/concepts/deep-caching</a:t>
            </a:r>
          </a:p>
          <a:p>
            <a:r>
              <a:t>Lab evidence: Readyset-Lab-Comparison.json. Query: SELECT side, COUNT(*) AS n, SUM(amount) AS s FROM ledger GROUP BY side</a:t>
            </a:r>
          </a:p>
          <a:p>
            <a:r>
              <a:t>Warm reads. Source and replica each start a fresh explicit RR read-only transaction per query. Deep cache autocommit; route checked after every read. One monotonic client clock; freshness counts acknowledged commits absent at response, not exact replication delay. Single writer, two rows/commit; baseline and final counts verified. Random target order, same Docker host. Writes remain in lab ledger under batch_id 1790213058572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falsified claim is unconditional freshness at response time. A source consistent read can return a snapshot that aged during execution, even though the server has newer commits. A warm deep cache can be both faster and fresher at response time when propagation plus lookup delay is smaller than the age of the source query snapshot. This does not imply linearizable reads, source transaction snapshot equivalence, or that Readyset is always fresher. The 10/30/60-second timeline scenarios are illustrative, not extrapolated benchmark results. https://dev.mysql.com/doc/refman/8.4/en/innodb-consistent-read.html https://readyset.io/docs/concepts/deep-caching</a:t>
            </a:r>
          </a:p>
          <a:p>
            <a:r>
              <a:t>Lab evidence: Readyset-Lab-Comparison.json. Query: SELECT side, COUNT(*) AS n, SUM(amount) AS s FROM ledger GROUP BY side</a:t>
            </a:r>
          </a:p>
          <a:p>
            <a:r>
              <a:t>Warm reads. Source and replica each start a fresh explicit RR read-only transaction per query. Deep cache autocommit; route checked after every read. One monotonic client clock; freshness counts acknowledged commits absent at response, not exact replication delay. Single writer, two rows/commit; baseline and final counts verified. Random target order, same Docker host. Writes remain in lab ledger under batch_id 1790213058572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9F5E0-F5EE-BC58-0C36-FAFF2A9B5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FBBAD-F58F-E136-FB5E-F5C96C4804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72141-DE87-59BD-52BD-A47AEF8F9C56}"/>
              </a:ext>
            </a:extLst>
          </p:cNvPr>
          <p:cNvSpPr>
            <a:spLocks noGrp="1"/>
          </p:cNvSpPr>
          <p:nvPr>
            <p:ph type="body" idx="1"/>
          </p:nvPr>
        </p:nvSpPr>
        <p:spPr/>
        <p:txBody>
          <a:bodyPr/>
          <a:lstStyle/>
          <a:p>
            <a:endParaRPr/>
          </a:p>
          <a:p>
            <a:r>
              <a:t>Technical evidence from original slide:</a:t>
            </a:r>
          </a:p>
          <a:p>
            <a:r>
              <a:t>03</a:t>
            </a:r>
          </a:p>
          <a:p>
            <a:endParaRPr/>
          </a:p>
          <a:p>
            <a:r>
              <a:t>The lab</a:t>
            </a:r>
          </a:p>
          <a:p>
            <a:endParaRPr/>
          </a:p>
          <a:p>
            <a:r>
              <a:t>What was measured, with which ruler, and where the ruler failed</a:t>
            </a:r>
          </a:p>
          <a:p>
            <a:r>
              <a:t>Brand assets and palette: https://readyset.io/ ; glyphs: https://readyset.io/icons/sprite-bulk.svg</a:t>
            </a:r>
          </a:p>
        </p:txBody>
      </p:sp>
      <p:sp>
        <p:nvSpPr>
          <p:cNvPr id="4" name="Slide Number Placeholder 3">
            <a:extLst>
              <a:ext uri="{FF2B5EF4-FFF2-40B4-BE49-F238E27FC236}">
                <a16:creationId xmlns:a16="http://schemas.microsoft.com/office/drawing/2014/main" id="{9AA92240-AB1E-1A35-96A2-0E0B777AF78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960664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This is Readyset in isolation. Same machine, same day, same workload: one primary-key point lookup against 10,000 hot keys in a 1,000,000-row MySQL table, served over the MySQL wire protocol from a fully pre-built deep cache. Every request was a cache hit; the database was not in the path.</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Throughput climbs linearly through 560 connections, then plateaus near 4 million queries per second. Peak is 4,379,212 at 6,720 connections at 2.26 ms p95. Past peak, additional concurrency reduces throughput and pushes tail latency out — that's queueing once the machine is saturated, which is expected.</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The most useful number on this slide is the cycle breakdown. At peak the cache read path itself is roughly seven percent of all cycles on the machine. Kernel networking is fifty-six. Readyset is not the bottleneck — it has been removed as a bottleneck. Anything left to optimize is in the kernel or the protocol.</a:t>
            </a:r>
            <a:endParaRPr/>
          </a:p>
        </p:txBody>
      </p:sp>
      <p:sp>
        <p:nvSpPr>
          <p:cNvPr id="796" name="Google Shape;796;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Same workload, same machine, same fleet of thirty-five client generators, run within a single day. Four configurations total.</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Readyset peaks at 4.33 million queries per second. PostgreSQL 16, run directly, peaks at 2.18 million — about half. Putting pgbouncer in transaction-pooling mode in front of the same Postgres peaks at 1.80 million; the pooler caps concurrency. Percona MySQL 8.4 peaks at 1.57 million.</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The chart is log-scaled, so the visual gap between the curves understates the runtime gap. On a linear scale the Readyset line sits at the top while the three databases cluster in a band below. All four ran on the same AMD EPYC 9454 with 251 GiB of RAM and a 10 GbE NIC. The 1 M-row working set fits easily in any buffer configuration — the comparison is not about whether the data fits. It is about what each engine does per round trip, and Readyset does not do a round trip on the cache read path.</a:t>
            </a:r>
            <a:endParaRPr/>
          </a:p>
        </p:txBody>
      </p:sp>
      <p:sp>
        <p:nvSpPr>
          <p:cNvPr id="820" name="Google Shape;820;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Technical evidence from original slide:</a:t>
            </a:r>
          </a:p>
          <a:p>
            <a:r>
              <a:t>Thank you.</a:t>
            </a:r>
          </a:p>
          <a:p>
            <a:endParaRPr/>
          </a:p>
          <a:p>
            <a:r>
              <a:t>Questions?</a:t>
            </a:r>
          </a:p>
          <a:p>
            <a:endParaRPr/>
          </a:p>
          <a:p>
            <a:r>
              <a:t>readyset.io</a:t>
            </a:r>
          </a:p>
          <a:p>
            <a:endParaRPr/>
          </a:p>
          <a:p>
            <a:r>
              <a:t>vinicius@readyset.io</a:t>
            </a:r>
          </a:p>
          <a:p>
            <a:endParaRPr/>
          </a:p>
          <a:p>
            <a:r>
              <a:t>Bench, harness and every result file are in the talk repository</a:t>
            </a:r>
          </a:p>
          <a:p>
            <a:r>
              <a:t>Brand assets and palette: https://readyset.io/ ; glyphs: https://readyset.io/icons/sprite-bulk.svg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00"/>
        <p:cNvGrpSpPr/>
        <p:nvPr/>
      </p:nvGrpSpPr>
      <p:grpSpPr>
        <a:xfrm>
          <a:off x="0" y="0"/>
          <a:ext cx="0" cy="0"/>
          <a:chOff x="0" y="0"/>
          <a:chExt cx="0" cy="0"/>
        </a:xfrm>
      </p:grpSpPr>
      <p:sp>
        <p:nvSpPr>
          <p:cNvPr id="101" name="Google Shape;101;p26"/>
          <p:cNvSpPr txBox="1">
            <a:spLocks noGrp="1"/>
          </p:cNvSpPr>
          <p:nvPr>
            <p:ph type="ctrTitle"/>
          </p:nvPr>
        </p:nvSpPr>
        <p:spPr>
          <a:xfrm>
            <a:off x="708625" y="341525"/>
            <a:ext cx="7726800" cy="6198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000"/>
              <a:buNone/>
              <a:defRPr/>
            </a:lvl1pPr>
            <a:lvl2pPr lvl="1" algn="r">
              <a:lnSpc>
                <a:spcPct val="100000"/>
              </a:lnSpc>
              <a:spcBef>
                <a:spcPts val="0"/>
              </a:spcBef>
              <a:spcAft>
                <a:spcPts val="0"/>
              </a:spcAft>
              <a:buSzPts val="1800"/>
              <a:buNone/>
              <a:defRPr sz="1800"/>
            </a:lvl2pPr>
            <a:lvl3pPr lvl="2" algn="r">
              <a:lnSpc>
                <a:spcPct val="100000"/>
              </a:lnSpc>
              <a:spcBef>
                <a:spcPts val="0"/>
              </a:spcBef>
              <a:spcAft>
                <a:spcPts val="0"/>
              </a:spcAft>
              <a:buSzPts val="1800"/>
              <a:buNone/>
              <a:defRPr sz="1800"/>
            </a:lvl3pPr>
            <a:lvl4pPr lvl="3" algn="r">
              <a:lnSpc>
                <a:spcPct val="100000"/>
              </a:lnSpc>
              <a:spcBef>
                <a:spcPts val="0"/>
              </a:spcBef>
              <a:spcAft>
                <a:spcPts val="0"/>
              </a:spcAft>
              <a:buSzPts val="1800"/>
              <a:buNone/>
              <a:defRPr sz="1800"/>
            </a:lvl4pPr>
            <a:lvl5pPr lvl="4" algn="r">
              <a:lnSpc>
                <a:spcPct val="100000"/>
              </a:lnSpc>
              <a:spcBef>
                <a:spcPts val="0"/>
              </a:spcBef>
              <a:spcAft>
                <a:spcPts val="0"/>
              </a:spcAft>
              <a:buSzPts val="1800"/>
              <a:buNone/>
              <a:defRPr sz="1800"/>
            </a:lvl5pPr>
            <a:lvl6pPr lvl="5" algn="r">
              <a:lnSpc>
                <a:spcPct val="100000"/>
              </a:lnSpc>
              <a:spcBef>
                <a:spcPts val="0"/>
              </a:spcBef>
              <a:spcAft>
                <a:spcPts val="0"/>
              </a:spcAft>
              <a:buSzPts val="1800"/>
              <a:buNone/>
              <a:defRPr sz="1800"/>
            </a:lvl6pPr>
            <a:lvl7pPr lvl="6" algn="r">
              <a:lnSpc>
                <a:spcPct val="100000"/>
              </a:lnSpc>
              <a:spcBef>
                <a:spcPts val="0"/>
              </a:spcBef>
              <a:spcAft>
                <a:spcPts val="0"/>
              </a:spcAft>
              <a:buSzPts val="1800"/>
              <a:buNone/>
              <a:defRPr sz="1800"/>
            </a:lvl7pPr>
            <a:lvl8pPr lvl="7" algn="r">
              <a:lnSpc>
                <a:spcPct val="100000"/>
              </a:lnSpc>
              <a:spcBef>
                <a:spcPts val="0"/>
              </a:spcBef>
              <a:spcAft>
                <a:spcPts val="0"/>
              </a:spcAft>
              <a:buSzPts val="1800"/>
              <a:buNone/>
              <a:defRPr sz="1800"/>
            </a:lvl8pPr>
            <a:lvl9pPr lvl="8" algn="r">
              <a:lnSpc>
                <a:spcPct val="100000"/>
              </a:lnSpc>
              <a:spcBef>
                <a:spcPts val="0"/>
              </a:spcBef>
              <a:spcAft>
                <a:spcPts val="0"/>
              </a:spcAft>
              <a:buSzPts val="1800"/>
              <a:buNone/>
              <a:defRPr sz="1800"/>
            </a:lvl9pPr>
          </a:lstStyle>
          <a:p>
            <a:endParaRPr/>
          </a:p>
        </p:txBody>
      </p:sp>
      <p:sp>
        <p:nvSpPr>
          <p:cNvPr id="102" name="Google Shape;102;p26"/>
          <p:cNvSpPr txBox="1">
            <a:spLocks noGrp="1"/>
          </p:cNvSpPr>
          <p:nvPr>
            <p:ph type="sldNum" idx="12"/>
          </p:nvPr>
        </p:nvSpPr>
        <p:spPr>
          <a:xfrm>
            <a:off x="8556784" y="4708326"/>
            <a:ext cx="548700" cy="3936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1"/>
                </a:solidFill>
                <a:latin typeface="Arial"/>
                <a:ea typeface="Space Grotesk"/>
                <a:cs typeface="Space Grotesk"/>
                <a:sym typeface="Space Grotesk"/>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84989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40770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29331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a:lnSpc>
          <a:spcPct val="90000"/>
        </a:lnSpc>
        <a:spcBef>
          <a:spcPts val="0"/>
        </a:spcBef>
        <a:buNone/>
        <a:defRPr sz="4400">
          <a:solidFill>
            <a:schemeClr val="tx1"/>
          </a:solidFill>
          <a:latin typeface="Arial"/>
          <a:ea typeface="+mj-lt"/>
          <a:cs typeface="+mj-lt"/>
        </a:defRPr>
      </a:lvl1pPr>
    </p:titleStyle>
    <p:bodyStyle>
      <a:lvl1pPr marL="228600" indent="-228600" algn="l">
        <a:lnSpc>
          <a:spcPct val="90000"/>
        </a:lnSpc>
        <a:spcBef>
          <a:spcPts val="1000"/>
        </a:spcBef>
        <a:buChar char="•"/>
        <a:defRPr sz="2800">
          <a:solidFill>
            <a:schemeClr val="tx1"/>
          </a:solidFill>
          <a:latin typeface="Arial"/>
          <a:ea typeface="+mn-lt"/>
          <a:cs typeface="+mn-lt"/>
        </a:defRPr>
      </a:lvl1pPr>
      <a:lvl2pPr marL="685800" indent="-228600" algn="l">
        <a:lnSpc>
          <a:spcPct val="90000"/>
        </a:lnSpc>
        <a:spcBef>
          <a:spcPts val="500"/>
        </a:spcBef>
        <a:buChar char="•"/>
        <a:defRPr sz="2400">
          <a:solidFill>
            <a:schemeClr val="tx1"/>
          </a:solidFill>
          <a:latin typeface="Arial"/>
          <a:ea typeface="+mn-lt"/>
          <a:cs typeface="+mn-lt"/>
        </a:defRPr>
      </a:lvl2pPr>
      <a:lvl3pPr marL="1143000" indent="-228600" algn="l">
        <a:lnSpc>
          <a:spcPct val="90000"/>
        </a:lnSpc>
        <a:spcBef>
          <a:spcPts val="500"/>
        </a:spcBef>
        <a:buChar char="•"/>
        <a:defRPr sz="2000">
          <a:solidFill>
            <a:schemeClr val="tx1"/>
          </a:solidFill>
          <a:latin typeface="Arial"/>
          <a:ea typeface="+mn-lt"/>
          <a:cs typeface="+mn-lt"/>
        </a:defRPr>
      </a:lvl3pPr>
      <a:lvl4pPr marL="1600200" indent="-228600" algn="l">
        <a:lnSpc>
          <a:spcPct val="90000"/>
        </a:lnSpc>
        <a:spcBef>
          <a:spcPts val="500"/>
        </a:spcBef>
        <a:buChar char="•"/>
        <a:defRPr sz="1800">
          <a:solidFill>
            <a:schemeClr val="tx1"/>
          </a:solidFill>
          <a:latin typeface="Arial"/>
          <a:ea typeface="+mn-lt"/>
          <a:cs typeface="+mn-lt"/>
        </a:defRPr>
      </a:lvl4pPr>
      <a:lvl5pPr marL="2057400" indent="-228600" algn="l">
        <a:lnSpc>
          <a:spcPct val="90000"/>
        </a:lnSpc>
        <a:spcBef>
          <a:spcPts val="500"/>
        </a:spcBef>
        <a:buChar char="•"/>
        <a:defRPr sz="1800">
          <a:solidFill>
            <a:schemeClr val="tx1"/>
          </a:solidFill>
          <a:latin typeface="Arial"/>
          <a:ea typeface="+mn-lt"/>
          <a:cs typeface="+mn-lt"/>
        </a:defRPr>
      </a:lvl5pPr>
      <a:lvl6pPr marL="2514600" indent="-228600" algn="l">
        <a:lnSpc>
          <a:spcPct val="90000"/>
        </a:lnSpc>
        <a:spcBef>
          <a:spcPts val="500"/>
        </a:spcBef>
        <a:buChar char="•"/>
        <a:defRPr sz="1800">
          <a:solidFill>
            <a:schemeClr val="tx1"/>
          </a:solidFill>
          <a:latin typeface="Arial"/>
          <a:ea typeface="+mn-lt"/>
          <a:cs typeface="+mn-lt"/>
        </a:defRPr>
      </a:lvl6pPr>
      <a:lvl7pPr marL="2971800" indent="-228600" algn="l">
        <a:lnSpc>
          <a:spcPct val="90000"/>
        </a:lnSpc>
        <a:spcBef>
          <a:spcPts val="500"/>
        </a:spcBef>
        <a:buChar char="•"/>
        <a:defRPr sz="1800">
          <a:solidFill>
            <a:schemeClr val="tx1"/>
          </a:solidFill>
          <a:latin typeface="Arial"/>
          <a:ea typeface="+mn-lt"/>
          <a:cs typeface="+mn-lt"/>
        </a:defRPr>
      </a:lvl7pPr>
      <a:lvl8pPr marL="3429000" indent="-228600" algn="l">
        <a:lnSpc>
          <a:spcPct val="90000"/>
        </a:lnSpc>
        <a:spcBef>
          <a:spcPts val="500"/>
        </a:spcBef>
        <a:buChar char="•"/>
        <a:defRPr sz="1800">
          <a:solidFill>
            <a:schemeClr val="tx1"/>
          </a:solidFill>
          <a:latin typeface="Arial"/>
          <a:ea typeface="+mn-lt"/>
          <a:cs typeface="+mn-lt"/>
        </a:defRPr>
      </a:lvl8pPr>
      <a:lvl9pPr marL="3886200" indent="-228600" algn="l">
        <a:lnSpc>
          <a:spcPct val="90000"/>
        </a:lnSpc>
        <a:spcBef>
          <a:spcPts val="500"/>
        </a:spcBef>
        <a:buChar char="•"/>
        <a:defRPr sz="1800">
          <a:solidFill>
            <a:schemeClr val="tx1"/>
          </a:solidFill>
          <a:latin typeface="Arial"/>
          <a:ea typeface="+mn-lt"/>
          <a:cs typeface="+mn-lt"/>
        </a:defRPr>
      </a:lvl9pPr>
    </p:bodyStyle>
    <p:otherStyle>
      <a:lvl1pPr marL="0" algn="l">
        <a:buNone/>
        <a:defRPr sz="1800">
          <a:solidFill>
            <a:schemeClr val="tx1"/>
          </a:solidFill>
          <a:latin typeface="Arial"/>
          <a:ea typeface="+mn-lt"/>
          <a:cs typeface="+mn-lt"/>
        </a:defRPr>
      </a:lvl1pPr>
      <a:lvl2pPr marL="457200" algn="l">
        <a:buNone/>
        <a:defRPr sz="1800">
          <a:solidFill>
            <a:schemeClr val="tx1"/>
          </a:solidFill>
          <a:latin typeface="Arial"/>
          <a:ea typeface="+mn-lt"/>
          <a:cs typeface="+mn-lt"/>
        </a:defRPr>
      </a:lvl2pPr>
      <a:lvl3pPr marL="914400" algn="l">
        <a:buNone/>
        <a:defRPr sz="1800">
          <a:solidFill>
            <a:schemeClr val="tx1"/>
          </a:solidFill>
          <a:latin typeface="Arial"/>
          <a:ea typeface="+mn-lt"/>
          <a:cs typeface="+mn-lt"/>
        </a:defRPr>
      </a:lvl3pPr>
      <a:lvl4pPr marL="1371600" algn="l">
        <a:buNone/>
        <a:defRPr sz="1800">
          <a:solidFill>
            <a:schemeClr val="tx1"/>
          </a:solidFill>
          <a:latin typeface="Arial"/>
          <a:ea typeface="+mn-lt"/>
          <a:cs typeface="+mn-lt"/>
        </a:defRPr>
      </a:lvl4pPr>
      <a:lvl5pPr marL="1828800" algn="l">
        <a:buNone/>
        <a:defRPr sz="1800">
          <a:solidFill>
            <a:schemeClr val="tx1"/>
          </a:solidFill>
          <a:latin typeface="Arial"/>
          <a:ea typeface="+mn-lt"/>
          <a:cs typeface="+mn-lt"/>
        </a:defRPr>
      </a:lvl5pPr>
      <a:lvl6pPr marL="2286000" algn="l">
        <a:buNone/>
        <a:defRPr sz="1800">
          <a:solidFill>
            <a:schemeClr val="tx1"/>
          </a:solidFill>
          <a:latin typeface="Arial"/>
          <a:ea typeface="+mn-lt"/>
          <a:cs typeface="+mn-lt"/>
        </a:defRPr>
      </a:lvl6pPr>
      <a:lvl7pPr marL="2743200" algn="l">
        <a:buNone/>
        <a:defRPr sz="1800">
          <a:solidFill>
            <a:schemeClr val="tx1"/>
          </a:solidFill>
          <a:latin typeface="Arial"/>
          <a:ea typeface="+mn-lt"/>
          <a:cs typeface="+mn-lt"/>
        </a:defRPr>
      </a:lvl7pPr>
      <a:lvl8pPr marL="3200400" algn="l">
        <a:buNone/>
        <a:defRPr sz="1800">
          <a:solidFill>
            <a:schemeClr val="tx1"/>
          </a:solidFill>
          <a:latin typeface="Arial"/>
          <a:ea typeface="+mn-lt"/>
          <a:cs typeface="+mn-lt"/>
        </a:defRPr>
      </a:lvl8pPr>
      <a:lvl9pPr marL="3657600" algn="l">
        <a:buNone/>
        <a:defRPr sz="1800">
          <a:solidFill>
            <a:schemeClr val="tx1"/>
          </a:solidFill>
          <a:latin typeface="Arial"/>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1.png"/><Relationship Id="rId5" Type="http://schemas.openxmlformats.org/officeDocument/2006/relationships/image" Target="../media/image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14.png"/><Relationship Id="rId5" Type="http://schemas.openxmlformats.org/officeDocument/2006/relationships/image" Target="../media/image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15.png"/><Relationship Id="rId5" Type="http://schemas.openxmlformats.org/officeDocument/2006/relationships/image" Target="../media/image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8.mp4"/><Relationship Id="rId1" Type="http://schemas.microsoft.com/office/2007/relationships/media" Target="../media/media8.mp4"/><Relationship Id="rId6" Type="http://schemas.openxmlformats.org/officeDocument/2006/relationships/image" Target="../media/image24.png"/><Relationship Id="rId5" Type="http://schemas.openxmlformats.org/officeDocument/2006/relationships/image" Target="../media/image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sp>
        <p:nvSpPr>
          <p:cNvPr id="3" name="Slide title">
            <a:extLst>
              <a:ext uri="{FF2B5EF4-FFF2-40B4-BE49-F238E27FC236}">
                <a16:creationId xmlns:a16="http://schemas.microsoft.com/office/drawing/2014/main" id="{3D3C29E2-C77A-4A5E-87B7-C977A4179D9F}"/>
              </a:ext>
            </a:extLst>
          </p:cNvPr>
          <p:cNvSpPr>
            <a:spLocks noGrp="1"/>
          </p:cNvSpPr>
          <p:nvPr/>
        </p:nvSpPr>
        <p:spPr>
          <a:xfrm>
            <a:off x="457200" y="1543050"/>
            <a:ext cx="8191500" cy="1000125"/>
          </a:xfrm>
          <a:prstGeom prst="rect">
            <a:avLst/>
          </a:prstGeom>
          <a:noFill/>
          <a:ln w="0">
            <a:noFill/>
          </a:ln>
        </p:spPr>
        <p:txBody>
          <a:bodyPr wrap="none" lIns="0" tIns="0" rIns="0" bIns="0">
            <a:noAutofit/>
          </a:bodyPr>
          <a:lstStyle/>
          <a:p>
            <a:pPr>
              <a:lnSpc>
                <a:spcPct val="110000"/>
              </a:lnSpc>
              <a:buNone/>
              <a:defRPr sz="6000" b="1">
                <a:solidFill>
                  <a:srgbClr val="EDEDEC"/>
                </a:solidFill>
                <a:latin typeface="Arial"/>
                <a:ea typeface="Arial"/>
                <a:cs typeface="Arial"/>
              </a:defRPr>
            </a:pPr>
            <a:r>
              <a:rPr lang="en-US" sz="3600" b="1" dirty="0">
                <a:solidFill>
                  <a:srgbClr val="EDEDEC"/>
                </a:solidFill>
                <a:latin typeface="Arial"/>
                <a:ea typeface="Arial"/>
                <a:cs typeface="Arial"/>
              </a:rPr>
              <a:t>Too Much ACID, Not Enough Reality</a:t>
            </a:r>
            <a:endParaRPr sz="3600" b="1" dirty="0">
              <a:solidFill>
                <a:srgbClr val="EDEDEC"/>
              </a:solidFill>
              <a:latin typeface="Arial"/>
              <a:ea typeface="Arial"/>
              <a:cs typeface="Arial"/>
            </a:endParaRPr>
          </a:p>
        </p:txBody>
      </p:sp>
      <p:sp>
        <p:nvSpPr>
          <p:cNvPr id="4" name="text-1">
            <a:extLst>
              <a:ext uri="{FF2B5EF4-FFF2-40B4-BE49-F238E27FC236}">
                <a16:creationId xmlns:a16="http://schemas.microsoft.com/office/drawing/2014/main" id="{A16CB5C1-0DF5-4DBC-888D-6C8B7CFED0D7}"/>
              </a:ext>
            </a:extLst>
          </p:cNvPr>
          <p:cNvSpPr>
            <a:spLocks noGrp="1"/>
          </p:cNvSpPr>
          <p:nvPr/>
        </p:nvSpPr>
        <p:spPr>
          <a:xfrm>
            <a:off x="495300" y="2714625"/>
            <a:ext cx="7620000" cy="352901"/>
          </a:xfrm>
          <a:prstGeom prst="rect">
            <a:avLst/>
          </a:prstGeom>
          <a:noFill/>
          <a:ln w="0">
            <a:noFill/>
          </a:ln>
        </p:spPr>
        <p:txBody>
          <a:bodyPr wrap="none" lIns="0" tIns="0" rIns="0" bIns="0">
            <a:noAutofit/>
          </a:bodyPr>
          <a:lstStyle/>
          <a:p>
            <a:pPr algn="ctr"/>
            <a:r>
              <a:rPr lang="en-US" sz="2400" dirty="0">
                <a:solidFill>
                  <a:srgbClr val="888888"/>
                </a:solidFill>
                <a:latin typeface="Arial"/>
              </a:rPr>
              <a:t>A guided tour of what your SELECT thinks happened</a:t>
            </a:r>
            <a:endParaRPr lang="en-BR" sz="2400" b="0" dirty="0">
              <a:effectLst/>
            </a:endParaRPr>
          </a:p>
        </p:txBody>
      </p:sp>
      <p:sp>
        <p:nvSpPr>
          <p:cNvPr id="7" name="TextBox 6">
            <a:extLst>
              <a:ext uri="{FF2B5EF4-FFF2-40B4-BE49-F238E27FC236}">
                <a16:creationId xmlns:a16="http://schemas.microsoft.com/office/drawing/2014/main" id="{68C73911-956F-5CE3-9F4D-CD99E265566B}"/>
              </a:ext>
            </a:extLst>
          </p:cNvPr>
          <p:cNvSpPr txBox="1"/>
          <p:nvPr/>
        </p:nvSpPr>
        <p:spPr>
          <a:xfrm>
            <a:off x="2286000" y="4400437"/>
            <a:ext cx="4572000" cy="307777"/>
          </a:xfrm>
          <a:prstGeom prst="rect">
            <a:avLst/>
          </a:prstGeom>
          <a:noFill/>
        </p:spPr>
        <p:txBody>
          <a:bodyPr wrap="square">
            <a:spAutoFit/>
          </a:bodyPr>
          <a:lstStyle/>
          <a:p>
            <a:pPr algn="ctr" rtl="0">
              <a:buNone/>
            </a:pPr>
            <a:r>
              <a:rPr lang="en-BR" sz="1400" b="0" i="0" u="none" strike="noStrike" dirty="0">
                <a:solidFill>
                  <a:srgbClr val="CCCCCC"/>
                </a:solidFill>
                <a:effectLst/>
                <a:latin typeface="Arial" panose="020F0502020204030203" pitchFamily="34" charset="0"/>
              </a:rPr>
              <a:t>Lead Database Engineer |  Senior Software Engineer</a:t>
            </a:r>
            <a:endParaRPr lang="en-BR" b="0" dirty="0">
              <a:effectLst/>
            </a:endParaRPr>
          </a:p>
        </p:txBody>
      </p:sp>
      <p:pic>
        <p:nvPicPr>
          <p:cNvPr id="8" name="Picture 7" descr="image.png">
            <a:extLst>
              <a:ext uri="{FF2B5EF4-FFF2-40B4-BE49-F238E27FC236}">
                <a16:creationId xmlns:a16="http://schemas.microsoft.com/office/drawing/2014/main" id="{2B6F992F-18DB-65B2-18D3-DAD1E0BB38AA}"/>
              </a:ext>
            </a:extLst>
          </p:cNvPr>
          <p:cNvPicPr>
            <a:picLocks noChangeAspect="1"/>
          </p:cNvPicPr>
          <p:nvPr/>
        </p:nvPicPr>
        <p:blipFill>
          <a:blip r:embed="rId3"/>
          <a:stretch>
            <a:fillRect/>
          </a:stretch>
        </p:blipFill>
        <p:spPr>
          <a:xfrm>
            <a:off x="3113432" y="3954834"/>
            <a:ext cx="2917135" cy="583427"/>
          </a:xfrm>
          <a:prstGeom prst="rect">
            <a:avLst/>
          </a:prstGeom>
        </p:spPr>
      </p:pic>
      <p:sp>
        <p:nvSpPr>
          <p:cNvPr id="9" name="TextBox 8">
            <a:extLst>
              <a:ext uri="{FF2B5EF4-FFF2-40B4-BE49-F238E27FC236}">
                <a16:creationId xmlns:a16="http://schemas.microsoft.com/office/drawing/2014/main" id="{752ADCAD-E75B-34BA-C4A3-F53DD31E8469}"/>
              </a:ext>
            </a:extLst>
          </p:cNvPr>
          <p:cNvSpPr txBox="1"/>
          <p:nvPr/>
        </p:nvSpPr>
        <p:spPr>
          <a:xfrm>
            <a:off x="2286000" y="4092660"/>
            <a:ext cx="4572000" cy="307777"/>
          </a:xfrm>
          <a:prstGeom prst="rect">
            <a:avLst/>
          </a:prstGeom>
          <a:noFill/>
        </p:spPr>
        <p:txBody>
          <a:bodyPr wrap="square">
            <a:spAutoFit/>
          </a:bodyPr>
          <a:lstStyle/>
          <a:p>
            <a:pPr algn="ctr" rtl="0">
              <a:buNone/>
            </a:pPr>
            <a:r>
              <a:rPr lang="en-BR" sz="1400" b="1" i="0" u="none" strike="noStrike" dirty="0">
                <a:solidFill>
                  <a:srgbClr val="FFFFFF"/>
                </a:solidFill>
                <a:effectLst/>
                <a:latin typeface="Arial" panose="020F0502020204030203" pitchFamily="34" charset="0"/>
              </a:rPr>
              <a:t>Vinicius Grippa  |  Marcelo Altmann</a:t>
            </a:r>
            <a:endParaRPr lang="pt-BR" dirty="0"/>
          </a:p>
        </p:txBody>
      </p:sp>
      <p:pic>
        <p:nvPicPr>
          <p:cNvPr id="10" name="Google Shape;293;p54">
            <a:extLst>
              <a:ext uri="{FF2B5EF4-FFF2-40B4-BE49-F238E27FC236}">
                <a16:creationId xmlns:a16="http://schemas.microsoft.com/office/drawing/2014/main" id="{031B5D13-B6D6-E799-F355-467735CFA60D}"/>
              </a:ext>
            </a:extLst>
          </p:cNvPr>
          <p:cNvPicPr preferRelativeResize="0"/>
          <p:nvPr/>
        </p:nvPicPr>
        <p:blipFill rotWithShape="1">
          <a:blip r:embed="rId4">
            <a:alphaModFix/>
          </a:blip>
          <a:srcRect/>
          <a:stretch/>
        </p:blipFill>
        <p:spPr>
          <a:xfrm>
            <a:off x="3241136" y="605239"/>
            <a:ext cx="2661725" cy="509907"/>
          </a:xfrm>
          <a:prstGeom prst="rect">
            <a:avLst/>
          </a:prstGeom>
          <a:noFill/>
          <a:ln>
            <a:noFill/>
          </a:ln>
        </p:spPr>
      </p:pic>
      <p:sp>
        <p:nvSpPr>
          <p:cNvPr id="950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01</a:t>
            </a:r>
          </a:p>
        </p:txBody>
      </p:sp>
    </p:spTree>
    <p:extLst>
      <p:ext uri="{BB962C8B-B14F-4D97-AF65-F5344CB8AC3E}">
        <p14:creationId xmlns:p14="http://schemas.microsoft.com/office/powerpoint/2010/main" val="950542172"/>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Shape 299"/>
        <p:cNvGrpSpPr/>
        <p:nvPr/>
      </p:nvGrpSpPr>
      <p:grpSpPr>
        <a:xfrm>
          <a:off x="0" y="0"/>
          <a:ext cx="0" cy="0"/>
          <a:chOff x="0" y="0"/>
          <a:chExt cx="0" cy="0"/>
        </a:xfrm>
      </p:grpSpPr>
      <p:sp>
        <p:nvSpPr>
          <p:cNvPr id="300" name="Google Shape;300;p55"/>
          <p:cNvSpPr txBox="1">
            <a:spLocks noGrp="1"/>
          </p:cNvSpPr>
          <p:nvPr>
            <p:ph type="ctrTitle"/>
          </p:nvPr>
        </p:nvSpPr>
        <p:spPr>
          <a:xfrm>
            <a:off x="457200" y="790575"/>
            <a:ext cx="8229600" cy="457200"/>
          </a:xfrm>
          <a:prstGeom prst="rect">
            <a:avLst/>
          </a:prstGeom>
          <a:noFill/>
          <a:ln>
            <a:noFill/>
          </a:ln>
        </p:spPr>
        <p:txBody>
          <a:bodyPr spcFirstLastPara="1" wrap="square" lIns="0" tIns="0" rIns="0" bIns="0" anchor="t" anchorCtr="0">
            <a:noAutofit/>
          </a:bodyPr>
          <a:lstStyle/>
          <a:p>
            <a:pPr marL="0" lvl="0" indent="0" algn="l" rtl="0">
              <a:buSzPts val="2000"/>
              <a:buNone/>
            </a:pPr>
            <a:r>
              <a:rPr lang="en" sz="2700" b="1">
                <a:solidFill>
                  <a:srgbClr val="171717"/>
                </a:solidFill>
                <a:latin typeface="Arial"/>
                <a:ea typeface="Arial"/>
                <a:cs typeface="Arial"/>
                <a:sym typeface="Arial"/>
              </a:rPr>
              <a:t>About Me</a:t>
            </a:r>
            <a:endParaRPr sz="2700" b="1">
              <a:solidFill>
                <a:srgbClr val="171717"/>
              </a:solidFill>
              <a:latin typeface="Arial"/>
              <a:ea typeface="Arial"/>
              <a:cs typeface="Arial"/>
              <a:sym typeface="Arial"/>
            </a:endParaRPr>
          </a:p>
        </p:txBody>
      </p:sp>
      <p:pic>
        <p:nvPicPr>
          <p:cNvPr id="302" name="Google Shape;302;p55"/>
          <p:cNvPicPr preferRelativeResize="0"/>
          <p:nvPr/>
        </p:nvPicPr>
        <p:blipFill rotWithShape="1">
          <a:blip r:embed="rId3">
            <a:alphaModFix/>
          </a:blip>
          <a:srcRect t="12500" b="12500"/>
          <a:stretch/>
        </p:blipFill>
        <p:spPr>
          <a:xfrm>
            <a:off x="742950" y="1704975"/>
            <a:ext cx="2286000" cy="2286000"/>
          </a:xfrm>
          <a:prstGeom prst="ellipse">
            <a:avLst/>
          </a:prstGeom>
          <a:noFill/>
          <a:ln>
            <a:noFill/>
          </a:ln>
        </p:spPr>
      </p:pic>
      <p:sp>
        <p:nvSpPr>
          <p:cNvPr id="303" name="Google Shape;303;p55"/>
          <p:cNvSpPr txBox="1"/>
          <p:nvPr/>
        </p:nvSpPr>
        <p:spPr>
          <a:xfrm>
            <a:off x="3429000" y="1381125"/>
            <a:ext cx="5257800" cy="533400"/>
          </a:xfrm>
          <a:prstGeom prst="rect">
            <a:avLst/>
          </a:prstGeom>
          <a:noFill/>
          <a:ln>
            <a:noFill/>
          </a:ln>
        </p:spPr>
        <p:txBody>
          <a:bodyPr spcFirstLastPara="1" wrap="square" lIns="0" tIns="0" rIns="0" bIns="0" anchor="t" anchorCtr="0">
            <a:noAutofit/>
          </a:bodyPr>
          <a:lstStyle/>
          <a:p>
            <a:pPr marL="0" marR="0" lvl="0" indent="0" algn="l" rtl="0">
              <a:buClr>
                <a:schemeClr val="dk1"/>
              </a:buClr>
              <a:buSzPts val="2000"/>
              <a:buFont typeface="Inter"/>
              <a:buNone/>
            </a:pPr>
            <a:r>
              <a:rPr lang="en" sz="1600" b="1" i="0" u="none" strike="noStrike" cap="none">
                <a:solidFill>
                  <a:srgbClr val="171717"/>
                </a:solidFill>
                <a:latin typeface="Arial"/>
                <a:ea typeface="Arial"/>
                <a:cs typeface="Arial"/>
                <a:sym typeface="Arial"/>
              </a:rPr>
              <a:t>SELECT * FROM person WHERE name LIKE ‘Vini’;</a:t>
            </a:r>
            <a:endParaRPr sz="1600" b="1">
              <a:solidFill>
                <a:srgbClr val="171717"/>
              </a:solidFill>
            </a:endParaRPr>
          </a:p>
        </p:txBody>
      </p:sp>
      <p:sp>
        <p:nvSpPr>
          <p:cNvPr id="9100" name="Google Shape;304;p55"/>
          <p:cNvSpPr txBox="1"/>
          <p:nvPr/>
        </p:nvSpPr>
        <p:spPr>
          <a:xfrm>
            <a:off x="3429000" y="2028825"/>
            <a:ext cx="5257800" cy="247650"/>
          </a:xfrm>
          <a:prstGeom prst="rect">
            <a:avLst/>
          </a:prstGeom>
          <a:noFill/>
          <a:ln>
            <a:noFill/>
          </a:ln>
        </p:spPr>
        <p:txBody>
          <a:bodyPr spcFirstLastPara="1" wrap="square" lIns="0" tIns="0" rIns="0" bIns="0" anchor="t" anchorCtr="0">
            <a:noAutofit/>
          </a:bodyPr>
          <a:lstStyle/>
          <a:p>
            <a:pPr marL="152400" marR="0" lvl="0" indent="-152400" algn="l" rtl="0">
              <a:buClr>
                <a:srgbClr val="000000"/>
              </a:buClr>
              <a:buSzPts val="1400"/>
              <a:buFont typeface="Arial"/>
              <a:buChar char="•"/>
            </a:pPr>
            <a:r>
              <a:rPr lang="en" sz="1400" b="0" i="0" u="none" strike="noStrike" cap="none" dirty="0">
                <a:solidFill>
                  <a:srgbClr val="171717"/>
                </a:solidFill>
                <a:latin typeface="Arial"/>
                <a:ea typeface="Arial"/>
                <a:cs typeface="Arial"/>
                <a:sym typeface="Arial"/>
              </a:rPr>
              <a:t>Lead Database Engineer at </a:t>
            </a:r>
            <a:r>
              <a:rPr lang="en" sz="1400" b="1" i="0" u="none" strike="noStrike" cap="none" dirty="0">
                <a:solidFill>
                  <a:srgbClr val="171717"/>
                </a:solidFill>
                <a:latin typeface="Arial"/>
                <a:ea typeface="Arial"/>
                <a:cs typeface="Arial"/>
                <a:sym typeface="Arial"/>
              </a:rPr>
              <a:t>Readyset</a:t>
            </a:r>
            <a:endParaRPr sz="1400" dirty="0">
              <a:solidFill>
                <a:srgbClr val="171717"/>
              </a:solidFill>
            </a:endParaRPr>
          </a:p>
        </p:txBody>
      </p:sp>
      <p:sp>
        <p:nvSpPr>
          <p:cNvPr id="9101" name="Google Shape;304;p55"/>
          <p:cNvSpPr txBox="1"/>
          <p:nvPr/>
        </p:nvSpPr>
        <p:spPr>
          <a:xfrm>
            <a:off x="3429000" y="2276475"/>
            <a:ext cx="5257800" cy="247650"/>
          </a:xfrm>
          <a:prstGeom prst="rect">
            <a:avLst/>
          </a:prstGeom>
          <a:noFill/>
          <a:ln>
            <a:noFill/>
          </a:ln>
        </p:spPr>
        <p:txBody>
          <a:bodyPr spcFirstLastPara="1" wrap="square" lIns="0" tIns="0" rIns="0" bIns="0" anchor="t" anchorCtr="0">
            <a:noAutofit/>
          </a:bodyPr>
          <a:lstStyle/>
          <a:p>
            <a:pPr marL="152400" marR="0" lvl="0" indent="-152400" algn="l" rtl="0">
              <a:buClr>
                <a:srgbClr val="000000"/>
              </a:buClr>
              <a:buSzPts val="1400"/>
              <a:buFont typeface="Arial"/>
              <a:buChar char="•"/>
            </a:pPr>
            <a:r>
              <a:rPr lang="en" sz="1400" b="0" i="0" u="none" strike="noStrike" cap="none" dirty="0">
                <a:solidFill>
                  <a:srgbClr val="171717"/>
                </a:solidFill>
                <a:latin typeface="Arial"/>
                <a:ea typeface="Arial"/>
                <a:cs typeface="Arial"/>
                <a:sym typeface="Arial"/>
              </a:rPr>
              <a:t>Ex-Percona working with MySQL and MongoDB </a:t>
            </a:r>
            <a:endParaRPr sz="1400" dirty="0">
              <a:solidFill>
                <a:srgbClr val="171717"/>
              </a:solidFill>
            </a:endParaRPr>
          </a:p>
        </p:txBody>
      </p:sp>
      <p:sp>
        <p:nvSpPr>
          <p:cNvPr id="9102" name="Google Shape;304;p55"/>
          <p:cNvSpPr txBox="1"/>
          <p:nvPr/>
        </p:nvSpPr>
        <p:spPr>
          <a:xfrm>
            <a:off x="3429000" y="2524125"/>
            <a:ext cx="5257800" cy="247650"/>
          </a:xfrm>
          <a:prstGeom prst="rect">
            <a:avLst/>
          </a:prstGeom>
          <a:noFill/>
          <a:ln>
            <a:noFill/>
          </a:ln>
        </p:spPr>
        <p:txBody>
          <a:bodyPr spcFirstLastPara="1" wrap="square" lIns="0" tIns="0" rIns="0" bIns="0" anchor="t" anchorCtr="0">
            <a:noAutofit/>
          </a:bodyPr>
          <a:lstStyle/>
          <a:p>
            <a:pPr marL="152400" marR="0" lvl="0" indent="-152400" algn="l" rtl="0">
              <a:buClr>
                <a:srgbClr val="000000"/>
              </a:buClr>
              <a:buSzPts val="1400"/>
              <a:buFont typeface="Arial"/>
              <a:buChar char="•"/>
            </a:pPr>
            <a:r>
              <a:rPr lang="en" sz="1400" b="0" i="0" u="none" strike="noStrike" cap="none" dirty="0">
                <a:solidFill>
                  <a:srgbClr val="171717"/>
                </a:solidFill>
                <a:latin typeface="Arial"/>
                <a:ea typeface="Arial"/>
                <a:cs typeface="Arial"/>
                <a:sym typeface="Arial"/>
              </a:rPr>
              <a:t>Co-author of the book Learning MySQL</a:t>
            </a:r>
            <a:endParaRPr sz="1400" dirty="0">
              <a:solidFill>
                <a:srgbClr val="171717"/>
              </a:solidFill>
            </a:endParaRPr>
          </a:p>
        </p:txBody>
      </p:sp>
      <p:sp>
        <p:nvSpPr>
          <p:cNvPr id="9103" name="Google Shape;304;p55"/>
          <p:cNvSpPr txBox="1"/>
          <p:nvPr/>
        </p:nvSpPr>
        <p:spPr>
          <a:xfrm>
            <a:off x="3429000" y="2771775"/>
            <a:ext cx="5257800" cy="247650"/>
          </a:xfrm>
          <a:prstGeom prst="rect">
            <a:avLst/>
          </a:prstGeom>
          <a:noFill/>
          <a:ln>
            <a:noFill/>
          </a:ln>
        </p:spPr>
        <p:txBody>
          <a:bodyPr spcFirstLastPara="1" wrap="square" lIns="0" tIns="0" rIns="0" bIns="0" anchor="t" anchorCtr="0">
            <a:noAutofit/>
          </a:bodyPr>
          <a:lstStyle/>
          <a:p>
            <a:pPr marL="152400" marR="0" lvl="0" indent="-152400" algn="l" rtl="0">
              <a:buClr>
                <a:srgbClr val="000000"/>
              </a:buClr>
              <a:buSzPts val="1400"/>
              <a:buFont typeface="Arial"/>
              <a:buChar char="•"/>
            </a:pPr>
            <a:r>
              <a:rPr lang="en" sz="1400" b="0" i="0" u="none" strike="noStrike" cap="none" dirty="0">
                <a:solidFill>
                  <a:srgbClr val="171717"/>
                </a:solidFill>
                <a:latin typeface="Arial"/>
                <a:ea typeface="Arial"/>
                <a:cs typeface="Arial"/>
                <a:sym typeface="Arial"/>
              </a:rPr>
              <a:t>Organizer of the MySQL community in Brazil (MUG)</a:t>
            </a:r>
            <a:endParaRPr sz="1400" dirty="0">
              <a:solidFill>
                <a:srgbClr val="171717"/>
              </a:solidFill>
            </a:endParaRPr>
          </a:p>
        </p:txBody>
      </p:sp>
      <p:pic>
        <p:nvPicPr>
          <p:cNvPr id="305" name="Google Shape;305;p55" descr="Learning MySQL, 2nd Edition [Book]"/>
          <p:cNvPicPr preferRelativeResize="0"/>
          <p:nvPr/>
        </p:nvPicPr>
        <p:blipFill rotWithShape="1">
          <a:blip r:embed="rId4">
            <a:alphaModFix/>
          </a:blip>
          <a:srcRect/>
          <a:stretch/>
        </p:blipFill>
        <p:spPr>
          <a:xfrm>
            <a:off x="3581400" y="3648075"/>
            <a:ext cx="847725" cy="1114425"/>
          </a:xfrm>
          <a:prstGeom prst="rect">
            <a:avLst/>
          </a:prstGeom>
          <a:noFill/>
          <a:ln>
            <a:noFill/>
          </a:ln>
        </p:spPr>
      </p:pic>
      <p:pic>
        <p:nvPicPr>
          <p:cNvPr id="306" name="Google Shape;306;p55"/>
          <p:cNvPicPr preferRelativeResize="0"/>
          <p:nvPr/>
        </p:nvPicPr>
        <p:blipFill rotWithShape="1">
          <a:blip r:embed="rId5">
            <a:alphaModFix/>
          </a:blip>
          <a:srcRect/>
          <a:stretch/>
        </p:blipFill>
        <p:spPr>
          <a:xfrm>
            <a:off x="4933950" y="3924300"/>
            <a:ext cx="3524250" cy="666750"/>
          </a:xfrm>
          <a:prstGeom prst="rect">
            <a:avLst/>
          </a:prstGeom>
          <a:noFill/>
          <a:ln>
            <a:noFill/>
          </a:ln>
        </p:spPr>
      </p:pic>
      <p:pic>
        <p:nvPicPr>
          <p:cNvPr id="9002" name="Readyset standard logo 2"/>
          <p:cNvPicPr>
            <a:picLocks noChangeAspect="1"/>
          </p:cNvPicPr>
          <p:nvPr/>
        </p:nvPicPr>
        <p:blipFill>
          <a:blip r:embed="rId6"/>
          <a:stretch/>
        </p:blipFill>
        <p:spPr>
          <a:xfrm>
            <a:off x="457200" y="239275"/>
            <a:ext cx="952500" cy="216776"/>
          </a:xfrm>
          <a:prstGeom prst="rect">
            <a:avLst/>
          </a:prstGeom>
        </p:spPr>
      </p:pic>
      <p:sp>
        <p:nvSpPr>
          <p:cNvPr id="950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02</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
        <p:cNvGrpSpPr/>
        <p:nvPr/>
      </p:nvGrpSpPr>
      <p:grpSpPr>
        <a:xfrm>
          <a:off x="0" y="0"/>
          <a:ext cx="0" cy="0"/>
          <a:chOff x="0" y="0"/>
          <a:chExt cx="0" cy="0"/>
        </a:xfrm>
      </p:grpSpPr>
      <p:sp>
        <p:nvSpPr>
          <p:cNvPr id="31" name="Google Shape;31;p4"/>
          <p:cNvSpPr/>
          <p:nvPr/>
        </p:nvSpPr>
        <p:spPr>
          <a:xfrm>
            <a:off x="3381375" y="3819525"/>
            <a:ext cx="5334000" cy="923925"/>
          </a:xfrm>
          <a:prstGeom prst="roundRect">
            <a:avLst>
              <a:gd name="adj" fmla="val 7058"/>
            </a:avLst>
          </a:prstGeom>
          <a:solidFill>
            <a:srgbClr val="FFFFFF"/>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3" name="Google Shape;33;p4"/>
          <p:cNvSpPr/>
          <p:nvPr/>
        </p:nvSpPr>
        <p:spPr>
          <a:xfrm>
            <a:off x="742950" y="1704975"/>
            <a:ext cx="2286000" cy="2286000"/>
          </a:xfrm>
          <a:prstGeom prst="roundRect">
            <a:avLst>
              <a:gd name="adj" fmla="val 3083"/>
            </a:avLst>
          </a:prstGeom>
          <a:solidFill>
            <a:srgbClr val="FFFFFF"/>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pic>
        <p:nvPicPr>
          <p:cNvPr id="34" name="Google Shape;34;p4" descr="gen-dedup-2662b676347a176ea3d655a333686a07.png"/>
          <p:cNvPicPr preferRelativeResize="0"/>
          <p:nvPr/>
        </p:nvPicPr>
        <p:blipFill rotWithShape="1">
          <a:blip r:embed="rId3">
            <a:alphaModFix/>
          </a:blip>
          <a:srcRect/>
          <a:stretch/>
        </p:blipFill>
        <p:spPr>
          <a:xfrm>
            <a:off x="742950" y="1704975"/>
            <a:ext cx="2286000" cy="2286000"/>
          </a:xfrm>
          <a:prstGeom prst="ellipse">
            <a:avLst/>
          </a:prstGeom>
          <a:noFill/>
          <a:ln>
            <a:noFill/>
          </a:ln>
        </p:spPr>
      </p:pic>
      <p:sp>
        <p:nvSpPr>
          <p:cNvPr id="35" name="Google Shape;35;p4"/>
          <p:cNvSpPr/>
          <p:nvPr/>
        </p:nvSpPr>
        <p:spPr>
          <a:xfrm>
            <a:off x="3429000" y="1381125"/>
            <a:ext cx="5257800" cy="533400"/>
          </a:xfrm>
          <a:prstGeom prst="roundRect">
            <a:avLst>
              <a:gd name="adj" fmla="val 10765"/>
            </a:avLst>
          </a:prstGeom>
          <a:solidFill>
            <a:srgbClr val="FFFFFF"/>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6" name="Google Shape;36;p4"/>
          <p:cNvSpPr txBox="1"/>
          <p:nvPr/>
        </p:nvSpPr>
        <p:spPr>
          <a:xfrm>
            <a:off x="3429000" y="1381125"/>
            <a:ext cx="5257800" cy="533400"/>
          </a:xfrm>
          <a:prstGeom prst="rect">
            <a:avLst/>
          </a:prstGeom>
          <a:solidFill>
            <a:srgbClr val="FFFFFF">
              <a:alpha val="0"/>
            </a:srgbClr>
          </a:solidFill>
          <a:ln w="9525" cap="flat" cmpd="sng">
            <a:solidFill>
              <a:srgbClr val="FFFFFF">
                <a:alpha val="0"/>
              </a:srgbClr>
            </a:solidFill>
            <a:prstDash val="solid"/>
            <a:round/>
            <a:headEnd type="none" w="sm" len="sm"/>
            <a:tailEnd type="none" w="sm" len="sm"/>
          </a:ln>
        </p:spPr>
        <p:txBody>
          <a:bodyPr spcFirstLastPara="1" wrap="square" lIns="0" tIns="0" rIns="0" bIns="0" anchor="t" anchorCtr="0">
            <a:noAutofit/>
          </a:bodyPr>
          <a:lstStyle/>
          <a:p>
            <a:pPr algn="l">
              <a:buClr>
                <a:srgbClr val="F16A50"/>
              </a:buClr>
              <a:buSzPts val="1950"/>
            </a:pPr>
            <a:r>
              <a:rPr lang="en-US" sz="1600" b="1">
                <a:solidFill>
                  <a:srgbClr val="171717"/>
                </a:solidFill>
                <a:latin typeface="Arial"/>
                <a:ea typeface="Arial"/>
                <a:cs typeface="Arial"/>
                <a:sym typeface="IBM Plex Mono"/>
              </a:rPr>
              <a:t>SELECT SQL_NO_CACHE * FROM person WHERE name LIKE 'Marcelo';</a:t>
            </a:r>
            <a:endParaRPr sz="1600" b="1">
              <a:solidFill>
                <a:srgbClr val="171717"/>
              </a:solidFill>
              <a:latin typeface="Arial"/>
              <a:ea typeface="Arial"/>
              <a:cs typeface="Arial"/>
              <a:sym typeface="Arial"/>
            </a:endParaRPr>
          </a:p>
        </p:txBody>
      </p:sp>
      <p:sp>
        <p:nvSpPr>
          <p:cNvPr id="37" name="Google Shape;37;p4"/>
          <p:cNvSpPr txBox="1"/>
          <p:nvPr/>
        </p:nvSpPr>
        <p:spPr>
          <a:xfrm>
            <a:off x="742950" y="4095750"/>
            <a:ext cx="2571750" cy="228600"/>
          </a:xfrm>
          <a:prstGeom prst="rect">
            <a:avLst/>
          </a:prstGeom>
          <a:noFill/>
          <a:ln>
            <a:noFill/>
          </a:ln>
        </p:spPr>
        <p:txBody>
          <a:bodyPr spcFirstLastPara="1" wrap="square" lIns="0" tIns="0" rIns="0" bIns="0" anchor="t" anchorCtr="0">
            <a:noAutofit/>
          </a:bodyPr>
          <a:lstStyle/>
          <a:p>
            <a:pPr algn="l">
              <a:buClr>
                <a:srgbClr val="161615"/>
              </a:buClr>
              <a:buSzPts val="2700"/>
            </a:pPr>
            <a:r>
              <a:rPr lang="en-US" sz="1700" b="1">
                <a:solidFill>
                  <a:srgbClr val="171717"/>
                </a:solidFill>
                <a:latin typeface="Arial"/>
                <a:ea typeface="Arial"/>
                <a:cs typeface="Arial"/>
                <a:sym typeface="Arial"/>
              </a:rPr>
              <a:t>Marcelo Altmann</a:t>
            </a:r>
            <a:endParaRPr sz="1700" b="1">
              <a:solidFill>
                <a:srgbClr val="171717"/>
              </a:solidFill>
              <a:latin typeface="Arial"/>
              <a:ea typeface="Arial"/>
              <a:cs typeface="Arial"/>
              <a:sym typeface="Arial"/>
            </a:endParaRPr>
          </a:p>
        </p:txBody>
      </p:sp>
      <p:sp>
        <p:nvSpPr>
          <p:cNvPr id="38" name="Google Shape;38;p4"/>
          <p:cNvSpPr txBox="1"/>
          <p:nvPr/>
        </p:nvSpPr>
        <p:spPr>
          <a:xfrm>
            <a:off x="742950" y="4371975"/>
            <a:ext cx="2571750" cy="228600"/>
          </a:xfrm>
          <a:prstGeom prst="rect">
            <a:avLst/>
          </a:prstGeom>
          <a:noFill/>
          <a:ln>
            <a:noFill/>
          </a:ln>
        </p:spPr>
        <p:txBody>
          <a:bodyPr spcFirstLastPara="1" wrap="square" lIns="0" tIns="0" rIns="0" bIns="0" anchor="t" anchorCtr="0">
            <a:noAutofit/>
          </a:bodyPr>
          <a:lstStyle/>
          <a:p>
            <a:pPr algn="l">
              <a:buClr>
                <a:srgbClr val="706E6C"/>
              </a:buClr>
              <a:buSzPts val="1650"/>
            </a:pPr>
            <a:r>
              <a:rPr lang="en-US" sz="1200" b="0">
                <a:solidFill>
                  <a:srgbClr val="171717"/>
                </a:solidFill>
                <a:latin typeface="Arial"/>
                <a:ea typeface="Arial"/>
                <a:cs typeface="Arial"/>
                <a:sym typeface="Arial"/>
              </a:rPr>
              <a:t>Senior Software Engineer</a:t>
            </a:r>
            <a:endParaRPr sz="1200" b="0">
              <a:solidFill>
                <a:srgbClr val="171717"/>
              </a:solidFill>
              <a:latin typeface="Arial"/>
              <a:ea typeface="Arial"/>
              <a:cs typeface="Arial"/>
              <a:sym typeface="Arial"/>
            </a:endParaRPr>
          </a:p>
        </p:txBody>
      </p:sp>
      <p:sp>
        <p:nvSpPr>
          <p:cNvPr id="39" name="Google Shape;39;p4"/>
          <p:cNvSpPr/>
          <p:nvPr/>
        </p:nvSpPr>
        <p:spPr>
          <a:xfrm>
            <a:off x="742950" y="4610100"/>
            <a:ext cx="1524000" cy="228600"/>
          </a:xfrm>
          <a:prstGeom prst="roundRect">
            <a:avLst>
              <a:gd name="adj" fmla="val 49863"/>
            </a:avLst>
          </a:prstGeom>
          <a:solidFill>
            <a:srgbClr val="FFFFFF"/>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0" name="Google Shape;40;p4"/>
          <p:cNvSpPr/>
          <p:nvPr/>
        </p:nvSpPr>
        <p:spPr>
          <a:xfrm>
            <a:off x="742950" y="4610100"/>
            <a:ext cx="2571750" cy="228600"/>
          </a:xfrm>
          <a:prstGeom prst="rect">
            <a:avLst/>
          </a:prstGeom>
          <a:solidFill>
            <a:srgbClr val="FFFFFF">
              <a:alpha val="0"/>
            </a:srgbClr>
          </a:solidFill>
          <a:ln w="9525" cap="flat" cmpd="sng">
            <a:solidFill>
              <a:srgbClr val="FFFFFF">
                <a:alpha val="0"/>
              </a:srgbClr>
            </a:solidFill>
            <a:prstDash val="solid"/>
            <a:round/>
            <a:headEnd type="none" w="sm" len="sm"/>
            <a:tailEnd type="none" w="sm" len="sm"/>
          </a:ln>
        </p:spPr>
        <p:txBody>
          <a:bodyPr spcFirstLastPara="1" wrap="square" lIns="0" tIns="0" rIns="0" bIns="0" anchor="t" anchorCtr="0">
            <a:noAutofit/>
          </a:bodyPr>
          <a:lstStyle/>
          <a:p>
            <a:pPr algn="l">
              <a:buClr>
                <a:srgbClr val="CA3214"/>
              </a:buClr>
              <a:buSzPts val="1350"/>
            </a:pPr>
            <a:r>
              <a:rPr lang="en-US" sz="1100" b="0">
                <a:solidFill>
                  <a:srgbClr val="171717"/>
                </a:solidFill>
                <a:latin typeface="Arial"/>
                <a:ea typeface="Arial"/>
                <a:cs typeface="Arial"/>
                <a:sym typeface="IBM Plex Mono"/>
              </a:rPr>
              <a:t>@ readyset</a:t>
            </a:r>
            <a:endParaRPr sz="1100" b="0">
              <a:solidFill>
                <a:srgbClr val="171717"/>
              </a:solidFill>
              <a:latin typeface="Arial"/>
              <a:ea typeface="Arial"/>
              <a:cs typeface="Arial"/>
              <a:sym typeface="Arial"/>
            </a:endParaRPr>
          </a:p>
        </p:txBody>
      </p:sp>
      <p:sp>
        <p:nvSpPr>
          <p:cNvPr id="41" name="Google Shape;41;p4"/>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500"/>
            </a:pPr>
            <a:r>
              <a:rPr lang="en-US" sz="2700" b="1">
                <a:solidFill>
                  <a:srgbClr val="171717"/>
                </a:solidFill>
                <a:latin typeface="Arial"/>
                <a:ea typeface="Arial"/>
                <a:cs typeface="Arial"/>
                <a:sym typeface="Arial"/>
              </a:rPr>
              <a:t>About Me</a:t>
            </a:r>
            <a:endParaRPr sz="2700" b="1">
              <a:solidFill>
                <a:srgbClr val="171717"/>
              </a:solidFill>
              <a:latin typeface="Arial"/>
              <a:ea typeface="Arial"/>
              <a:cs typeface="Arial"/>
              <a:sym typeface="Arial"/>
            </a:endParaRPr>
          </a:p>
        </p:txBody>
      </p:sp>
      <p:sp>
        <p:nvSpPr>
          <p:cNvPr id="42" name="Google Shape;42;p4"/>
          <p:cNvSpPr/>
          <p:nvPr/>
        </p:nvSpPr>
        <p:spPr>
          <a:xfrm>
            <a:off x="3429000" y="2114550"/>
            <a:ext cx="28575" cy="28575"/>
          </a:xfrm>
          <a:prstGeom prst="ellipse">
            <a:avLst/>
          </a:prstGeom>
          <a:solidFill>
            <a:srgbClr val="171717"/>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3" name="Google Shape;43;p4"/>
          <p:cNvSpPr txBox="1"/>
          <p:nvPr/>
        </p:nvSpPr>
        <p:spPr>
          <a:xfrm>
            <a:off x="3581400" y="2028825"/>
            <a:ext cx="5105400" cy="247650"/>
          </a:xfrm>
          <a:prstGeom prst="rect">
            <a:avLst/>
          </a:prstGeom>
          <a:noFill/>
          <a:ln>
            <a:noFill/>
          </a:ln>
        </p:spPr>
        <p:txBody>
          <a:bodyPr spcFirstLastPara="1" wrap="square" lIns="0" tIns="0" rIns="0" bIns="0" anchor="t" anchorCtr="0">
            <a:noAutofit/>
          </a:bodyPr>
          <a:lstStyle/>
          <a:p>
            <a:pPr algn="l">
              <a:buClr>
                <a:srgbClr val="1A1A1A"/>
              </a:buClr>
              <a:buSzPts val="1800"/>
            </a:pPr>
            <a:r>
              <a:rPr lang="en-US" sz="1400" b="0">
                <a:solidFill>
                  <a:srgbClr val="171717"/>
                </a:solidFill>
                <a:latin typeface="Arial"/>
                <a:ea typeface="Arial"/>
                <a:cs typeface="Arial"/>
                <a:sym typeface="Arial"/>
              </a:rPr>
              <a:t>Software Engineer at Readyset</a:t>
            </a:r>
            <a:endParaRPr sz="1400" b="0">
              <a:solidFill>
                <a:srgbClr val="171717"/>
              </a:solidFill>
              <a:latin typeface="Arial"/>
              <a:ea typeface="Arial"/>
              <a:cs typeface="Arial"/>
              <a:sym typeface="Arial"/>
            </a:endParaRPr>
          </a:p>
        </p:txBody>
      </p:sp>
      <p:sp>
        <p:nvSpPr>
          <p:cNvPr id="44" name="Google Shape;44;p4"/>
          <p:cNvSpPr/>
          <p:nvPr/>
        </p:nvSpPr>
        <p:spPr>
          <a:xfrm>
            <a:off x="3429000" y="2362200"/>
            <a:ext cx="28575" cy="28575"/>
          </a:xfrm>
          <a:prstGeom prst="ellipse">
            <a:avLst/>
          </a:prstGeom>
          <a:solidFill>
            <a:srgbClr val="171717"/>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5" name="Google Shape;45;p4"/>
          <p:cNvSpPr txBox="1"/>
          <p:nvPr/>
        </p:nvSpPr>
        <p:spPr>
          <a:xfrm>
            <a:off x="3581400" y="2276475"/>
            <a:ext cx="5105400" cy="247650"/>
          </a:xfrm>
          <a:prstGeom prst="rect">
            <a:avLst/>
          </a:prstGeom>
          <a:noFill/>
          <a:ln>
            <a:noFill/>
          </a:ln>
        </p:spPr>
        <p:txBody>
          <a:bodyPr spcFirstLastPara="1" wrap="square" lIns="0" tIns="0" rIns="0" bIns="0" anchor="t" anchorCtr="0">
            <a:noAutofit/>
          </a:bodyPr>
          <a:lstStyle/>
          <a:p>
            <a:pPr algn="l">
              <a:buClr>
                <a:srgbClr val="1A1A1A"/>
              </a:buClr>
              <a:buSzPts val="1800"/>
            </a:pPr>
            <a:r>
              <a:rPr lang="en-US" sz="1400" b="0">
                <a:solidFill>
                  <a:srgbClr val="171717"/>
                </a:solidFill>
                <a:latin typeface="Arial"/>
                <a:ea typeface="Arial"/>
                <a:cs typeface="Arial"/>
                <a:sym typeface="Arial"/>
              </a:rPr>
              <a:t>Ex-Percona working on Percona Xtrabackup for MySQL</a:t>
            </a:r>
            <a:endParaRPr sz="1400" b="0">
              <a:solidFill>
                <a:srgbClr val="171717"/>
              </a:solidFill>
              <a:latin typeface="Arial"/>
              <a:ea typeface="Arial"/>
              <a:cs typeface="Arial"/>
              <a:sym typeface="Arial"/>
            </a:endParaRPr>
          </a:p>
        </p:txBody>
      </p:sp>
      <p:sp>
        <p:nvSpPr>
          <p:cNvPr id="46" name="Google Shape;46;p4"/>
          <p:cNvSpPr/>
          <p:nvPr/>
        </p:nvSpPr>
        <p:spPr>
          <a:xfrm>
            <a:off x="3429000" y="2609850"/>
            <a:ext cx="28575" cy="28575"/>
          </a:xfrm>
          <a:prstGeom prst="ellipse">
            <a:avLst/>
          </a:prstGeom>
          <a:solidFill>
            <a:srgbClr val="171717"/>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 name="Google Shape;47;p4"/>
          <p:cNvSpPr txBox="1"/>
          <p:nvPr/>
        </p:nvSpPr>
        <p:spPr>
          <a:xfrm>
            <a:off x="3581400" y="2524125"/>
            <a:ext cx="5105400" cy="247650"/>
          </a:xfrm>
          <a:prstGeom prst="rect">
            <a:avLst/>
          </a:prstGeom>
          <a:noFill/>
          <a:ln>
            <a:noFill/>
          </a:ln>
        </p:spPr>
        <p:txBody>
          <a:bodyPr spcFirstLastPara="1" wrap="square" lIns="0" tIns="0" rIns="0" bIns="0" anchor="t" anchorCtr="0">
            <a:noAutofit/>
          </a:bodyPr>
          <a:lstStyle/>
          <a:p>
            <a:pPr algn="l">
              <a:buClr>
                <a:srgbClr val="1A1A1A"/>
              </a:buClr>
              <a:buSzPts val="1800"/>
            </a:pPr>
            <a:r>
              <a:rPr lang="en-US" sz="1400" b="0">
                <a:solidFill>
                  <a:srgbClr val="171717"/>
                </a:solidFill>
                <a:latin typeface="Arial"/>
                <a:ea typeface="Arial"/>
                <a:cs typeface="Arial"/>
                <a:sym typeface="Arial"/>
              </a:rPr>
              <a:t>Oracle ACE Pro</a:t>
            </a:r>
            <a:endParaRPr sz="1400" b="0">
              <a:solidFill>
                <a:srgbClr val="171717"/>
              </a:solidFill>
              <a:latin typeface="Arial"/>
              <a:ea typeface="Arial"/>
              <a:cs typeface="Arial"/>
              <a:sym typeface="Arial"/>
            </a:endParaRPr>
          </a:p>
        </p:txBody>
      </p:sp>
      <p:sp>
        <p:nvSpPr>
          <p:cNvPr id="48" name="Google Shape;48;p4"/>
          <p:cNvSpPr/>
          <p:nvPr/>
        </p:nvSpPr>
        <p:spPr>
          <a:xfrm>
            <a:off x="3429000" y="2857500"/>
            <a:ext cx="28575" cy="28575"/>
          </a:xfrm>
          <a:prstGeom prst="ellipse">
            <a:avLst/>
          </a:prstGeom>
          <a:solidFill>
            <a:srgbClr val="171717"/>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9" name="Google Shape;49;p4"/>
          <p:cNvSpPr txBox="1"/>
          <p:nvPr/>
        </p:nvSpPr>
        <p:spPr>
          <a:xfrm>
            <a:off x="3581400" y="2771775"/>
            <a:ext cx="5105400" cy="247650"/>
          </a:xfrm>
          <a:prstGeom prst="rect">
            <a:avLst/>
          </a:prstGeom>
          <a:noFill/>
          <a:ln>
            <a:noFill/>
          </a:ln>
        </p:spPr>
        <p:txBody>
          <a:bodyPr spcFirstLastPara="1" wrap="square" lIns="0" tIns="0" rIns="0" bIns="0" anchor="t" anchorCtr="0">
            <a:noAutofit/>
          </a:bodyPr>
          <a:lstStyle/>
          <a:p>
            <a:pPr algn="l">
              <a:buClr>
                <a:srgbClr val="1A1A1A"/>
              </a:buClr>
              <a:buSzPts val="1800"/>
            </a:pPr>
            <a:r>
              <a:rPr lang="en-US" sz="1400" b="0">
                <a:solidFill>
                  <a:srgbClr val="171717"/>
                </a:solidFill>
                <a:latin typeface="Arial"/>
                <a:ea typeface="Arial"/>
                <a:cs typeface="Arial"/>
                <a:sym typeface="Arial"/>
              </a:rPr>
              <a:t>MySQL Rockstar</a:t>
            </a:r>
            <a:endParaRPr sz="1400" b="0">
              <a:solidFill>
                <a:srgbClr val="171717"/>
              </a:solidFill>
              <a:latin typeface="Arial"/>
              <a:ea typeface="Arial"/>
              <a:cs typeface="Arial"/>
              <a:sym typeface="Arial"/>
            </a:endParaRPr>
          </a:p>
        </p:txBody>
      </p:sp>
      <p:sp>
        <p:nvSpPr>
          <p:cNvPr id="50" name="Google Shape;50;p4"/>
          <p:cNvSpPr/>
          <p:nvPr/>
        </p:nvSpPr>
        <p:spPr>
          <a:xfrm>
            <a:off x="3429000" y="3105150"/>
            <a:ext cx="28575" cy="28575"/>
          </a:xfrm>
          <a:prstGeom prst="ellipse">
            <a:avLst/>
          </a:prstGeom>
          <a:solidFill>
            <a:srgbClr val="171717"/>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1" name="Google Shape;51;p4"/>
          <p:cNvSpPr txBox="1"/>
          <p:nvPr/>
        </p:nvSpPr>
        <p:spPr>
          <a:xfrm>
            <a:off x="3581400" y="3019425"/>
            <a:ext cx="5105400" cy="247650"/>
          </a:xfrm>
          <a:prstGeom prst="rect">
            <a:avLst/>
          </a:prstGeom>
          <a:noFill/>
          <a:ln>
            <a:noFill/>
          </a:ln>
        </p:spPr>
        <p:txBody>
          <a:bodyPr spcFirstLastPara="1" wrap="square" lIns="0" tIns="0" rIns="0" bIns="0" anchor="t" anchorCtr="0">
            <a:noAutofit/>
          </a:bodyPr>
          <a:lstStyle/>
          <a:p>
            <a:pPr algn="l">
              <a:buClr>
                <a:srgbClr val="1A1A1A"/>
              </a:buClr>
              <a:buSzPts val="1800"/>
            </a:pPr>
            <a:r>
              <a:rPr lang="en-US" sz="1400" b="0" dirty="0">
                <a:solidFill>
                  <a:srgbClr val="171717"/>
                </a:solidFill>
                <a:latin typeface="Arial"/>
                <a:ea typeface="Arial"/>
                <a:cs typeface="Arial"/>
                <a:sym typeface="Arial"/>
              </a:rPr>
              <a:t>MySQL Code Contributor</a:t>
            </a:r>
            <a:endParaRPr sz="1400" b="0" dirty="0">
              <a:solidFill>
                <a:srgbClr val="171717"/>
              </a:solidFill>
              <a:latin typeface="Arial"/>
              <a:ea typeface="Arial"/>
              <a:cs typeface="Arial"/>
              <a:sym typeface="Arial"/>
            </a:endParaRPr>
          </a:p>
        </p:txBody>
      </p:sp>
      <p:sp>
        <p:nvSpPr>
          <p:cNvPr id="52" name="Google Shape;52;p4"/>
          <p:cNvSpPr/>
          <p:nvPr/>
        </p:nvSpPr>
        <p:spPr>
          <a:xfrm>
            <a:off x="3429000" y="3352800"/>
            <a:ext cx="28575" cy="28575"/>
          </a:xfrm>
          <a:prstGeom prst="ellipse">
            <a:avLst/>
          </a:prstGeom>
          <a:solidFill>
            <a:srgbClr val="171717"/>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3" name="Google Shape;53;p4"/>
          <p:cNvSpPr txBox="1"/>
          <p:nvPr/>
        </p:nvSpPr>
        <p:spPr>
          <a:xfrm>
            <a:off x="3581400" y="3267075"/>
            <a:ext cx="5105400" cy="247650"/>
          </a:xfrm>
          <a:prstGeom prst="rect">
            <a:avLst/>
          </a:prstGeom>
          <a:noFill/>
          <a:ln>
            <a:noFill/>
          </a:ln>
        </p:spPr>
        <p:txBody>
          <a:bodyPr spcFirstLastPara="1" wrap="square" lIns="0" tIns="0" rIns="0" bIns="0" anchor="t" anchorCtr="0">
            <a:noAutofit/>
          </a:bodyPr>
          <a:lstStyle/>
          <a:p>
            <a:pPr algn="l">
              <a:buClr>
                <a:srgbClr val="1A1A1A"/>
              </a:buClr>
              <a:buSzPts val="1800"/>
            </a:pPr>
            <a:r>
              <a:rPr lang="en-US" sz="1400" b="0">
                <a:solidFill>
                  <a:srgbClr val="171717"/>
                </a:solidFill>
                <a:latin typeface="Arial"/>
                <a:ea typeface="Arial"/>
                <a:cs typeface="Arial"/>
                <a:sym typeface="Arial"/>
              </a:rPr>
              <a:t>Rust MySQL Driver Contributor</a:t>
            </a:r>
            <a:endParaRPr sz="1400" b="0">
              <a:solidFill>
                <a:srgbClr val="171717"/>
              </a:solidFill>
              <a:latin typeface="Arial"/>
              <a:ea typeface="Arial"/>
              <a:cs typeface="Arial"/>
              <a:sym typeface="Arial"/>
            </a:endParaRPr>
          </a:p>
        </p:txBody>
      </p:sp>
      <p:sp>
        <p:nvSpPr>
          <p:cNvPr id="54" name="Google Shape;54;p4"/>
          <p:cNvSpPr/>
          <p:nvPr/>
        </p:nvSpPr>
        <p:spPr>
          <a:xfrm>
            <a:off x="3429000" y="3600450"/>
            <a:ext cx="28575" cy="28575"/>
          </a:xfrm>
          <a:prstGeom prst="ellipse">
            <a:avLst/>
          </a:prstGeom>
          <a:solidFill>
            <a:srgbClr val="171717"/>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55" name="Google Shape;55;p4"/>
          <p:cNvSpPr txBox="1"/>
          <p:nvPr/>
        </p:nvSpPr>
        <p:spPr>
          <a:xfrm>
            <a:off x="3581400" y="3514725"/>
            <a:ext cx="5105400" cy="247650"/>
          </a:xfrm>
          <a:prstGeom prst="rect">
            <a:avLst/>
          </a:prstGeom>
          <a:noFill/>
          <a:ln>
            <a:noFill/>
          </a:ln>
        </p:spPr>
        <p:txBody>
          <a:bodyPr spcFirstLastPara="1" wrap="square" lIns="0" tIns="0" rIns="0" bIns="0" anchor="t" anchorCtr="0">
            <a:noAutofit/>
          </a:bodyPr>
          <a:lstStyle/>
          <a:p>
            <a:pPr algn="l">
              <a:buClr>
                <a:srgbClr val="1A1A1A"/>
              </a:buClr>
              <a:buSzPts val="1800"/>
            </a:pPr>
            <a:r>
              <a:rPr lang="en-US" sz="1400" b="0">
                <a:solidFill>
                  <a:srgbClr val="171717"/>
                </a:solidFill>
                <a:latin typeface="Arial"/>
                <a:ea typeface="Arial"/>
                <a:cs typeface="Arial"/>
                <a:sym typeface="Arial"/>
              </a:rPr>
              <a:t>Apache Datafusion SQLParser Contributor</a:t>
            </a:r>
            <a:endParaRPr sz="1400" b="0">
              <a:solidFill>
                <a:srgbClr val="171717"/>
              </a:solidFill>
              <a:latin typeface="Arial"/>
              <a:ea typeface="Arial"/>
              <a:cs typeface="Arial"/>
              <a:sym typeface="Arial"/>
            </a:endParaRPr>
          </a:p>
        </p:txBody>
      </p:sp>
      <p:sp>
        <p:nvSpPr>
          <p:cNvPr id="56" name="Google Shape;56;p4"/>
          <p:cNvSpPr txBox="1"/>
          <p:nvPr/>
        </p:nvSpPr>
        <p:spPr>
          <a:xfrm>
            <a:off x="3581400" y="3848100"/>
            <a:ext cx="5105400" cy="190500"/>
          </a:xfrm>
          <a:prstGeom prst="rect">
            <a:avLst/>
          </a:prstGeom>
          <a:noFill/>
          <a:ln>
            <a:noFill/>
          </a:ln>
        </p:spPr>
        <p:txBody>
          <a:bodyPr spcFirstLastPara="1" wrap="square" lIns="0" tIns="0" rIns="0" bIns="0" anchor="t" anchorCtr="0">
            <a:noAutofit/>
          </a:bodyPr>
          <a:lstStyle/>
          <a:p>
            <a:pPr algn="l">
              <a:buClr>
                <a:srgbClr val="E54D2E"/>
              </a:buClr>
              <a:buSzPts val="1050"/>
            </a:pPr>
            <a:r>
              <a:rPr lang="en-US" sz="1000" b="0">
                <a:solidFill>
                  <a:srgbClr val="171717"/>
                </a:solidFill>
                <a:latin typeface="Arial"/>
                <a:ea typeface="Arial"/>
                <a:cs typeface="Arial"/>
                <a:sym typeface="IBM Plex Mono"/>
              </a:rPr>
              <a:t>— and the most important item on the résumé</a:t>
            </a:r>
            <a:endParaRPr sz="1000" b="0">
              <a:solidFill>
                <a:srgbClr val="171717"/>
              </a:solidFill>
              <a:latin typeface="Arial"/>
              <a:ea typeface="Arial"/>
              <a:cs typeface="Arial"/>
              <a:sym typeface="Arial"/>
            </a:endParaRPr>
          </a:p>
        </p:txBody>
      </p:sp>
      <p:sp>
        <p:nvSpPr>
          <p:cNvPr id="57" name="Google Shape;57;p4"/>
          <p:cNvSpPr txBox="1"/>
          <p:nvPr/>
        </p:nvSpPr>
        <p:spPr>
          <a:xfrm>
            <a:off x="3581400" y="4086225"/>
            <a:ext cx="5105400" cy="257175"/>
          </a:xfrm>
          <a:prstGeom prst="rect">
            <a:avLst/>
          </a:prstGeom>
          <a:noFill/>
          <a:ln>
            <a:noFill/>
          </a:ln>
        </p:spPr>
        <p:txBody>
          <a:bodyPr spcFirstLastPara="1" wrap="square" lIns="0" tIns="0" rIns="0" bIns="0" anchor="t" anchorCtr="0">
            <a:noAutofit/>
          </a:bodyPr>
          <a:lstStyle/>
          <a:p>
            <a:pPr algn="l">
              <a:buClr>
                <a:srgbClr val="E54D2E"/>
              </a:buClr>
              <a:buSzPts val="2550"/>
            </a:pPr>
            <a:r>
              <a:rPr lang="en-US" sz="1700" b="1">
                <a:solidFill>
                  <a:srgbClr val="171717"/>
                </a:solidFill>
                <a:latin typeface="Arial"/>
                <a:ea typeface="Arial"/>
                <a:cs typeface="Arial"/>
                <a:sym typeface="IBM Plex Mono"/>
              </a:rPr>
              <a:t>bpftrace</a:t>
            </a:r>
            <a:r>
              <a:rPr lang="en-US" sz="1700" b="1">
                <a:solidFill>
                  <a:srgbClr val="171717"/>
                </a:solidFill>
                <a:latin typeface="Arial"/>
                <a:ea typeface="Arial"/>
                <a:cs typeface="Arial"/>
                <a:sym typeface="Arial"/>
              </a:rPr>
              <a:t> Contributor</a:t>
            </a:r>
            <a:endParaRPr sz="1700" b="1">
              <a:solidFill>
                <a:srgbClr val="171717"/>
              </a:solidFill>
              <a:latin typeface="Arial"/>
              <a:ea typeface="Arial"/>
              <a:cs typeface="Arial"/>
              <a:sym typeface="Arial"/>
            </a:endParaRPr>
          </a:p>
        </p:txBody>
      </p:sp>
      <p:sp>
        <p:nvSpPr>
          <p:cNvPr id="58" name="Google Shape;58;p4"/>
          <p:cNvSpPr txBox="1"/>
          <p:nvPr/>
        </p:nvSpPr>
        <p:spPr>
          <a:xfrm>
            <a:off x="3581400" y="4419600"/>
            <a:ext cx="5105400" cy="238125"/>
          </a:xfrm>
          <a:prstGeom prst="rect">
            <a:avLst/>
          </a:prstGeom>
          <a:noFill/>
          <a:ln>
            <a:noFill/>
          </a:ln>
        </p:spPr>
        <p:txBody>
          <a:bodyPr spcFirstLastPara="1" wrap="square" lIns="0" tIns="0" rIns="0" bIns="0" anchor="t" anchorCtr="0">
            <a:noAutofit/>
          </a:bodyPr>
          <a:lstStyle/>
          <a:p>
            <a:pPr algn="l">
              <a:buClr>
                <a:srgbClr val="A1A09A"/>
              </a:buClr>
              <a:buSzPts val="1500"/>
            </a:pPr>
            <a:r>
              <a:rPr lang="en-US" sz="1100" b="0" i="1">
                <a:solidFill>
                  <a:srgbClr val="171717"/>
                </a:solidFill>
                <a:latin typeface="Arial"/>
                <a:ea typeface="Arial"/>
                <a:cs typeface="Arial"/>
                <a:sym typeface="Arial"/>
              </a:rPr>
              <a:t>* I fixed a typo in the README 😄</a:t>
            </a:r>
            <a:endParaRPr sz="1100" b="0">
              <a:solidFill>
                <a:srgbClr val="171717"/>
              </a:solidFill>
              <a:latin typeface="Arial"/>
              <a:ea typeface="Arial"/>
              <a:cs typeface="Arial"/>
              <a:sym typeface="Arial"/>
            </a:endParaRPr>
          </a:p>
        </p:txBody>
      </p:sp>
      <p:pic>
        <p:nvPicPr>
          <p:cNvPr id="9003" name="Readyset standard logo 3"/>
          <p:cNvPicPr>
            <a:picLocks noChangeAspect="1"/>
          </p:cNvPicPr>
          <p:nvPr/>
        </p:nvPicPr>
        <p:blipFill>
          <a:blip r:embed="rId4"/>
          <a:stretch/>
        </p:blipFill>
        <p:spPr>
          <a:xfrm>
            <a:off x="457200" y="239275"/>
            <a:ext cx="952500" cy="216776"/>
          </a:xfrm>
          <a:prstGeom prst="rect">
            <a:avLst/>
          </a:prstGeom>
        </p:spPr>
      </p:pic>
      <p:sp>
        <p:nvSpPr>
          <p:cNvPr id="9503"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D2ED8ADB-2C60-4BC2-B31B-6EADAB2588FD}"/>
              </a:ext>
            </a:extLst>
          </p:cNvPr>
          <p:cNvSpPr>
            <a:spLocks noGrp="1"/>
          </p:cNvSpPr>
          <p:nvPr/>
        </p:nvSpPr>
        <p:spPr>
          <a:xfrm>
            <a:off x="457200" y="790575"/>
            <a:ext cx="8229600" cy="460248"/>
          </a:xfrm>
          <a:prstGeom prst="rect">
            <a:avLst/>
          </a:prstGeom>
          <a:noFill/>
          <a:ln w="0">
            <a:noFill/>
          </a:ln>
        </p:spPr>
        <p:txBody>
          <a:bodyPr wrap="none" lIns="0" tIns="0" rIns="0" bIns="0">
            <a:noAutofit/>
          </a:bodyPr>
          <a:lstStyle/>
          <a:p>
            <a:pPr>
              <a:lnSpc>
                <a:spcPct val="106000"/>
              </a:lnSpc>
              <a:buNone/>
              <a:defRPr sz="2700" b="1">
                <a:solidFill>
                  <a:srgbClr val="1A1A1A"/>
                </a:solidFill>
                <a:latin typeface="Arial"/>
                <a:ea typeface="Arial"/>
                <a:cs typeface="Arial"/>
              </a:defRPr>
            </a:pPr>
            <a:r>
              <a:rPr sz="2700" b="1">
                <a:solidFill>
                  <a:srgbClr val="1A1A1A"/>
                </a:solidFill>
                <a:latin typeface="Arial"/>
                <a:ea typeface="Arial"/>
                <a:cs typeface="Arial"/>
              </a:rPr>
              <a:t>Three questions for the test</a:t>
            </a:r>
          </a:p>
        </p:txBody>
      </p:sp>
      <p:sp>
        <p:nvSpPr>
          <p:cNvPr id="4" name="text-11">
            <a:extLst>
              <a:ext uri="{FF2B5EF4-FFF2-40B4-BE49-F238E27FC236}">
                <a16:creationId xmlns:a16="http://schemas.microsoft.com/office/drawing/2014/main" id="{E9366091-0264-4154-AC2C-C84EF5323EFE}"/>
              </a:ext>
            </a:extLst>
          </p:cNvPr>
          <p:cNvSpPr>
            <a:spLocks noGrp="1"/>
          </p:cNvSpPr>
          <p:nvPr/>
        </p:nvSpPr>
        <p:spPr>
          <a:xfrm>
            <a:off x="457200" y="1762125"/>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01  MySQL source</a:t>
            </a:r>
          </a:p>
        </p:txBody>
      </p:sp>
      <p:sp>
        <p:nvSpPr>
          <p:cNvPr id="5" name="text-12">
            <a:extLst>
              <a:ext uri="{FF2B5EF4-FFF2-40B4-BE49-F238E27FC236}">
                <a16:creationId xmlns:a16="http://schemas.microsoft.com/office/drawing/2014/main" id="{142DACC3-A873-47E5-A7F9-F3C525308697}"/>
              </a:ext>
            </a:extLst>
          </p:cNvPr>
          <p:cNvSpPr>
            <a:spLocks noGrp="1"/>
          </p:cNvSpPr>
          <p:nvPr/>
        </p:nvSpPr>
        <p:spPr>
          <a:xfrm>
            <a:off x="3143250" y="176212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dirty="0">
                <a:solidFill>
                  <a:srgbClr val="1A1A1A"/>
                </a:solidFill>
                <a:latin typeface="Arial"/>
                <a:ea typeface="Arial"/>
                <a:cs typeface="Arial"/>
              </a:rPr>
              <a:t>How old is the answer when it arrives?</a:t>
            </a:r>
          </a:p>
        </p:txBody>
      </p:sp>
      <p:sp>
        <p:nvSpPr>
          <p:cNvPr id="6" name="text-13">
            <a:extLst>
              <a:ext uri="{FF2B5EF4-FFF2-40B4-BE49-F238E27FC236}">
                <a16:creationId xmlns:a16="http://schemas.microsoft.com/office/drawing/2014/main" id="{8077CDE2-401C-406E-A120-151604D53A5D}"/>
              </a:ext>
            </a:extLst>
          </p:cNvPr>
          <p:cNvSpPr>
            <a:spLocks noGrp="1"/>
          </p:cNvSpPr>
          <p:nvPr/>
        </p:nvSpPr>
        <p:spPr>
          <a:xfrm>
            <a:off x="457200" y="2628900"/>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02  Replica</a:t>
            </a:r>
          </a:p>
        </p:txBody>
      </p:sp>
      <p:sp>
        <p:nvSpPr>
          <p:cNvPr id="7" name="text-14">
            <a:extLst>
              <a:ext uri="{FF2B5EF4-FFF2-40B4-BE49-F238E27FC236}">
                <a16:creationId xmlns:a16="http://schemas.microsoft.com/office/drawing/2014/main" id="{F7839134-4A08-4BFE-99DE-5D4EC58F035E}"/>
              </a:ext>
            </a:extLst>
          </p:cNvPr>
          <p:cNvSpPr>
            <a:spLocks noGrp="1"/>
          </p:cNvSpPr>
          <p:nvPr/>
        </p:nvSpPr>
        <p:spPr>
          <a:xfrm>
            <a:off x="3143250" y="2628900"/>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How much extra delay does replication add?</a:t>
            </a:r>
          </a:p>
        </p:txBody>
      </p:sp>
      <p:sp>
        <p:nvSpPr>
          <p:cNvPr id="8" name="text-15">
            <a:extLst>
              <a:ext uri="{FF2B5EF4-FFF2-40B4-BE49-F238E27FC236}">
                <a16:creationId xmlns:a16="http://schemas.microsoft.com/office/drawing/2014/main" id="{E3388B67-8248-41B1-8E74-34DACA6E4B83}"/>
              </a:ext>
            </a:extLst>
          </p:cNvPr>
          <p:cNvSpPr>
            <a:spLocks noGrp="1"/>
          </p:cNvSpPr>
          <p:nvPr/>
        </p:nvSpPr>
        <p:spPr>
          <a:xfrm>
            <a:off x="457200" y="3495675"/>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03  Readyset</a:t>
            </a:r>
          </a:p>
        </p:txBody>
      </p:sp>
      <p:sp>
        <p:nvSpPr>
          <p:cNvPr id="9" name="text-16">
            <a:extLst>
              <a:ext uri="{FF2B5EF4-FFF2-40B4-BE49-F238E27FC236}">
                <a16:creationId xmlns:a16="http://schemas.microsoft.com/office/drawing/2014/main" id="{4BC9419E-A08F-47FD-9D3C-A889EFE648FE}"/>
              </a:ext>
            </a:extLst>
          </p:cNvPr>
          <p:cNvSpPr>
            <a:spLocks noGrp="1"/>
          </p:cNvSpPr>
          <p:nvPr/>
        </p:nvSpPr>
        <p:spPr>
          <a:xfrm>
            <a:off x="3143250" y="349567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What changes when Readyset maintains the result?</a:t>
            </a:r>
          </a:p>
        </p:txBody>
      </p:sp>
      <p:sp>
        <p:nvSpPr>
          <p:cNvPr id="10" name="text-17">
            <a:extLst>
              <a:ext uri="{FF2B5EF4-FFF2-40B4-BE49-F238E27FC236}">
                <a16:creationId xmlns:a16="http://schemas.microsoft.com/office/drawing/2014/main" id="{248C255C-A268-40E3-BBDC-FCD986EFCDFB}"/>
              </a:ext>
            </a:extLst>
          </p:cNvPr>
          <p:cNvSpPr>
            <a:spLocks noGrp="1"/>
          </p:cNvSpPr>
          <p:nvPr/>
        </p:nvSpPr>
        <p:spPr>
          <a:xfrm>
            <a:off x="457200" y="4552950"/>
            <a:ext cx="7953375" cy="278892"/>
          </a:xfrm>
          <a:prstGeom prst="rect">
            <a:avLst/>
          </a:prstGeom>
          <a:noFill/>
          <a:ln w="0">
            <a:noFill/>
          </a:ln>
        </p:spPr>
        <p:txBody>
          <a:bodyPr wrap="none" lIns="0" tIns="0" rIns="0" bIns="0">
            <a:noAutofit/>
          </a:bodyPr>
          <a:lstStyle/>
          <a:p>
            <a:pPr>
              <a:lnSpc>
                <a:spcPct val="106000"/>
              </a:lnSpc>
              <a:buNone/>
              <a:defRPr sz="1425" b="0">
                <a:solidFill>
                  <a:srgbClr val="706E6C"/>
                </a:solidFill>
                <a:latin typeface="Arial"/>
                <a:ea typeface="Arial"/>
                <a:cs typeface="Arial"/>
              </a:defRPr>
            </a:pPr>
            <a:r>
              <a:rPr sz="1425" b="0">
                <a:solidFill>
                  <a:srgbClr val="706E6C"/>
                </a:solidFill>
                <a:latin typeface="Arial"/>
                <a:ea typeface="Arial"/>
                <a:cs typeface="Arial"/>
              </a:rPr>
              <a:t>Same workload, three destinations. Results from recorded experiments.</a:t>
            </a:r>
          </a:p>
        </p:txBody>
      </p:sp>
      <p:sp>
        <p:nvSpPr>
          <p:cNvPr id="950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04</a:t>
            </a:r>
          </a:p>
        </p:txBody>
      </p:sp>
    </p:spTree>
    <p:extLst>
      <p:ext uri="{BB962C8B-B14F-4D97-AF65-F5344CB8AC3E}">
        <p14:creationId xmlns:p14="http://schemas.microsoft.com/office/powerpoint/2010/main" val="45313081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7" name="Readyset logo" descr="Readyset logo"/>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58C4DEE6-C223-46B1-842B-3DCB303E77A9}"/>
              </a:ext>
            </a:extLst>
          </p:cNvPr>
          <p:cNvSpPr>
            <a:spLocks noGrp="1"/>
          </p:cNvSpPr>
          <p:nvPr/>
        </p:nvSpPr>
        <p:spPr>
          <a:xfrm>
            <a:off x="457200" y="2038350"/>
            <a:ext cx="8458200" cy="1476375"/>
          </a:xfrm>
          <a:prstGeom prst="rect">
            <a:avLst/>
          </a:prstGeom>
          <a:noFill/>
          <a:ln w="0">
            <a:noFill/>
          </a:ln>
        </p:spPr>
        <p:txBody>
          <a:bodyPr wrap="square" lIns="0" tIns="0" rIns="0" bIns="0">
            <a:noAutofit/>
          </a:bodyPr>
          <a:lstStyle/>
          <a:p>
            <a:pPr>
              <a:lnSpc>
                <a:spcPct val="110000"/>
              </a:lnSpc>
              <a:buNone/>
              <a:defRPr sz="4275" b="1">
                <a:solidFill>
                  <a:srgbClr val="EDEDEC"/>
                </a:solidFill>
                <a:latin typeface="Arial"/>
                <a:ea typeface="Arial"/>
                <a:cs typeface="Arial"/>
              </a:defRPr>
            </a:pPr>
            <a:r>
              <a:rPr lang="en-US" sz="3000" b="1" dirty="0">
                <a:solidFill>
                  <a:srgbClr val="EDEDEC"/>
                </a:solidFill>
                <a:latin typeface="Arial"/>
                <a:ea typeface="Arial"/>
                <a:cs typeface="Arial"/>
              </a:rPr>
              <a:t>What 4-letter word defines how database transactions behave?</a:t>
            </a:r>
            <a:endParaRPr sz="3000" b="1" dirty="0">
              <a:solidFill>
                <a:srgbClr val="EDEDEC"/>
              </a:solidFill>
              <a:latin typeface="Arial"/>
              <a:ea typeface="Arial"/>
              <a:cs typeface="Arial"/>
            </a:endParaRPr>
          </a:p>
        </p:txBody>
      </p:sp>
      <p:sp>
        <p:nvSpPr>
          <p:cNvPr id="950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05</a:t>
            </a:r>
          </a:p>
        </p:txBody>
      </p:sp>
    </p:spTree>
    <p:extLst>
      <p:ext uri="{BB962C8B-B14F-4D97-AF65-F5344CB8AC3E}">
        <p14:creationId xmlns:p14="http://schemas.microsoft.com/office/powerpoint/2010/main" val="10328130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8EABCC9-E3EE-E5F8-45CC-C0621E55A405}"/>
            </a:ext>
          </a:extLst>
        </p:cNvPr>
        <p:cNvGrpSpPr/>
        <p:nvPr/>
      </p:nvGrpSpPr>
      <p:grpSpPr>
        <a:xfrm>
          <a:off x="0" y="0"/>
          <a:ext cx="0" cy="0"/>
          <a:chOff x="0" y="0"/>
          <a:chExt cx="0" cy="0"/>
        </a:xfrm>
      </p:grpSpPr>
      <p:pic>
        <p:nvPicPr>
          <p:cNvPr id="21" name="Readyset logo" descr="Readyset logo">
            <a:extLst>
              <a:ext uri="{FF2B5EF4-FFF2-40B4-BE49-F238E27FC236}">
                <a16:creationId xmlns:a16="http://schemas.microsoft.com/office/drawing/2014/main" id="{ECFB861B-71A2-83D3-DE9D-DC153DC1BAF3}"/>
              </a:ext>
            </a:extLst>
          </p:cNvPr>
          <p:cNvPicPr>
            <a:picLocks noChangeAspect="1"/>
          </p:cNvPicPr>
          <p:nvPr/>
        </p:nvPicPr>
        <p:blipFill>
          <a:blip r:embed="rId3"/>
          <a:stretch/>
        </p:blipFill>
        <p:spPr>
          <a:xfrm>
            <a:off x="457200" y="238132"/>
            <a:ext cx="952500" cy="216776"/>
          </a:xfrm>
          <a:prstGeom prst="rect">
            <a:avLst/>
          </a:prstGeom>
        </p:spPr>
      </p:pic>
      <p:sp>
        <p:nvSpPr>
          <p:cNvPr id="5" name="concept-letter-0">
            <a:extLst>
              <a:ext uri="{FF2B5EF4-FFF2-40B4-BE49-F238E27FC236}">
                <a16:creationId xmlns:a16="http://schemas.microsoft.com/office/drawing/2014/main" id="{5C8A80D6-3BE1-92D5-5C18-3978873EC4CE}"/>
              </a:ext>
            </a:extLst>
          </p:cNvPr>
          <p:cNvSpPr>
            <a:spLocks noGrp="1"/>
          </p:cNvSpPr>
          <p:nvPr/>
        </p:nvSpPr>
        <p:spPr>
          <a:xfrm>
            <a:off x="547497" y="13266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A</a:t>
            </a:r>
          </a:p>
        </p:txBody>
      </p:sp>
      <p:sp>
        <p:nvSpPr>
          <p:cNvPr id="6" name="concept-name-0">
            <a:extLst>
              <a:ext uri="{FF2B5EF4-FFF2-40B4-BE49-F238E27FC236}">
                <a16:creationId xmlns:a16="http://schemas.microsoft.com/office/drawing/2014/main" id="{2579BDFD-C958-B0D0-9D2D-D9D4CE6D7C08}"/>
              </a:ext>
            </a:extLst>
          </p:cNvPr>
          <p:cNvSpPr>
            <a:spLocks noGrp="1"/>
          </p:cNvSpPr>
          <p:nvPr/>
        </p:nvSpPr>
        <p:spPr>
          <a:xfrm>
            <a:off x="1204722" y="1437608"/>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lang="pt-BR" sz="1875" b="1" dirty="0">
                <a:solidFill>
                  <a:srgbClr val="1A1A1A"/>
                </a:solidFill>
                <a:latin typeface="Arial"/>
                <a:ea typeface="Arial"/>
                <a:cs typeface="Arial"/>
              </a:rPr>
              <a:t>PRAY</a:t>
            </a:r>
            <a:endParaRPr sz="1875" b="1" dirty="0">
              <a:solidFill>
                <a:srgbClr val="1A1A1A"/>
              </a:solidFill>
              <a:latin typeface="Arial"/>
              <a:ea typeface="Arial"/>
              <a:cs typeface="Arial"/>
            </a:endParaRPr>
          </a:p>
        </p:txBody>
      </p:sp>
      <p:sp>
        <p:nvSpPr>
          <p:cNvPr id="8" name="concept-body-0">
            <a:extLst>
              <a:ext uri="{FF2B5EF4-FFF2-40B4-BE49-F238E27FC236}">
                <a16:creationId xmlns:a16="http://schemas.microsoft.com/office/drawing/2014/main" id="{FC55D665-919B-4A15-95B7-B80E0CA3683E}"/>
              </a:ext>
            </a:extLst>
          </p:cNvPr>
          <p:cNvSpPr>
            <a:spLocks noGrp="1"/>
          </p:cNvSpPr>
          <p:nvPr/>
        </p:nvSpPr>
        <p:spPr>
          <a:xfrm>
            <a:off x="3619500" y="1437608"/>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lang="pt-BR" sz="1650" b="0" dirty="0" err="1">
                <a:solidFill>
                  <a:srgbClr val="1A1A1A"/>
                </a:solidFill>
                <a:latin typeface="Arial"/>
                <a:ea typeface="Arial"/>
                <a:cs typeface="Arial"/>
              </a:rPr>
              <a:t>Pray</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to</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work</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Pay</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the</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sacrifice</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to</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the</a:t>
            </a:r>
            <a:r>
              <a:rPr lang="pt-BR" sz="1650" b="0" dirty="0">
                <a:solidFill>
                  <a:srgbClr val="1A1A1A"/>
                </a:solidFill>
                <a:latin typeface="Arial"/>
                <a:ea typeface="Arial"/>
                <a:cs typeface="Arial"/>
              </a:rPr>
              <a:t> </a:t>
            </a:r>
            <a:r>
              <a:rPr lang="pt-BR" sz="1650" b="0" dirty="0" err="1">
                <a:solidFill>
                  <a:srgbClr val="1A1A1A"/>
                </a:solidFill>
                <a:latin typeface="Arial"/>
                <a:ea typeface="Arial"/>
                <a:cs typeface="Arial"/>
              </a:rPr>
              <a:t>gods</a:t>
            </a:r>
            <a:r>
              <a:rPr lang="pt-BR" sz="1650" b="0" dirty="0">
                <a:solidFill>
                  <a:srgbClr val="1A1A1A"/>
                </a:solidFill>
                <a:latin typeface="Arial"/>
                <a:ea typeface="Arial"/>
                <a:cs typeface="Arial"/>
              </a:rPr>
              <a:t>.</a:t>
            </a:r>
            <a:endParaRPr sz="1650" b="0" dirty="0">
              <a:solidFill>
                <a:srgbClr val="1A1A1A"/>
              </a:solidFill>
              <a:latin typeface="Arial"/>
              <a:ea typeface="Arial"/>
              <a:cs typeface="Arial"/>
            </a:endParaRPr>
          </a:p>
        </p:txBody>
      </p:sp>
      <p:sp>
        <p:nvSpPr>
          <p:cNvPr id="9" name="concept-letter-1">
            <a:extLst>
              <a:ext uri="{FF2B5EF4-FFF2-40B4-BE49-F238E27FC236}">
                <a16:creationId xmlns:a16="http://schemas.microsoft.com/office/drawing/2014/main" id="{41CBE9D8-540A-009E-8E26-2F7AA9162B36}"/>
              </a:ext>
            </a:extLst>
          </p:cNvPr>
          <p:cNvSpPr>
            <a:spLocks noGrp="1"/>
          </p:cNvSpPr>
          <p:nvPr/>
        </p:nvSpPr>
        <p:spPr>
          <a:xfrm>
            <a:off x="547497" y="20124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lang="pt-BR" sz="3150" b="1" dirty="0" err="1">
                <a:solidFill>
                  <a:srgbClr val="171717"/>
                </a:solidFill>
                <a:latin typeface="Arial"/>
                <a:ea typeface="Arial"/>
                <a:cs typeface="Arial"/>
              </a:rPr>
              <a:t>B</a:t>
            </a:r>
            <a:endParaRPr sz="3150" b="1" dirty="0">
              <a:solidFill>
                <a:srgbClr val="171717"/>
              </a:solidFill>
              <a:latin typeface="Arial"/>
              <a:ea typeface="Arial"/>
              <a:cs typeface="Arial"/>
            </a:endParaRPr>
          </a:p>
        </p:txBody>
      </p:sp>
      <p:sp>
        <p:nvSpPr>
          <p:cNvPr id="10" name="concept-name-1">
            <a:extLst>
              <a:ext uri="{FF2B5EF4-FFF2-40B4-BE49-F238E27FC236}">
                <a16:creationId xmlns:a16="http://schemas.microsoft.com/office/drawing/2014/main" id="{4F8C7F63-25AE-564E-632C-358B6DF6E364}"/>
              </a:ext>
            </a:extLst>
          </p:cNvPr>
          <p:cNvSpPr>
            <a:spLocks noGrp="1"/>
          </p:cNvSpPr>
          <p:nvPr/>
        </p:nvSpPr>
        <p:spPr>
          <a:xfrm>
            <a:off x="1204722" y="2123408"/>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lang="pt-BR" sz="1875" b="1" dirty="0">
                <a:solidFill>
                  <a:srgbClr val="1A1A1A"/>
                </a:solidFill>
                <a:latin typeface="Arial"/>
                <a:ea typeface="Arial"/>
                <a:cs typeface="Arial"/>
              </a:rPr>
              <a:t>YOLO</a:t>
            </a:r>
            <a:endParaRPr sz="1875" b="1" dirty="0">
              <a:solidFill>
                <a:srgbClr val="1A1A1A"/>
              </a:solidFill>
              <a:latin typeface="Arial"/>
              <a:ea typeface="Arial"/>
              <a:cs typeface="Arial"/>
            </a:endParaRPr>
          </a:p>
        </p:txBody>
      </p:sp>
      <p:sp>
        <p:nvSpPr>
          <p:cNvPr id="12" name="concept-body-1">
            <a:extLst>
              <a:ext uri="{FF2B5EF4-FFF2-40B4-BE49-F238E27FC236}">
                <a16:creationId xmlns:a16="http://schemas.microsoft.com/office/drawing/2014/main" id="{D2BB8C8E-EDE1-6AD1-4C42-B6AEBEF9A290}"/>
              </a:ext>
            </a:extLst>
          </p:cNvPr>
          <p:cNvSpPr>
            <a:spLocks noGrp="1"/>
          </p:cNvSpPr>
          <p:nvPr/>
        </p:nvSpPr>
        <p:spPr>
          <a:xfrm>
            <a:off x="3619500" y="2124170"/>
            <a:ext cx="5067300" cy="377190"/>
          </a:xfrm>
          <a:prstGeom prst="rect">
            <a:avLst/>
          </a:prstGeom>
          <a:noFill/>
          <a:ln w="0">
            <a:noFill/>
          </a:ln>
        </p:spPr>
        <p:txBody>
          <a:bodyPr wrap="none" lIns="0" tIns="0" rIns="0" bIns="0">
            <a:noAutofit/>
          </a:bodyPr>
          <a:lstStyle/>
          <a:p>
            <a:pPr>
              <a:lnSpc>
                <a:spcPct val="100000"/>
              </a:lnSpc>
              <a:buNone/>
              <a:defRPr sz="1650" b="0">
                <a:solidFill>
                  <a:srgbClr val="1A1A1A"/>
                </a:solidFill>
                <a:latin typeface="Arial"/>
                <a:ea typeface="Arial"/>
                <a:cs typeface="Arial"/>
              </a:defRPr>
            </a:pPr>
            <a:r>
              <a:rPr lang="en-BR" sz="1650" dirty="0">
                <a:solidFill>
                  <a:srgbClr val="1A1A1A"/>
                </a:solidFill>
                <a:latin typeface="Arial"/>
              </a:rPr>
              <a:t>Real devs test in production</a:t>
            </a:r>
            <a:endParaRPr sz="1650" b="0" dirty="0">
              <a:solidFill>
                <a:srgbClr val="1A1A1A"/>
              </a:solidFill>
              <a:latin typeface="Arial"/>
              <a:ea typeface="Arial"/>
              <a:cs typeface="Arial"/>
            </a:endParaRPr>
          </a:p>
        </p:txBody>
      </p:sp>
      <p:sp>
        <p:nvSpPr>
          <p:cNvPr id="13" name="concept-letter-2">
            <a:extLst>
              <a:ext uri="{FF2B5EF4-FFF2-40B4-BE49-F238E27FC236}">
                <a16:creationId xmlns:a16="http://schemas.microsoft.com/office/drawing/2014/main" id="{8C0008B0-90A2-7F1B-F392-312997AC6220}"/>
              </a:ext>
            </a:extLst>
          </p:cNvPr>
          <p:cNvSpPr>
            <a:spLocks noGrp="1"/>
          </p:cNvSpPr>
          <p:nvPr/>
        </p:nvSpPr>
        <p:spPr>
          <a:xfrm>
            <a:off x="547497" y="26982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lang="pt-BR" sz="3150" b="1" dirty="0">
                <a:solidFill>
                  <a:srgbClr val="171717"/>
                </a:solidFill>
                <a:latin typeface="Arial"/>
                <a:ea typeface="Arial"/>
                <a:cs typeface="Arial"/>
              </a:rPr>
              <a:t>C</a:t>
            </a:r>
            <a:endParaRPr sz="3150" b="1" dirty="0">
              <a:solidFill>
                <a:srgbClr val="171717"/>
              </a:solidFill>
              <a:latin typeface="Arial"/>
              <a:ea typeface="Arial"/>
              <a:cs typeface="Arial"/>
            </a:endParaRPr>
          </a:p>
        </p:txBody>
      </p:sp>
      <p:sp>
        <p:nvSpPr>
          <p:cNvPr id="14" name="concept-name-2">
            <a:extLst>
              <a:ext uri="{FF2B5EF4-FFF2-40B4-BE49-F238E27FC236}">
                <a16:creationId xmlns:a16="http://schemas.microsoft.com/office/drawing/2014/main" id="{3751E1D7-82E7-EBF8-2519-E0E31B920133}"/>
              </a:ext>
            </a:extLst>
          </p:cNvPr>
          <p:cNvSpPr>
            <a:spLocks noGrp="1"/>
          </p:cNvSpPr>
          <p:nvPr/>
        </p:nvSpPr>
        <p:spPr>
          <a:xfrm>
            <a:off x="1197102" y="2817781"/>
            <a:ext cx="2171700" cy="285750"/>
          </a:xfrm>
          <a:prstGeom prst="rect">
            <a:avLst/>
          </a:prstGeom>
          <a:noFill/>
          <a:ln w="0">
            <a:noFill/>
          </a:ln>
        </p:spPr>
        <p:txBody>
          <a:bodyPr wrap="none" lIns="0" tIns="0" rIns="0" bIns="0">
            <a:noAutofit/>
          </a:bodyPr>
          <a:lstStyle/>
          <a:p>
            <a:pPr>
              <a:lnSpc>
                <a:spcPct val="100000"/>
              </a:lnSpc>
              <a:buNone/>
              <a:defRPr sz="1875" b="1">
                <a:solidFill>
                  <a:srgbClr val="1A1A1A"/>
                </a:solidFill>
                <a:latin typeface="Arial"/>
                <a:ea typeface="Arial"/>
                <a:cs typeface="Arial"/>
              </a:defRPr>
            </a:pPr>
            <a:r>
              <a:rPr lang="en-BR" sz="1875" b="1" dirty="0">
                <a:solidFill>
                  <a:srgbClr val="1A1A1A"/>
                </a:solidFill>
                <a:latin typeface="Arial"/>
              </a:rPr>
              <a:t>F*CK</a:t>
            </a:r>
            <a:endParaRPr sz="1875" b="1" dirty="0">
              <a:solidFill>
                <a:srgbClr val="1A1A1A"/>
              </a:solidFill>
              <a:latin typeface="Arial"/>
              <a:ea typeface="Arial"/>
              <a:cs typeface="Arial"/>
            </a:endParaRPr>
          </a:p>
        </p:txBody>
      </p:sp>
      <p:sp>
        <p:nvSpPr>
          <p:cNvPr id="16" name="concept-body-2">
            <a:extLst>
              <a:ext uri="{FF2B5EF4-FFF2-40B4-BE49-F238E27FC236}">
                <a16:creationId xmlns:a16="http://schemas.microsoft.com/office/drawing/2014/main" id="{3BD21114-31E8-2043-6E26-48FD556F2C88}"/>
              </a:ext>
            </a:extLst>
          </p:cNvPr>
          <p:cNvSpPr>
            <a:spLocks noGrp="1"/>
          </p:cNvSpPr>
          <p:nvPr/>
        </p:nvSpPr>
        <p:spPr>
          <a:xfrm>
            <a:off x="3619500" y="2774156"/>
            <a:ext cx="5067300" cy="329375"/>
          </a:xfrm>
          <a:prstGeom prst="rect">
            <a:avLst/>
          </a:prstGeom>
          <a:noFill/>
          <a:ln w="0">
            <a:noFill/>
          </a:ln>
        </p:spPr>
        <p:txBody>
          <a:bodyPr wrap="none" lIns="0" tIns="0" rIns="0" bIns="0">
            <a:noAutofit/>
          </a:bodyPr>
          <a:lstStyle/>
          <a:p>
            <a:pPr>
              <a:lnSpc>
                <a:spcPct val="100000"/>
              </a:lnSpc>
              <a:buNone/>
              <a:defRPr sz="1650" b="0">
                <a:solidFill>
                  <a:srgbClr val="1A1A1A"/>
                </a:solidFill>
                <a:latin typeface="Arial"/>
                <a:ea typeface="Arial"/>
                <a:cs typeface="Arial"/>
              </a:defRPr>
            </a:pPr>
            <a:r>
              <a:rPr lang="en-BR" sz="1650" dirty="0">
                <a:solidFill>
                  <a:srgbClr val="1A1A1A"/>
                </a:solidFill>
                <a:latin typeface="Arial"/>
              </a:rPr>
              <a:t>Forgot the WHERE clause</a:t>
            </a:r>
            <a:endParaRPr sz="1650" b="0" dirty="0">
              <a:solidFill>
                <a:srgbClr val="1A1A1A"/>
              </a:solidFill>
              <a:latin typeface="Arial"/>
              <a:ea typeface="Arial"/>
              <a:cs typeface="Arial"/>
            </a:endParaRPr>
          </a:p>
        </p:txBody>
      </p:sp>
      <p:sp>
        <p:nvSpPr>
          <p:cNvPr id="17" name="concept-letter-3">
            <a:extLst>
              <a:ext uri="{FF2B5EF4-FFF2-40B4-BE49-F238E27FC236}">
                <a16:creationId xmlns:a16="http://schemas.microsoft.com/office/drawing/2014/main" id="{FB81A9BD-D454-BBD5-BBFC-B6B7FF50B02D}"/>
              </a:ext>
            </a:extLst>
          </p:cNvPr>
          <p:cNvSpPr>
            <a:spLocks noGrp="1"/>
          </p:cNvSpPr>
          <p:nvPr/>
        </p:nvSpPr>
        <p:spPr>
          <a:xfrm>
            <a:off x="547497" y="3384042"/>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D</a:t>
            </a:r>
          </a:p>
        </p:txBody>
      </p:sp>
      <p:sp>
        <p:nvSpPr>
          <p:cNvPr id="18" name="concept-name-3">
            <a:extLst>
              <a:ext uri="{FF2B5EF4-FFF2-40B4-BE49-F238E27FC236}">
                <a16:creationId xmlns:a16="http://schemas.microsoft.com/office/drawing/2014/main" id="{B3AE3BED-0045-3223-8733-762A614E04D0}"/>
              </a:ext>
            </a:extLst>
          </p:cNvPr>
          <p:cNvSpPr>
            <a:spLocks noGrp="1"/>
          </p:cNvSpPr>
          <p:nvPr/>
        </p:nvSpPr>
        <p:spPr>
          <a:xfrm>
            <a:off x="1197102" y="3503581"/>
            <a:ext cx="2171700" cy="285750"/>
          </a:xfrm>
          <a:prstGeom prst="rect">
            <a:avLst/>
          </a:prstGeom>
          <a:noFill/>
          <a:ln w="0">
            <a:noFill/>
          </a:ln>
        </p:spPr>
        <p:txBody>
          <a:bodyPr wrap="none" lIns="0" tIns="0" rIns="0" bIns="0">
            <a:noAutofit/>
          </a:bodyPr>
          <a:lstStyle/>
          <a:p>
            <a:pPr>
              <a:lnSpc>
                <a:spcPct val="100000"/>
              </a:lnSpc>
              <a:buNone/>
              <a:defRPr sz="1875" b="1">
                <a:solidFill>
                  <a:srgbClr val="1A1A1A"/>
                </a:solidFill>
                <a:latin typeface="Arial"/>
                <a:ea typeface="Arial"/>
                <a:cs typeface="Arial"/>
              </a:defRPr>
            </a:pPr>
            <a:r>
              <a:rPr lang="en-BR" sz="1875" b="1" dirty="0">
                <a:solidFill>
                  <a:srgbClr val="1A1A1A"/>
                </a:solidFill>
                <a:latin typeface="Arial"/>
              </a:rPr>
              <a:t>ACID</a:t>
            </a:r>
            <a:endParaRPr sz="1875" b="1" dirty="0">
              <a:solidFill>
                <a:srgbClr val="1A1A1A"/>
              </a:solidFill>
              <a:latin typeface="Arial"/>
              <a:ea typeface="Arial"/>
              <a:cs typeface="Arial"/>
            </a:endParaRPr>
          </a:p>
        </p:txBody>
      </p:sp>
      <p:sp>
        <p:nvSpPr>
          <p:cNvPr id="20" name="concept-body-3">
            <a:extLst>
              <a:ext uri="{FF2B5EF4-FFF2-40B4-BE49-F238E27FC236}">
                <a16:creationId xmlns:a16="http://schemas.microsoft.com/office/drawing/2014/main" id="{B8E17EA2-06A4-CE93-5F1D-EE6ACF0B9EF3}"/>
              </a:ext>
            </a:extLst>
          </p:cNvPr>
          <p:cNvSpPr>
            <a:spLocks noGrp="1"/>
          </p:cNvSpPr>
          <p:nvPr/>
        </p:nvSpPr>
        <p:spPr>
          <a:xfrm>
            <a:off x="3619500" y="3386995"/>
            <a:ext cx="5067300" cy="539115"/>
          </a:xfrm>
          <a:prstGeom prst="rect">
            <a:avLst/>
          </a:prstGeom>
          <a:noFill/>
          <a:ln w="0">
            <a:noFill/>
          </a:ln>
        </p:spPr>
        <p:txBody>
          <a:bodyPr wrap="square" lIns="0" tIns="0" rIns="0" bIns="0">
            <a:noAutofit/>
          </a:bodyPr>
          <a:lstStyle/>
          <a:p>
            <a:pPr>
              <a:lnSpc>
                <a:spcPct val="100000"/>
              </a:lnSpc>
              <a:buNone/>
              <a:defRPr sz="1650" b="0">
                <a:solidFill>
                  <a:srgbClr val="1A1A1A"/>
                </a:solidFill>
                <a:latin typeface="Arial"/>
                <a:ea typeface="Arial"/>
                <a:cs typeface="Arial"/>
              </a:defRPr>
            </a:pPr>
            <a:r>
              <a:rPr lang="en-BR" sz="1650" dirty="0">
                <a:solidFill>
                  <a:srgbClr val="1A1A1A"/>
                </a:solidFill>
                <a:latin typeface="Arial"/>
              </a:rPr>
              <a:t>Atomicity, Consistency, Isolation, Durability </a:t>
            </a:r>
            <a:r>
              <a:rPr lang="en-BR" sz="1650" i="1" dirty="0">
                <a:solidFill>
                  <a:srgbClr val="1A1A1A"/>
                </a:solidFill>
                <a:latin typeface="Arial"/>
              </a:rPr>
              <a:t>(boring, but correct)</a:t>
            </a:r>
            <a:endParaRPr sz="1650" b="0" dirty="0">
              <a:solidFill>
                <a:srgbClr val="1A1A1A"/>
              </a:solidFill>
              <a:latin typeface="Arial"/>
              <a:ea typeface="Arial"/>
              <a:cs typeface="Arial"/>
            </a:endParaRPr>
          </a:p>
        </p:txBody>
      </p:sp>
      <p:sp>
        <p:nvSpPr>
          <p:cNvPr id="950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06</a:t>
            </a:r>
          </a:p>
        </p:txBody>
      </p:sp>
    </p:spTree>
    <p:extLst>
      <p:ext uri="{BB962C8B-B14F-4D97-AF65-F5344CB8AC3E}">
        <p14:creationId xmlns:p14="http://schemas.microsoft.com/office/powerpoint/2010/main" val="42497843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8" grpId="0"/>
      <p:bldP spid="8" grpId="1"/>
      <p:bldP spid="9" grpId="0"/>
      <p:bldP spid="9" grpId="1"/>
      <p:bldP spid="10" grpId="0"/>
      <p:bldP spid="10" grpId="1"/>
      <p:bldP spid="12" grpId="0"/>
      <p:bldP spid="12" grpId="1"/>
      <p:bldP spid="13" grpId="0"/>
      <p:bldP spid="13" grpId="1"/>
      <p:bldP spid="14" grpId="0"/>
      <p:bldP spid="14" grpId="1"/>
      <p:bldP spid="16" grpId="0"/>
      <p:bldP spid="16" grpId="1"/>
      <p:bldP spid="17" grpId="0"/>
      <p:bldP spid="17" grpId="1"/>
      <p:bldP spid="18" grpId="0"/>
      <p:bldP spid="18" grpId="1"/>
      <p:bldP spid="20" grpId="0"/>
      <p:bldP spid="20"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6D7BF84F-B0CA-9D4A-4861-C35AED7D2B7F}"/>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6C12A10F-8BB8-73BF-85DD-ED0AA5C55868}"/>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C9483555-5D39-EB11-B789-4B8FDB601942}"/>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sz="4275" b="1">
                <a:solidFill>
                  <a:srgbClr val="EDEDEC"/>
                </a:solidFill>
                <a:latin typeface="Arial"/>
                <a:ea typeface="Arial"/>
                <a:cs typeface="Arial"/>
              </a:rPr>
              <a:t>ACID</a:t>
            </a:r>
          </a:p>
        </p:txBody>
      </p:sp>
      <p:sp>
        <p:nvSpPr>
          <p:cNvPr id="5" name="Section explanation">
            <a:extLst>
              <a:ext uri="{FF2B5EF4-FFF2-40B4-BE49-F238E27FC236}">
                <a16:creationId xmlns:a16="http://schemas.microsoft.com/office/drawing/2014/main" id="{DFF39237-2C13-EAAE-0E22-FEBC47F9AA72}"/>
              </a:ext>
            </a:extLst>
          </p:cNvPr>
          <p:cNvSpPr>
            <a:spLocks noGrp="1"/>
          </p:cNvSpPr>
          <p:nvPr/>
        </p:nvSpPr>
        <p:spPr>
          <a:xfrm>
            <a:off x="476250" y="3705225"/>
            <a:ext cx="5905500" cy="626745"/>
          </a:xfrm>
          <a:prstGeom prst="rect">
            <a:avLst/>
          </a:prstGeom>
          <a:noFill/>
          <a:ln w="0">
            <a:noFill/>
          </a:ln>
        </p:spPr>
        <p:txBody>
          <a:bodyPr wrap="none" lIns="0" tIns="0" rIns="0" bIns="0">
            <a:noAutofit/>
          </a:bodyPr>
          <a:lstStyle/>
          <a:p>
            <a:pPr>
              <a:lnSpc>
                <a:spcPct val="110000"/>
              </a:lnSpc>
              <a:buNone/>
              <a:defRPr sz="1950" b="0">
                <a:solidFill>
                  <a:srgbClr val="C8C5C1"/>
                </a:solidFill>
                <a:latin typeface="Arial"/>
                <a:ea typeface="Arial"/>
                <a:cs typeface="Arial"/>
              </a:defRPr>
            </a:pPr>
            <a:r>
              <a:rPr sz="1950" b="0">
                <a:solidFill>
                  <a:srgbClr val="C8C5C1"/>
                </a:solidFill>
                <a:latin typeface="Arial"/>
                <a:ea typeface="Arial"/>
                <a:cs typeface="Arial"/>
              </a:rPr>
              <a:t>What each letter guarantees in InnoDB, and where</a:t>
            </a:r>
          </a:p>
          <a:p>
            <a:pPr>
              <a:lnSpc>
                <a:spcPct val="110000"/>
              </a:lnSpc>
              <a:buNone/>
              <a:defRPr sz="1950" b="0">
                <a:solidFill>
                  <a:srgbClr val="C8C5C1"/>
                </a:solidFill>
                <a:latin typeface="Arial"/>
                <a:ea typeface="Arial"/>
                <a:cs typeface="Arial"/>
              </a:defRPr>
            </a:pPr>
            <a:r>
              <a:rPr sz="1950" b="0">
                <a:solidFill>
                  <a:srgbClr val="C8C5C1"/>
                </a:solidFill>
                <a:latin typeface="Arial"/>
                <a:ea typeface="Arial"/>
                <a:cs typeface="Arial"/>
              </a:rPr>
              <a:t>the guarantee ends</a:t>
            </a:r>
          </a:p>
        </p:txBody>
      </p:sp>
      <p:sp>
        <p:nvSpPr>
          <p:cNvPr id="950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07</a:t>
            </a:r>
          </a:p>
        </p:txBody>
      </p:sp>
    </p:spTree>
    <p:extLst>
      <p:ext uri="{BB962C8B-B14F-4D97-AF65-F5344CB8AC3E}">
        <p14:creationId xmlns:p14="http://schemas.microsoft.com/office/powerpoint/2010/main" val="3780583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Readyset logo" descr="Readyset logo"/>
          <p:cNvPicPr>
            <a:picLocks noChangeAspect="1"/>
          </p:cNvPicPr>
          <p:nvPr/>
        </p:nvPicPr>
        <p:blipFill>
          <a:blip r:embed="rId3"/>
          <a:stretch/>
        </p:blipFill>
        <p:spPr>
          <a:xfrm>
            <a:off x="457200" y="238132"/>
            <a:ext cx="952500" cy="216776"/>
          </a:xfrm>
          <a:prstGeom prst="rect">
            <a:avLst/>
          </a:prstGeom>
        </p:spPr>
      </p:pic>
      <p:sp>
        <p:nvSpPr>
          <p:cNvPr id="3" name="Slide title">
            <a:extLst>
              <a:ext uri="{FF2B5EF4-FFF2-40B4-BE49-F238E27FC236}">
                <a16:creationId xmlns:a16="http://schemas.microsoft.com/office/drawing/2014/main" id="{1A2A88BA-3E04-4843-8036-011FFA4AA2A0}"/>
              </a:ext>
            </a:extLst>
          </p:cNvPr>
          <p:cNvSpPr>
            <a:spLocks noGrp="1"/>
          </p:cNvSpPr>
          <p:nvPr/>
        </p:nvSpPr>
        <p:spPr>
          <a:xfrm>
            <a:off x="457200" y="752475"/>
            <a:ext cx="8229600" cy="838200"/>
          </a:xfrm>
          <a:prstGeom prst="rect">
            <a:avLst/>
          </a:prstGeom>
          <a:noFill/>
          <a:ln w="0">
            <a:noFill/>
          </a:ln>
        </p:spPr>
        <p:txBody>
          <a:bodyPr wrap="none" lIns="0" tIns="0" rIns="0" bIns="0">
            <a:noAutofit/>
          </a:bodyPr>
          <a:lstStyle/>
          <a:p>
            <a:pPr>
              <a:lnSpc>
                <a:spcPct val="110000"/>
              </a:lnSpc>
              <a:buNone/>
              <a:defRPr sz="2700" b="1">
                <a:solidFill>
                  <a:srgbClr val="1A1A1A"/>
                </a:solidFill>
                <a:latin typeface="Arial"/>
                <a:ea typeface="Arial"/>
                <a:cs typeface="Arial"/>
              </a:defRPr>
            </a:pPr>
            <a:r>
              <a:rPr sz="2700" b="1">
                <a:solidFill>
                  <a:srgbClr val="1A1A1A"/>
                </a:solidFill>
                <a:latin typeface="Arial"/>
                <a:ea typeface="Arial"/>
                <a:cs typeface="Arial"/>
              </a:rPr>
              <a:t>ACID: four promises of a transaction</a:t>
            </a:r>
          </a:p>
        </p:txBody>
      </p:sp>
      <p:sp>
        <p:nvSpPr>
          <p:cNvPr id="4" name="text-8">
            <a:extLst>
              <a:ext uri="{FF2B5EF4-FFF2-40B4-BE49-F238E27FC236}">
                <a16:creationId xmlns:a16="http://schemas.microsoft.com/office/drawing/2014/main" id="{746DAD8F-5A53-44EA-8876-EB5F65074F35}"/>
              </a:ext>
            </a:extLst>
          </p:cNvPr>
          <p:cNvSpPr>
            <a:spLocks noGrp="1"/>
          </p:cNvSpPr>
          <p:nvPr/>
        </p:nvSpPr>
        <p:spPr>
          <a:xfrm>
            <a:off x="457200" y="1304925"/>
            <a:ext cx="8096250" cy="298133"/>
          </a:xfrm>
          <a:prstGeom prst="rect">
            <a:avLst/>
          </a:prstGeom>
          <a:noFill/>
          <a:ln w="0">
            <a:noFill/>
          </a:ln>
        </p:spPr>
        <p:txBody>
          <a:bodyPr wrap="none" lIns="0" tIns="0" rIns="0" bIns="0">
            <a:noAutofit/>
          </a:bodyPr>
          <a:lstStyle/>
          <a:p>
            <a:pPr>
              <a:lnSpc>
                <a:spcPct val="110000"/>
              </a:lnSpc>
              <a:buNone/>
              <a:defRPr sz="1650" b="0">
                <a:solidFill>
                  <a:srgbClr val="706E6C"/>
                </a:solidFill>
                <a:latin typeface="Arial"/>
                <a:ea typeface="Arial"/>
                <a:cs typeface="Arial"/>
              </a:defRPr>
            </a:pPr>
            <a:r>
              <a:rPr sz="1650" b="0">
                <a:solidFill>
                  <a:srgbClr val="706E6C"/>
                </a:solidFill>
                <a:latin typeface="Arial"/>
                <a:ea typeface="Arial"/>
                <a:cs typeface="Arial"/>
              </a:rPr>
              <a:t>Example: transfer 100 from Alice to Bob.</a:t>
            </a:r>
          </a:p>
        </p:txBody>
      </p:sp>
      <p:sp>
        <p:nvSpPr>
          <p:cNvPr id="5" name="concept-letter-0">
            <a:extLst>
              <a:ext uri="{FF2B5EF4-FFF2-40B4-BE49-F238E27FC236}">
                <a16:creationId xmlns:a16="http://schemas.microsoft.com/office/drawing/2014/main" id="{60864323-CDF8-4348-91F1-80A1937B5517}"/>
              </a:ext>
            </a:extLst>
          </p:cNvPr>
          <p:cNvSpPr>
            <a:spLocks noGrp="1"/>
          </p:cNvSpPr>
          <p:nvPr/>
        </p:nvSpPr>
        <p:spPr>
          <a:xfrm>
            <a:off x="457200" y="18478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a:solidFill>
                  <a:srgbClr val="171717"/>
                </a:solidFill>
                <a:latin typeface="Arial"/>
                <a:ea typeface="Arial"/>
                <a:cs typeface="Arial"/>
              </a:rPr>
              <a:t>A</a:t>
            </a:r>
          </a:p>
        </p:txBody>
      </p:sp>
      <p:sp>
        <p:nvSpPr>
          <p:cNvPr id="6" name="concept-name-0">
            <a:extLst>
              <a:ext uri="{FF2B5EF4-FFF2-40B4-BE49-F238E27FC236}">
                <a16:creationId xmlns:a16="http://schemas.microsoft.com/office/drawing/2014/main" id="{4C4F3486-D8C6-4247-BE81-55A2A35C7331}"/>
              </a:ext>
            </a:extLst>
          </p:cNvPr>
          <p:cNvSpPr>
            <a:spLocks noGrp="1"/>
          </p:cNvSpPr>
          <p:nvPr/>
        </p:nvSpPr>
        <p:spPr>
          <a:xfrm>
            <a:off x="1114425" y="18764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a:solidFill>
                  <a:srgbClr val="1A1A1A"/>
                </a:solidFill>
                <a:latin typeface="Arial"/>
                <a:ea typeface="Arial"/>
                <a:cs typeface="Arial"/>
              </a:rPr>
              <a:t>Atomicity</a:t>
            </a:r>
          </a:p>
        </p:txBody>
      </p:sp>
      <p:sp>
        <p:nvSpPr>
          <p:cNvPr id="7" name="concept-short-0">
            <a:extLst>
              <a:ext uri="{FF2B5EF4-FFF2-40B4-BE49-F238E27FC236}">
                <a16:creationId xmlns:a16="http://schemas.microsoft.com/office/drawing/2014/main" id="{907A1790-AEE6-47A0-B78D-1DBBAE49CFF1}"/>
              </a:ext>
            </a:extLst>
          </p:cNvPr>
          <p:cNvSpPr>
            <a:spLocks noGrp="1"/>
          </p:cNvSpPr>
          <p:nvPr/>
        </p:nvSpPr>
        <p:spPr>
          <a:xfrm>
            <a:off x="1114425" y="22002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a:solidFill>
                  <a:srgbClr val="706E6C"/>
                </a:solidFill>
                <a:latin typeface="Arial"/>
                <a:ea typeface="Arial"/>
                <a:cs typeface="Arial"/>
              </a:rPr>
              <a:t>All or nothing</a:t>
            </a:r>
          </a:p>
        </p:txBody>
      </p:sp>
      <p:sp>
        <p:nvSpPr>
          <p:cNvPr id="8" name="concept-body-0">
            <a:extLst>
              <a:ext uri="{FF2B5EF4-FFF2-40B4-BE49-F238E27FC236}">
                <a16:creationId xmlns:a16="http://schemas.microsoft.com/office/drawing/2014/main" id="{B34BE703-C08D-4C05-8AB7-0C8E5725C833}"/>
              </a:ext>
            </a:extLst>
          </p:cNvPr>
          <p:cNvSpPr>
            <a:spLocks noGrp="1"/>
          </p:cNvSpPr>
          <p:nvPr/>
        </p:nvSpPr>
        <p:spPr>
          <a:xfrm>
            <a:off x="3619500" y="18954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dirty="0">
                <a:solidFill>
                  <a:srgbClr val="1A1A1A"/>
                </a:solidFill>
                <a:latin typeface="Arial"/>
                <a:ea typeface="Arial"/>
                <a:cs typeface="Arial"/>
              </a:rPr>
              <a:t>Debit and credit are one unit. Commit both, or roll</a:t>
            </a:r>
          </a:p>
          <a:p>
            <a:pPr>
              <a:lnSpc>
                <a:spcPct val="110000"/>
              </a:lnSpc>
              <a:buNone/>
              <a:defRPr sz="1650" b="0">
                <a:solidFill>
                  <a:srgbClr val="1A1A1A"/>
                </a:solidFill>
                <a:latin typeface="Arial"/>
                <a:ea typeface="Arial"/>
                <a:cs typeface="Arial"/>
              </a:defRPr>
            </a:pPr>
            <a:r>
              <a:rPr sz="1650" b="0" dirty="0">
                <a:solidFill>
                  <a:srgbClr val="1A1A1A"/>
                </a:solidFill>
                <a:latin typeface="Arial"/>
                <a:ea typeface="Arial"/>
                <a:cs typeface="Arial"/>
              </a:rPr>
              <a:t>back both.</a:t>
            </a:r>
          </a:p>
        </p:txBody>
      </p:sp>
      <p:sp>
        <p:nvSpPr>
          <p:cNvPr id="9" name="concept-letter-1">
            <a:extLst>
              <a:ext uri="{FF2B5EF4-FFF2-40B4-BE49-F238E27FC236}">
                <a16:creationId xmlns:a16="http://schemas.microsoft.com/office/drawing/2014/main" id="{0A0D6B8B-F2A2-4007-97CE-6F24263A9E9B}"/>
              </a:ext>
            </a:extLst>
          </p:cNvPr>
          <p:cNvSpPr>
            <a:spLocks noGrp="1"/>
          </p:cNvSpPr>
          <p:nvPr/>
        </p:nvSpPr>
        <p:spPr>
          <a:xfrm>
            <a:off x="457200" y="25336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C</a:t>
            </a:r>
          </a:p>
        </p:txBody>
      </p:sp>
      <p:sp>
        <p:nvSpPr>
          <p:cNvPr id="10" name="concept-name-1">
            <a:extLst>
              <a:ext uri="{FF2B5EF4-FFF2-40B4-BE49-F238E27FC236}">
                <a16:creationId xmlns:a16="http://schemas.microsoft.com/office/drawing/2014/main" id="{40E75A39-3BDF-43C9-B59C-B2FF51E2E5E5}"/>
              </a:ext>
            </a:extLst>
          </p:cNvPr>
          <p:cNvSpPr>
            <a:spLocks noGrp="1"/>
          </p:cNvSpPr>
          <p:nvPr/>
        </p:nvSpPr>
        <p:spPr>
          <a:xfrm>
            <a:off x="1114425" y="25622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dirty="0">
                <a:solidFill>
                  <a:srgbClr val="1A1A1A"/>
                </a:solidFill>
                <a:latin typeface="Arial"/>
                <a:ea typeface="Arial"/>
                <a:cs typeface="Arial"/>
              </a:rPr>
              <a:t>Consistency</a:t>
            </a:r>
          </a:p>
        </p:txBody>
      </p:sp>
      <p:sp>
        <p:nvSpPr>
          <p:cNvPr id="11" name="concept-short-1">
            <a:extLst>
              <a:ext uri="{FF2B5EF4-FFF2-40B4-BE49-F238E27FC236}">
                <a16:creationId xmlns:a16="http://schemas.microsoft.com/office/drawing/2014/main" id="{1CF2206D-B730-4FFC-9E1F-3936D0ACAB78}"/>
              </a:ext>
            </a:extLst>
          </p:cNvPr>
          <p:cNvSpPr>
            <a:spLocks noGrp="1"/>
          </p:cNvSpPr>
          <p:nvPr/>
        </p:nvSpPr>
        <p:spPr>
          <a:xfrm>
            <a:off x="1114425" y="28860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dirty="0">
                <a:solidFill>
                  <a:srgbClr val="706E6C"/>
                </a:solidFill>
                <a:latin typeface="Arial"/>
                <a:ea typeface="Arial"/>
                <a:cs typeface="Arial"/>
              </a:rPr>
              <a:t>Valid state to valid state</a:t>
            </a:r>
          </a:p>
        </p:txBody>
      </p:sp>
      <p:sp>
        <p:nvSpPr>
          <p:cNvPr id="12" name="concept-body-1">
            <a:extLst>
              <a:ext uri="{FF2B5EF4-FFF2-40B4-BE49-F238E27FC236}">
                <a16:creationId xmlns:a16="http://schemas.microsoft.com/office/drawing/2014/main" id="{5F0A8B12-1B6F-4B28-BEEC-D1B559C10A00}"/>
              </a:ext>
            </a:extLst>
          </p:cNvPr>
          <p:cNvSpPr>
            <a:spLocks noGrp="1"/>
          </p:cNvSpPr>
          <p:nvPr/>
        </p:nvSpPr>
        <p:spPr>
          <a:xfrm>
            <a:off x="3619500" y="25812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The transaction must obey declared rules and</a:t>
            </a:r>
          </a:p>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constraints.</a:t>
            </a:r>
          </a:p>
        </p:txBody>
      </p:sp>
      <p:sp>
        <p:nvSpPr>
          <p:cNvPr id="13" name="concept-letter-2">
            <a:extLst>
              <a:ext uri="{FF2B5EF4-FFF2-40B4-BE49-F238E27FC236}">
                <a16:creationId xmlns:a16="http://schemas.microsoft.com/office/drawing/2014/main" id="{54120A2B-27B3-4250-BFE4-741801BA9164}"/>
              </a:ext>
            </a:extLst>
          </p:cNvPr>
          <p:cNvSpPr>
            <a:spLocks noGrp="1"/>
          </p:cNvSpPr>
          <p:nvPr/>
        </p:nvSpPr>
        <p:spPr>
          <a:xfrm>
            <a:off x="530352" y="32194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I</a:t>
            </a:r>
          </a:p>
        </p:txBody>
      </p:sp>
      <p:sp>
        <p:nvSpPr>
          <p:cNvPr id="14" name="concept-name-2">
            <a:extLst>
              <a:ext uri="{FF2B5EF4-FFF2-40B4-BE49-F238E27FC236}">
                <a16:creationId xmlns:a16="http://schemas.microsoft.com/office/drawing/2014/main" id="{C7E10A40-FDA1-4C3C-84C1-01F7AF16D0F3}"/>
              </a:ext>
            </a:extLst>
          </p:cNvPr>
          <p:cNvSpPr>
            <a:spLocks noGrp="1"/>
          </p:cNvSpPr>
          <p:nvPr/>
        </p:nvSpPr>
        <p:spPr>
          <a:xfrm>
            <a:off x="1114425" y="32480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a:solidFill>
                  <a:srgbClr val="1A1A1A"/>
                </a:solidFill>
                <a:latin typeface="Arial"/>
                <a:ea typeface="Arial"/>
                <a:cs typeface="Arial"/>
              </a:rPr>
              <a:t>Isolation</a:t>
            </a:r>
          </a:p>
        </p:txBody>
      </p:sp>
      <p:sp>
        <p:nvSpPr>
          <p:cNvPr id="15" name="concept-short-2">
            <a:extLst>
              <a:ext uri="{FF2B5EF4-FFF2-40B4-BE49-F238E27FC236}">
                <a16:creationId xmlns:a16="http://schemas.microsoft.com/office/drawing/2014/main" id="{EAA0ABFE-1861-4A4B-8816-E0669B8C65AE}"/>
              </a:ext>
            </a:extLst>
          </p:cNvPr>
          <p:cNvSpPr>
            <a:spLocks noGrp="1"/>
          </p:cNvSpPr>
          <p:nvPr/>
        </p:nvSpPr>
        <p:spPr>
          <a:xfrm>
            <a:off x="1114425" y="35718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a:solidFill>
                  <a:srgbClr val="706E6C"/>
                </a:solidFill>
                <a:latin typeface="Arial"/>
                <a:ea typeface="Arial"/>
                <a:cs typeface="Arial"/>
              </a:rPr>
              <a:t>Concurrent work, controlled</a:t>
            </a:r>
          </a:p>
        </p:txBody>
      </p:sp>
      <p:sp>
        <p:nvSpPr>
          <p:cNvPr id="16" name="concept-body-2">
            <a:extLst>
              <a:ext uri="{FF2B5EF4-FFF2-40B4-BE49-F238E27FC236}">
                <a16:creationId xmlns:a16="http://schemas.microsoft.com/office/drawing/2014/main" id="{BE37AA4F-8A16-4140-A59E-8319DD12D583}"/>
              </a:ext>
            </a:extLst>
          </p:cNvPr>
          <p:cNvSpPr>
            <a:spLocks noGrp="1"/>
          </p:cNvSpPr>
          <p:nvPr/>
        </p:nvSpPr>
        <p:spPr>
          <a:xfrm>
            <a:off x="3619500" y="32670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Controls what transactions see and change.</a:t>
            </a:r>
          </a:p>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Guarantees depend on the isolation level.</a:t>
            </a:r>
          </a:p>
        </p:txBody>
      </p:sp>
      <p:sp>
        <p:nvSpPr>
          <p:cNvPr id="17" name="concept-letter-3">
            <a:extLst>
              <a:ext uri="{FF2B5EF4-FFF2-40B4-BE49-F238E27FC236}">
                <a16:creationId xmlns:a16="http://schemas.microsoft.com/office/drawing/2014/main" id="{FCD0BC8E-2975-43B9-A3D1-3329CB048B89}"/>
              </a:ext>
            </a:extLst>
          </p:cNvPr>
          <p:cNvSpPr>
            <a:spLocks noGrp="1"/>
          </p:cNvSpPr>
          <p:nvPr/>
        </p:nvSpPr>
        <p:spPr>
          <a:xfrm>
            <a:off x="457200" y="3905250"/>
            <a:ext cx="523875" cy="514350"/>
          </a:xfrm>
          <a:prstGeom prst="rect">
            <a:avLst/>
          </a:prstGeom>
          <a:noFill/>
          <a:ln w="0">
            <a:noFill/>
          </a:ln>
        </p:spPr>
        <p:txBody>
          <a:bodyPr wrap="none" lIns="0" tIns="0" rIns="0" bIns="0">
            <a:noAutofit/>
          </a:bodyPr>
          <a:lstStyle/>
          <a:p>
            <a:pPr>
              <a:lnSpc>
                <a:spcPct val="110000"/>
              </a:lnSpc>
              <a:buNone/>
              <a:defRPr sz="3150" b="1">
                <a:solidFill>
                  <a:srgbClr val="171717"/>
                </a:solidFill>
                <a:latin typeface="Arial"/>
                <a:ea typeface="Arial"/>
                <a:cs typeface="Arial"/>
              </a:defRPr>
            </a:pPr>
            <a:r>
              <a:rPr sz="3150" b="1" dirty="0">
                <a:solidFill>
                  <a:srgbClr val="171717"/>
                </a:solidFill>
                <a:latin typeface="Arial"/>
                <a:ea typeface="Arial"/>
                <a:cs typeface="Arial"/>
              </a:rPr>
              <a:t>D</a:t>
            </a:r>
          </a:p>
        </p:txBody>
      </p:sp>
      <p:sp>
        <p:nvSpPr>
          <p:cNvPr id="18" name="concept-name-3">
            <a:extLst>
              <a:ext uri="{FF2B5EF4-FFF2-40B4-BE49-F238E27FC236}">
                <a16:creationId xmlns:a16="http://schemas.microsoft.com/office/drawing/2014/main" id="{F4A6F190-63B3-4002-A027-50603A4F7C8E}"/>
              </a:ext>
            </a:extLst>
          </p:cNvPr>
          <p:cNvSpPr>
            <a:spLocks noGrp="1"/>
          </p:cNvSpPr>
          <p:nvPr/>
        </p:nvSpPr>
        <p:spPr>
          <a:xfrm>
            <a:off x="1114425" y="3933825"/>
            <a:ext cx="2171700" cy="285750"/>
          </a:xfrm>
          <a:prstGeom prst="rect">
            <a:avLst/>
          </a:prstGeom>
          <a:noFill/>
          <a:ln w="0">
            <a:noFill/>
          </a:ln>
        </p:spPr>
        <p:txBody>
          <a:bodyPr wrap="none" lIns="0" tIns="0" rIns="0" bIns="0">
            <a:noAutofit/>
          </a:bodyPr>
          <a:lstStyle/>
          <a:p>
            <a:pPr>
              <a:lnSpc>
                <a:spcPct val="110000"/>
              </a:lnSpc>
              <a:buNone/>
              <a:defRPr sz="1875" b="1">
                <a:solidFill>
                  <a:srgbClr val="1A1A1A"/>
                </a:solidFill>
                <a:latin typeface="Arial"/>
                <a:ea typeface="Arial"/>
                <a:cs typeface="Arial"/>
              </a:defRPr>
            </a:pPr>
            <a:r>
              <a:rPr sz="1875" b="1" dirty="0">
                <a:solidFill>
                  <a:srgbClr val="1A1A1A"/>
                </a:solidFill>
                <a:latin typeface="Arial"/>
                <a:ea typeface="Arial"/>
                <a:cs typeface="Arial"/>
              </a:rPr>
              <a:t>Durability</a:t>
            </a:r>
          </a:p>
        </p:txBody>
      </p:sp>
      <p:sp>
        <p:nvSpPr>
          <p:cNvPr id="19" name="concept-short-3">
            <a:extLst>
              <a:ext uri="{FF2B5EF4-FFF2-40B4-BE49-F238E27FC236}">
                <a16:creationId xmlns:a16="http://schemas.microsoft.com/office/drawing/2014/main" id="{ACCA28D4-D395-4E84-B75D-D85621C1DE94}"/>
              </a:ext>
            </a:extLst>
          </p:cNvPr>
          <p:cNvSpPr>
            <a:spLocks noGrp="1"/>
          </p:cNvSpPr>
          <p:nvPr/>
        </p:nvSpPr>
        <p:spPr>
          <a:xfrm>
            <a:off x="1114425" y="4257675"/>
            <a:ext cx="2333625" cy="219075"/>
          </a:xfrm>
          <a:prstGeom prst="rect">
            <a:avLst/>
          </a:prstGeom>
          <a:noFill/>
          <a:ln w="0">
            <a:noFill/>
          </a:ln>
        </p:spPr>
        <p:txBody>
          <a:bodyPr wrap="none" lIns="0" tIns="0" rIns="0" bIns="0">
            <a:noAutofit/>
          </a:bodyPr>
          <a:lstStyle/>
          <a:p>
            <a:pPr>
              <a:lnSpc>
                <a:spcPct val="110000"/>
              </a:lnSpc>
              <a:buNone/>
              <a:defRPr sz="1275" b="0">
                <a:solidFill>
                  <a:srgbClr val="706E6C"/>
                </a:solidFill>
                <a:latin typeface="Arial"/>
                <a:ea typeface="Arial"/>
                <a:cs typeface="Arial"/>
              </a:defRPr>
            </a:pPr>
            <a:r>
              <a:rPr sz="1275" b="0">
                <a:solidFill>
                  <a:srgbClr val="706E6C"/>
                </a:solidFill>
                <a:latin typeface="Arial"/>
                <a:ea typeface="Arial"/>
                <a:cs typeface="Arial"/>
              </a:rPr>
              <a:t>Committed means saved</a:t>
            </a:r>
          </a:p>
        </p:txBody>
      </p:sp>
      <p:sp>
        <p:nvSpPr>
          <p:cNvPr id="20" name="concept-body-3">
            <a:extLst>
              <a:ext uri="{FF2B5EF4-FFF2-40B4-BE49-F238E27FC236}">
                <a16:creationId xmlns:a16="http://schemas.microsoft.com/office/drawing/2014/main" id="{6E855206-6D18-49AA-800C-2F558CDBC4A9}"/>
              </a:ext>
            </a:extLst>
          </p:cNvPr>
          <p:cNvSpPr>
            <a:spLocks noGrp="1"/>
          </p:cNvSpPr>
          <p:nvPr/>
        </p:nvSpPr>
        <p:spPr>
          <a:xfrm>
            <a:off x="3619500" y="3952875"/>
            <a:ext cx="5067300" cy="539115"/>
          </a:xfrm>
          <a:prstGeom prst="rect">
            <a:avLst/>
          </a:prstGeom>
          <a:noFill/>
          <a:ln w="0">
            <a:noFill/>
          </a:ln>
        </p:spPr>
        <p:txBody>
          <a:bodyPr wrap="none" lIns="0" tIns="0" rIns="0" bIns="0">
            <a:noAutofit/>
          </a:bodyPr>
          <a:lstStyle/>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After a successful commit, changes survive a crash or</a:t>
            </a:r>
          </a:p>
          <a:p>
            <a:pPr>
              <a:lnSpc>
                <a:spcPct val="110000"/>
              </a:lnSpc>
              <a:buNone/>
              <a:defRPr sz="1650" b="0">
                <a:solidFill>
                  <a:srgbClr val="1A1A1A"/>
                </a:solidFill>
                <a:latin typeface="Arial"/>
                <a:ea typeface="Arial"/>
                <a:cs typeface="Arial"/>
              </a:defRPr>
            </a:pPr>
            <a:r>
              <a:rPr sz="1650" b="0">
                <a:solidFill>
                  <a:srgbClr val="1A1A1A"/>
                </a:solidFill>
                <a:latin typeface="Arial"/>
                <a:ea typeface="Arial"/>
                <a:cs typeface="Arial"/>
              </a:rPr>
              <a:t>power loss with durable settings.</a:t>
            </a:r>
          </a:p>
        </p:txBody>
      </p:sp>
      <p:sp>
        <p:nvSpPr>
          <p:cNvPr id="950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08</a:t>
            </a:r>
          </a:p>
        </p:txBody>
      </p:sp>
    </p:spTree>
    <p:extLst>
      <p:ext uri="{BB962C8B-B14F-4D97-AF65-F5344CB8AC3E}">
        <p14:creationId xmlns:p14="http://schemas.microsoft.com/office/powerpoint/2010/main" val="68581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par>
                                <p:cTn id="9" presetID="1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p:tgtEl>
                                          <p:spTgt spid="6"/>
                                        </p:tgtEl>
                                        <p:attrNameLst>
                                          <p:attrName>ppt_y</p:attrName>
                                        </p:attrNameLst>
                                      </p:cBhvr>
                                      <p:tavLst>
                                        <p:tav tm="0">
                                          <p:val>
                                            <p:strVal val="#ppt_y+#ppt_h*1.125000"/>
                                          </p:val>
                                        </p:tav>
                                        <p:tav tm="100000">
                                          <p:val>
                                            <p:strVal val="#ppt_y"/>
                                          </p:val>
                                        </p:tav>
                                      </p:tavLst>
                                    </p:anim>
                                    <p:animEffect transition="in" filter="wipe(up)">
                                      <p:cBhvr>
                                        <p:cTn id="12" dur="500"/>
                                        <p:tgtEl>
                                          <p:spTgt spid="6"/>
                                        </p:tgtEl>
                                      </p:cBhvr>
                                    </p:animEffect>
                                  </p:childTnLst>
                                </p:cTn>
                              </p:par>
                              <p:par>
                                <p:cTn id="13" presetID="1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p:tgtEl>
                                          <p:spTgt spid="5"/>
                                        </p:tgtEl>
                                        <p:attrNameLst>
                                          <p:attrName>ppt_y</p:attrName>
                                        </p:attrNameLst>
                                      </p:cBhvr>
                                      <p:tavLst>
                                        <p:tav tm="0">
                                          <p:val>
                                            <p:strVal val="#ppt_y+#ppt_h*1.125000"/>
                                          </p:val>
                                        </p:tav>
                                        <p:tav tm="100000">
                                          <p:val>
                                            <p:strVal val="#ppt_y"/>
                                          </p:val>
                                        </p:tav>
                                      </p:tavLst>
                                    </p:anim>
                                    <p:animEffect transition="in" filter="wipe(up)">
                                      <p:cBhvr>
                                        <p:cTn id="16" dur="500"/>
                                        <p:tgtEl>
                                          <p:spTgt spid="5"/>
                                        </p:tgtEl>
                                      </p:cBhvr>
                                    </p:animEffect>
                                  </p:childTnLst>
                                </p:cTn>
                              </p:par>
                              <p:par>
                                <p:cTn id="17" presetID="1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p:tgtEl>
                                          <p:spTgt spid="7"/>
                                        </p:tgtEl>
                                        <p:attrNameLst>
                                          <p:attrName>ppt_y</p:attrName>
                                        </p:attrNameLst>
                                      </p:cBhvr>
                                      <p:tavLst>
                                        <p:tav tm="0">
                                          <p:val>
                                            <p:strVal val="#ppt_y+#ppt_h*1.125000"/>
                                          </p:val>
                                        </p:tav>
                                        <p:tav tm="100000">
                                          <p:val>
                                            <p:strVal val="#ppt_y"/>
                                          </p:val>
                                        </p:tav>
                                      </p:tavLst>
                                    </p:anim>
                                    <p:animEffect transition="in" filter="wipe(up)">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1"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p:tgtEl>
                                          <p:spTgt spid="10"/>
                                        </p:tgtEl>
                                        <p:attrNameLst>
                                          <p:attrName>ppt_y</p:attrName>
                                        </p:attrNameLst>
                                      </p:cBhvr>
                                      <p:tavLst>
                                        <p:tav tm="0">
                                          <p:val>
                                            <p:strVal val="#ppt_y+#ppt_h*1.125000"/>
                                          </p:val>
                                        </p:tav>
                                        <p:tav tm="100000">
                                          <p:val>
                                            <p:strVal val="#ppt_y"/>
                                          </p:val>
                                        </p:tav>
                                      </p:tavLst>
                                    </p:anim>
                                    <p:animEffect transition="in" filter="wipe(up)">
                                      <p:cBhvr>
                                        <p:cTn id="26" dur="500"/>
                                        <p:tgtEl>
                                          <p:spTgt spid="10"/>
                                        </p:tgtEl>
                                      </p:cBhvr>
                                    </p:animEffect>
                                  </p:childTnLst>
                                </p:cTn>
                              </p:par>
                              <p:par>
                                <p:cTn id="27" presetID="12" presetClass="entr" presetSubtype="4" fill="hold" grpId="1"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p:tgtEl>
                                          <p:spTgt spid="9"/>
                                        </p:tgtEl>
                                        <p:attrNameLst>
                                          <p:attrName>ppt_y</p:attrName>
                                        </p:attrNameLst>
                                      </p:cBhvr>
                                      <p:tavLst>
                                        <p:tav tm="0">
                                          <p:val>
                                            <p:strVal val="#ppt_y+#ppt_h*1.125000"/>
                                          </p:val>
                                        </p:tav>
                                        <p:tav tm="100000">
                                          <p:val>
                                            <p:strVal val="#ppt_y"/>
                                          </p:val>
                                        </p:tav>
                                      </p:tavLst>
                                    </p:anim>
                                    <p:animEffect transition="in" filter="wipe(up)">
                                      <p:cBhvr>
                                        <p:cTn id="30" dur="500"/>
                                        <p:tgtEl>
                                          <p:spTgt spid="9"/>
                                        </p:tgtEl>
                                      </p:cBhvr>
                                    </p:animEffect>
                                  </p:childTnLst>
                                </p:cTn>
                              </p:par>
                              <p:par>
                                <p:cTn id="31" presetID="12" presetClass="entr" presetSubtype="4" fill="hold" grpId="1" nodeType="with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p:tgtEl>
                                          <p:spTgt spid="11"/>
                                        </p:tgtEl>
                                        <p:attrNameLst>
                                          <p:attrName>ppt_y</p:attrName>
                                        </p:attrNameLst>
                                      </p:cBhvr>
                                      <p:tavLst>
                                        <p:tav tm="0">
                                          <p:val>
                                            <p:strVal val="#ppt_y+#ppt_h*1.125000"/>
                                          </p:val>
                                        </p:tav>
                                        <p:tav tm="100000">
                                          <p:val>
                                            <p:strVal val="#ppt_y"/>
                                          </p:val>
                                        </p:tav>
                                      </p:tavLst>
                                    </p:anim>
                                    <p:animEffect transition="in" filter="wipe(up)">
                                      <p:cBhvr>
                                        <p:cTn id="34" dur="500"/>
                                        <p:tgtEl>
                                          <p:spTgt spid="11"/>
                                        </p:tgtEl>
                                      </p:cBhvr>
                                    </p:animEffect>
                                  </p:childTnLst>
                                </p:cTn>
                              </p:par>
                              <p:par>
                                <p:cTn id="35" presetID="12" presetClass="entr" presetSubtype="4" fill="hold" grpId="1"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p:tgtEl>
                                          <p:spTgt spid="12"/>
                                        </p:tgtEl>
                                        <p:attrNameLst>
                                          <p:attrName>ppt_y</p:attrName>
                                        </p:attrNameLst>
                                      </p:cBhvr>
                                      <p:tavLst>
                                        <p:tav tm="0">
                                          <p:val>
                                            <p:strVal val="#ppt_y+#ppt_h*1.125000"/>
                                          </p:val>
                                        </p:tav>
                                        <p:tav tm="100000">
                                          <p:val>
                                            <p:strVal val="#ppt_y"/>
                                          </p:val>
                                        </p:tav>
                                      </p:tavLst>
                                    </p:anim>
                                    <p:animEffect transition="in" filter="wipe(up)">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1"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p:tgtEl>
                                          <p:spTgt spid="13"/>
                                        </p:tgtEl>
                                        <p:attrNameLst>
                                          <p:attrName>ppt_y</p:attrName>
                                        </p:attrNameLst>
                                      </p:cBhvr>
                                      <p:tavLst>
                                        <p:tav tm="0">
                                          <p:val>
                                            <p:strVal val="#ppt_y+#ppt_h*1.125000"/>
                                          </p:val>
                                        </p:tav>
                                        <p:tav tm="100000">
                                          <p:val>
                                            <p:strVal val="#ppt_y"/>
                                          </p:val>
                                        </p:tav>
                                      </p:tavLst>
                                    </p:anim>
                                    <p:animEffect transition="in" filter="wipe(up)">
                                      <p:cBhvr>
                                        <p:cTn id="44" dur="500"/>
                                        <p:tgtEl>
                                          <p:spTgt spid="13"/>
                                        </p:tgtEl>
                                      </p:cBhvr>
                                    </p:animEffect>
                                  </p:childTnLst>
                                </p:cTn>
                              </p:par>
                              <p:par>
                                <p:cTn id="45" presetID="12" presetClass="entr" presetSubtype="4" fill="hold" grpId="1"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p:tgtEl>
                                          <p:spTgt spid="14"/>
                                        </p:tgtEl>
                                        <p:attrNameLst>
                                          <p:attrName>ppt_y</p:attrName>
                                        </p:attrNameLst>
                                      </p:cBhvr>
                                      <p:tavLst>
                                        <p:tav tm="0">
                                          <p:val>
                                            <p:strVal val="#ppt_y+#ppt_h*1.125000"/>
                                          </p:val>
                                        </p:tav>
                                        <p:tav tm="100000">
                                          <p:val>
                                            <p:strVal val="#ppt_y"/>
                                          </p:val>
                                        </p:tav>
                                      </p:tavLst>
                                    </p:anim>
                                    <p:animEffect transition="in" filter="wipe(up)">
                                      <p:cBhvr>
                                        <p:cTn id="48" dur="500"/>
                                        <p:tgtEl>
                                          <p:spTgt spid="14"/>
                                        </p:tgtEl>
                                      </p:cBhvr>
                                    </p:animEffect>
                                  </p:childTnLst>
                                </p:cTn>
                              </p:par>
                              <p:par>
                                <p:cTn id="49" presetID="12" presetClass="entr" presetSubtype="4" fill="hold" grpId="1"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p:tgtEl>
                                          <p:spTgt spid="15"/>
                                        </p:tgtEl>
                                        <p:attrNameLst>
                                          <p:attrName>ppt_y</p:attrName>
                                        </p:attrNameLst>
                                      </p:cBhvr>
                                      <p:tavLst>
                                        <p:tav tm="0">
                                          <p:val>
                                            <p:strVal val="#ppt_y+#ppt_h*1.125000"/>
                                          </p:val>
                                        </p:tav>
                                        <p:tav tm="100000">
                                          <p:val>
                                            <p:strVal val="#ppt_y"/>
                                          </p:val>
                                        </p:tav>
                                      </p:tavLst>
                                    </p:anim>
                                    <p:animEffect transition="in" filter="wipe(up)">
                                      <p:cBhvr>
                                        <p:cTn id="52" dur="500"/>
                                        <p:tgtEl>
                                          <p:spTgt spid="15"/>
                                        </p:tgtEl>
                                      </p:cBhvr>
                                    </p:animEffect>
                                  </p:childTnLst>
                                </p:cTn>
                              </p:par>
                              <p:par>
                                <p:cTn id="53" presetID="12" presetClass="entr" presetSubtype="4" fill="hold" grpId="1"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p:tgtEl>
                                          <p:spTgt spid="16"/>
                                        </p:tgtEl>
                                        <p:attrNameLst>
                                          <p:attrName>ppt_y</p:attrName>
                                        </p:attrNameLst>
                                      </p:cBhvr>
                                      <p:tavLst>
                                        <p:tav tm="0">
                                          <p:val>
                                            <p:strVal val="#ppt_y+#ppt_h*1.125000"/>
                                          </p:val>
                                        </p:tav>
                                        <p:tav tm="100000">
                                          <p:val>
                                            <p:strVal val="#ppt_y"/>
                                          </p:val>
                                        </p:tav>
                                      </p:tavLst>
                                    </p:anim>
                                    <p:animEffect transition="in" filter="wipe(up)">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1"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p:tgtEl>
                                          <p:spTgt spid="18"/>
                                        </p:tgtEl>
                                        <p:attrNameLst>
                                          <p:attrName>ppt_y</p:attrName>
                                        </p:attrNameLst>
                                      </p:cBhvr>
                                      <p:tavLst>
                                        <p:tav tm="0">
                                          <p:val>
                                            <p:strVal val="#ppt_y+#ppt_h*1.125000"/>
                                          </p:val>
                                        </p:tav>
                                        <p:tav tm="100000">
                                          <p:val>
                                            <p:strVal val="#ppt_y"/>
                                          </p:val>
                                        </p:tav>
                                      </p:tavLst>
                                    </p:anim>
                                    <p:animEffect transition="in" filter="wipe(up)">
                                      <p:cBhvr>
                                        <p:cTn id="62" dur="500"/>
                                        <p:tgtEl>
                                          <p:spTgt spid="18"/>
                                        </p:tgtEl>
                                      </p:cBhvr>
                                    </p:animEffect>
                                  </p:childTnLst>
                                </p:cTn>
                              </p:par>
                              <p:par>
                                <p:cTn id="63" presetID="12" presetClass="entr" presetSubtype="4" fill="hold" grpId="1"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p:tgtEl>
                                          <p:spTgt spid="17"/>
                                        </p:tgtEl>
                                        <p:attrNameLst>
                                          <p:attrName>ppt_y</p:attrName>
                                        </p:attrNameLst>
                                      </p:cBhvr>
                                      <p:tavLst>
                                        <p:tav tm="0">
                                          <p:val>
                                            <p:strVal val="#ppt_y+#ppt_h*1.125000"/>
                                          </p:val>
                                        </p:tav>
                                        <p:tav tm="100000">
                                          <p:val>
                                            <p:strVal val="#ppt_y"/>
                                          </p:val>
                                        </p:tav>
                                      </p:tavLst>
                                    </p:anim>
                                    <p:animEffect transition="in" filter="wipe(up)">
                                      <p:cBhvr>
                                        <p:cTn id="66" dur="500"/>
                                        <p:tgtEl>
                                          <p:spTgt spid="17"/>
                                        </p:tgtEl>
                                      </p:cBhvr>
                                    </p:animEffect>
                                  </p:childTnLst>
                                </p:cTn>
                              </p:par>
                              <p:par>
                                <p:cTn id="67" presetID="12" presetClass="entr" presetSubtype="4" fill="hold" grpId="1"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p:tgtEl>
                                          <p:spTgt spid="19"/>
                                        </p:tgtEl>
                                        <p:attrNameLst>
                                          <p:attrName>ppt_y</p:attrName>
                                        </p:attrNameLst>
                                      </p:cBhvr>
                                      <p:tavLst>
                                        <p:tav tm="0">
                                          <p:val>
                                            <p:strVal val="#ppt_y+#ppt_h*1.125000"/>
                                          </p:val>
                                        </p:tav>
                                        <p:tav tm="100000">
                                          <p:val>
                                            <p:strVal val="#ppt_y"/>
                                          </p:val>
                                        </p:tav>
                                      </p:tavLst>
                                    </p:anim>
                                    <p:animEffect transition="in" filter="wipe(up)">
                                      <p:cBhvr>
                                        <p:cTn id="70" dur="500"/>
                                        <p:tgtEl>
                                          <p:spTgt spid="19"/>
                                        </p:tgtEl>
                                      </p:cBhvr>
                                    </p:animEffect>
                                  </p:childTnLst>
                                </p:cTn>
                              </p:par>
                              <p:par>
                                <p:cTn id="71" presetID="12" presetClass="entr" presetSubtype="4" fill="hold" grpId="1"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p:tgtEl>
                                          <p:spTgt spid="20"/>
                                        </p:tgtEl>
                                        <p:attrNameLst>
                                          <p:attrName>ppt_y</p:attrName>
                                        </p:attrNameLst>
                                      </p:cBhvr>
                                      <p:tavLst>
                                        <p:tav tm="0">
                                          <p:val>
                                            <p:strVal val="#ppt_y+#ppt_h*1.125000"/>
                                          </p:val>
                                        </p:tav>
                                        <p:tav tm="100000">
                                          <p:val>
                                            <p:strVal val="#ppt_y"/>
                                          </p:val>
                                        </p:tav>
                                      </p:tavLst>
                                    </p:anim>
                                    <p:animEffect transition="in" filter="wipe(up)">
                                      <p:cBhvr>
                                        <p:cTn id="7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9" grpId="1"/>
      <p:bldP spid="10" grpId="0"/>
      <p:bldP spid="10"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19" grpId="0"/>
      <p:bldP spid="19" grpId="1"/>
      <p:bldP spid="20" grpId="0"/>
      <p:bldP spid="20"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45CF8A2F-2113-4F16-B7AF-26BF6F71C8B0}"/>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Atomicity</a:t>
            </a:r>
          </a:p>
        </p:txBody>
      </p:sp>
      <p:pic>
        <p:nvPicPr>
          <p:cNvPr id="7" name="Atomicity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B8BC4778-E9B3-45E3-92C5-92A64C865F96}"/>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0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09</a:t>
            </a:r>
          </a:p>
        </p:txBody>
      </p:sp>
    </p:spTree>
    <p:extLst>
      <p:ext uri="{BB962C8B-B14F-4D97-AF65-F5344CB8AC3E}">
        <p14:creationId xmlns:p14="http://schemas.microsoft.com/office/powerpoint/2010/main" val="1095131862"/>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7E3D39CD-D2B5-407E-9CC0-B320A00A2D34}"/>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Consistency</a:t>
            </a:r>
          </a:p>
        </p:txBody>
      </p:sp>
      <p:pic>
        <p:nvPicPr>
          <p:cNvPr id="7" name="Consistency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4A50C9E5-95F0-440B-95B6-3EFC2487C658}"/>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1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10</a:t>
            </a:r>
          </a:p>
        </p:txBody>
      </p:sp>
    </p:spTree>
    <p:extLst>
      <p:ext uri="{BB962C8B-B14F-4D97-AF65-F5344CB8AC3E}">
        <p14:creationId xmlns:p14="http://schemas.microsoft.com/office/powerpoint/2010/main" val="1011463272"/>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8C19C84C-0A7F-428A-9F1D-C5F4990B6334}"/>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Isolation</a:t>
            </a:r>
          </a:p>
        </p:txBody>
      </p:sp>
      <p:pic>
        <p:nvPicPr>
          <p:cNvPr id="7" name="Isolation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E5EC5EE8-6E82-4735-B293-578F2643CA37}"/>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1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11</a:t>
            </a:r>
          </a:p>
        </p:txBody>
      </p:sp>
    </p:spTree>
    <p:extLst>
      <p:ext uri="{BB962C8B-B14F-4D97-AF65-F5344CB8AC3E}">
        <p14:creationId xmlns:p14="http://schemas.microsoft.com/office/powerpoint/2010/main" val="1978386192"/>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32935F93-9DC6-4EB3-90D3-5B207F4F89AA}"/>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Durability</a:t>
            </a:r>
          </a:p>
        </p:txBody>
      </p:sp>
      <p:pic>
        <p:nvPicPr>
          <p:cNvPr id="7" name="Durability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FD551806-B589-4A79-896C-772AAE686492}"/>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1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12</a:t>
            </a:r>
          </a:p>
        </p:txBody>
      </p:sp>
    </p:spTree>
    <p:extLst>
      <p:ext uri="{BB962C8B-B14F-4D97-AF65-F5344CB8AC3E}">
        <p14:creationId xmlns:p14="http://schemas.microsoft.com/office/powerpoint/2010/main" val="1638918223"/>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EB4CD03C-DAE7-4FF6-AD4C-3205291038DC}"/>
              </a:ext>
            </a:extLst>
          </p:cNvPr>
          <p:cNvSpPr>
            <a:spLocks noGrp="1"/>
          </p:cNvSpPr>
          <p:nvPr/>
        </p:nvSpPr>
        <p:spPr>
          <a:xfrm>
            <a:off x="457200" y="790575"/>
            <a:ext cx="8229600" cy="460248"/>
          </a:xfrm>
          <a:prstGeom prst="rect">
            <a:avLst/>
          </a:prstGeom>
          <a:noFill/>
          <a:ln w="0">
            <a:noFill/>
          </a:ln>
        </p:spPr>
        <p:txBody>
          <a:bodyPr wrap="none" lIns="0" tIns="0" rIns="0" bIns="0">
            <a:noAutofit/>
          </a:bodyPr>
          <a:lstStyle/>
          <a:p>
            <a:pPr>
              <a:lnSpc>
                <a:spcPct val="106000"/>
              </a:lnSpc>
              <a:buNone/>
              <a:defRPr sz="2700" b="1">
                <a:solidFill>
                  <a:srgbClr val="1A1A1A"/>
                </a:solidFill>
                <a:latin typeface="Arial"/>
                <a:ea typeface="Arial"/>
                <a:cs typeface="Arial"/>
              </a:defRPr>
            </a:pPr>
            <a:r>
              <a:rPr sz="2700" b="1">
                <a:solidFill>
                  <a:srgbClr val="1A1A1A"/>
                </a:solidFill>
                <a:latin typeface="Arial"/>
                <a:ea typeface="Arial"/>
                <a:cs typeface="Arial"/>
              </a:rPr>
              <a:t>One history, two uses</a:t>
            </a:r>
          </a:p>
        </p:txBody>
      </p:sp>
      <p:sp>
        <p:nvSpPr>
          <p:cNvPr id="4" name="diagram-180">
            <a:extLst>
              <a:ext uri="{FF2B5EF4-FFF2-40B4-BE49-F238E27FC236}">
                <a16:creationId xmlns:a16="http://schemas.microsoft.com/office/drawing/2014/main" id="{93737F32-70F6-4361-95DB-AF714A25E4B9}"/>
              </a:ext>
            </a:extLst>
          </p:cNvPr>
          <p:cNvSpPr>
            <a:spLocks noGrp="1"/>
          </p:cNvSpPr>
          <p:nvPr/>
        </p:nvSpPr>
        <p:spPr>
          <a:xfrm>
            <a:off x="666750" y="2085975"/>
            <a:ext cx="2286000" cy="1066800"/>
          </a:xfrm>
          <a:prstGeom prst="rect">
            <a:avLst/>
          </a:prstGeom>
          <a:solidFill>
            <a:srgbClr val="F8F6F3"/>
          </a:solidFill>
          <a:ln w="19050">
            <a:solidFill>
              <a:srgbClr val="171717"/>
            </a:solidFill>
          </a:ln>
        </p:spPr>
        <p:txBody>
          <a:bodyPr/>
          <a:lstStyle/>
          <a:p>
            <a:endParaRPr lang="pt-BR"/>
          </a:p>
        </p:txBody>
      </p:sp>
      <p:sp>
        <p:nvSpPr>
          <p:cNvPr id="5" name="text-181">
            <a:extLst>
              <a:ext uri="{FF2B5EF4-FFF2-40B4-BE49-F238E27FC236}">
                <a16:creationId xmlns:a16="http://schemas.microsoft.com/office/drawing/2014/main" id="{96B99521-FA15-4643-B40B-F3A7B31923B8}"/>
              </a:ext>
            </a:extLst>
          </p:cNvPr>
          <p:cNvSpPr>
            <a:spLocks noGrp="1"/>
          </p:cNvSpPr>
          <p:nvPr/>
        </p:nvSpPr>
        <p:spPr>
          <a:xfrm>
            <a:off x="819150" y="2209800"/>
            <a:ext cx="1981200" cy="300228"/>
          </a:xfrm>
          <a:prstGeom prst="rect">
            <a:avLst/>
          </a:prstGeom>
          <a:noFill/>
          <a:ln w="0">
            <a:noFill/>
          </a:ln>
        </p:spPr>
        <p:txBody>
          <a:bodyPr wrap="non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Current row</a:t>
            </a:r>
          </a:p>
        </p:txBody>
      </p:sp>
      <p:sp>
        <p:nvSpPr>
          <p:cNvPr id="6" name="text-182">
            <a:extLst>
              <a:ext uri="{FF2B5EF4-FFF2-40B4-BE49-F238E27FC236}">
                <a16:creationId xmlns:a16="http://schemas.microsoft.com/office/drawing/2014/main" id="{EE9CD057-1625-4E95-97EF-A74009DAFDAF}"/>
              </a:ext>
            </a:extLst>
          </p:cNvPr>
          <p:cNvSpPr>
            <a:spLocks noGrp="1"/>
          </p:cNvSpPr>
          <p:nvPr/>
        </p:nvSpPr>
        <p:spPr>
          <a:xfrm>
            <a:off x="819150" y="2543175"/>
            <a:ext cx="1981200" cy="428244"/>
          </a:xfrm>
          <a:prstGeom prst="rect">
            <a:avLst/>
          </a:prstGeom>
          <a:noFill/>
          <a:ln w="0">
            <a:noFill/>
          </a:ln>
        </p:spPr>
        <p:txBody>
          <a:bodyPr wrap="non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version 3</a:t>
            </a:r>
          </a:p>
        </p:txBody>
      </p:sp>
      <p:sp>
        <p:nvSpPr>
          <p:cNvPr id="7" name="diagram-183">
            <a:extLst>
              <a:ext uri="{FF2B5EF4-FFF2-40B4-BE49-F238E27FC236}">
                <a16:creationId xmlns:a16="http://schemas.microsoft.com/office/drawing/2014/main" id="{9EC4F62A-914E-4CD3-B3C0-70CD227640CC}"/>
              </a:ext>
            </a:extLst>
          </p:cNvPr>
          <p:cNvSpPr>
            <a:spLocks noGrp="1"/>
          </p:cNvSpPr>
          <p:nvPr/>
        </p:nvSpPr>
        <p:spPr>
          <a:xfrm>
            <a:off x="3381375" y="2085975"/>
            <a:ext cx="2286000" cy="1066800"/>
          </a:xfrm>
          <a:prstGeom prst="rect">
            <a:avLst/>
          </a:prstGeom>
          <a:solidFill>
            <a:srgbClr val="F8F6F3"/>
          </a:solidFill>
          <a:ln w="19050">
            <a:solidFill>
              <a:srgbClr val="171717"/>
            </a:solidFill>
          </a:ln>
        </p:spPr>
        <p:txBody>
          <a:bodyPr/>
          <a:lstStyle/>
          <a:p>
            <a:endParaRPr lang="pt-BR"/>
          </a:p>
        </p:txBody>
      </p:sp>
      <p:sp>
        <p:nvSpPr>
          <p:cNvPr id="8" name="text-184">
            <a:extLst>
              <a:ext uri="{FF2B5EF4-FFF2-40B4-BE49-F238E27FC236}">
                <a16:creationId xmlns:a16="http://schemas.microsoft.com/office/drawing/2014/main" id="{0EE31B1D-A220-4EB8-B05F-C132CB70CB10}"/>
              </a:ext>
            </a:extLst>
          </p:cNvPr>
          <p:cNvSpPr>
            <a:spLocks noGrp="1"/>
          </p:cNvSpPr>
          <p:nvPr/>
        </p:nvSpPr>
        <p:spPr>
          <a:xfrm>
            <a:off x="3533775" y="2209800"/>
            <a:ext cx="1981200" cy="300228"/>
          </a:xfrm>
          <a:prstGeom prst="rect">
            <a:avLst/>
          </a:prstGeom>
          <a:noFill/>
          <a:ln w="0">
            <a:noFill/>
          </a:ln>
        </p:spPr>
        <p:txBody>
          <a:bodyPr wrap="non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Undo history</a:t>
            </a:r>
          </a:p>
        </p:txBody>
      </p:sp>
      <p:sp>
        <p:nvSpPr>
          <p:cNvPr id="9" name="text-185">
            <a:extLst>
              <a:ext uri="{FF2B5EF4-FFF2-40B4-BE49-F238E27FC236}">
                <a16:creationId xmlns:a16="http://schemas.microsoft.com/office/drawing/2014/main" id="{307261BC-DA25-42F8-A02C-63BDCE221CC9}"/>
              </a:ext>
            </a:extLst>
          </p:cNvPr>
          <p:cNvSpPr>
            <a:spLocks noGrp="1"/>
          </p:cNvSpPr>
          <p:nvPr/>
        </p:nvSpPr>
        <p:spPr>
          <a:xfrm>
            <a:off x="3533775" y="2543175"/>
            <a:ext cx="1981200" cy="428244"/>
          </a:xfrm>
          <a:prstGeom prst="rect">
            <a:avLst/>
          </a:prstGeom>
          <a:noFill/>
          <a:ln w="0">
            <a:noFill/>
          </a:ln>
        </p:spPr>
        <p:txBody>
          <a:bodyPr wrap="non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version 2</a:t>
            </a:r>
          </a:p>
        </p:txBody>
      </p:sp>
      <p:sp>
        <p:nvSpPr>
          <p:cNvPr id="10" name="diagram-186">
            <a:extLst>
              <a:ext uri="{FF2B5EF4-FFF2-40B4-BE49-F238E27FC236}">
                <a16:creationId xmlns:a16="http://schemas.microsoft.com/office/drawing/2014/main" id="{EAECE19E-3A02-4C7A-8208-7974E947A812}"/>
              </a:ext>
            </a:extLst>
          </p:cNvPr>
          <p:cNvSpPr>
            <a:spLocks noGrp="1"/>
          </p:cNvSpPr>
          <p:nvPr/>
        </p:nvSpPr>
        <p:spPr>
          <a:xfrm>
            <a:off x="6096000" y="2085975"/>
            <a:ext cx="2286000" cy="1066800"/>
          </a:xfrm>
          <a:prstGeom prst="rect">
            <a:avLst/>
          </a:prstGeom>
          <a:solidFill>
            <a:srgbClr val="F8F6F3"/>
          </a:solidFill>
          <a:ln w="19050">
            <a:solidFill>
              <a:srgbClr val="171717"/>
            </a:solidFill>
          </a:ln>
        </p:spPr>
        <p:txBody>
          <a:bodyPr/>
          <a:lstStyle/>
          <a:p>
            <a:endParaRPr lang="pt-BR"/>
          </a:p>
        </p:txBody>
      </p:sp>
      <p:sp>
        <p:nvSpPr>
          <p:cNvPr id="11" name="text-187">
            <a:extLst>
              <a:ext uri="{FF2B5EF4-FFF2-40B4-BE49-F238E27FC236}">
                <a16:creationId xmlns:a16="http://schemas.microsoft.com/office/drawing/2014/main" id="{7F35A6CB-16BB-45FF-BAFD-6D51C0671309}"/>
              </a:ext>
            </a:extLst>
          </p:cNvPr>
          <p:cNvSpPr>
            <a:spLocks noGrp="1"/>
          </p:cNvSpPr>
          <p:nvPr/>
        </p:nvSpPr>
        <p:spPr>
          <a:xfrm>
            <a:off x="6248400" y="2209800"/>
            <a:ext cx="1981200" cy="300228"/>
          </a:xfrm>
          <a:prstGeom prst="rect">
            <a:avLst/>
          </a:prstGeom>
          <a:noFill/>
          <a:ln w="0">
            <a:noFill/>
          </a:ln>
        </p:spPr>
        <p:txBody>
          <a:bodyPr wrap="non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Older history</a:t>
            </a:r>
          </a:p>
        </p:txBody>
      </p:sp>
      <p:sp>
        <p:nvSpPr>
          <p:cNvPr id="12" name="text-188">
            <a:extLst>
              <a:ext uri="{FF2B5EF4-FFF2-40B4-BE49-F238E27FC236}">
                <a16:creationId xmlns:a16="http://schemas.microsoft.com/office/drawing/2014/main" id="{AFBE5121-F16B-4D82-9D1E-B1F7B7F6D9F7}"/>
              </a:ext>
            </a:extLst>
          </p:cNvPr>
          <p:cNvSpPr>
            <a:spLocks noGrp="1"/>
          </p:cNvSpPr>
          <p:nvPr/>
        </p:nvSpPr>
        <p:spPr>
          <a:xfrm>
            <a:off x="6248400" y="2543175"/>
            <a:ext cx="1981200" cy="428244"/>
          </a:xfrm>
          <a:prstGeom prst="rect">
            <a:avLst/>
          </a:prstGeom>
          <a:noFill/>
          <a:ln w="0">
            <a:noFill/>
          </a:ln>
        </p:spPr>
        <p:txBody>
          <a:bodyPr wrap="non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version 1</a:t>
            </a:r>
          </a:p>
        </p:txBody>
      </p:sp>
      <p:sp>
        <p:nvSpPr>
          <p:cNvPr id="13" name="diagram-189">
            <a:extLst>
              <a:ext uri="{FF2B5EF4-FFF2-40B4-BE49-F238E27FC236}">
                <a16:creationId xmlns:a16="http://schemas.microsoft.com/office/drawing/2014/main" id="{975E4E4E-CEDF-4DC8-A37C-C4A1800741FB}"/>
              </a:ext>
            </a:extLst>
          </p:cNvPr>
          <p:cNvSpPr>
            <a:spLocks noGrp="1"/>
          </p:cNvSpPr>
          <p:nvPr/>
        </p:nvSpPr>
        <p:spPr>
          <a:xfrm>
            <a:off x="3009900" y="2609850"/>
            <a:ext cx="228600" cy="28575"/>
          </a:xfrm>
          <a:prstGeom prst="rect">
            <a:avLst/>
          </a:prstGeom>
          <a:solidFill>
            <a:srgbClr val="171717"/>
          </a:solidFill>
          <a:ln w="0">
            <a:noFill/>
          </a:ln>
        </p:spPr>
        <p:txBody>
          <a:bodyPr/>
          <a:lstStyle/>
          <a:p>
            <a:endParaRPr lang="pt-BR"/>
          </a:p>
        </p:txBody>
      </p:sp>
      <p:sp>
        <p:nvSpPr>
          <p:cNvPr id="14" name="arrow-190">
            <a:extLst>
              <a:ext uri="{FF2B5EF4-FFF2-40B4-BE49-F238E27FC236}">
                <a16:creationId xmlns:a16="http://schemas.microsoft.com/office/drawing/2014/main" id="{328AFE88-173F-43DB-89BE-8F8C2C187DF8}"/>
              </a:ext>
            </a:extLst>
          </p:cNvPr>
          <p:cNvSpPr>
            <a:spLocks noGrp="1"/>
          </p:cNvSpPr>
          <p:nvPr/>
        </p:nvSpPr>
        <p:spPr>
          <a:xfrm rot="5400000">
            <a:off x="3219450" y="2552700"/>
            <a:ext cx="133350" cy="152400"/>
          </a:xfrm>
          <a:prstGeom prst="triangle">
            <a:avLst/>
          </a:prstGeom>
          <a:solidFill>
            <a:srgbClr val="171717"/>
          </a:solidFill>
          <a:ln w="0">
            <a:noFill/>
          </a:ln>
        </p:spPr>
        <p:txBody>
          <a:bodyPr/>
          <a:lstStyle/>
          <a:p>
            <a:endParaRPr lang="pt-BR"/>
          </a:p>
        </p:txBody>
      </p:sp>
      <p:sp>
        <p:nvSpPr>
          <p:cNvPr id="15" name="diagram-191">
            <a:extLst>
              <a:ext uri="{FF2B5EF4-FFF2-40B4-BE49-F238E27FC236}">
                <a16:creationId xmlns:a16="http://schemas.microsoft.com/office/drawing/2014/main" id="{B1FD645D-3F43-402A-878B-D426CE5570AB}"/>
              </a:ext>
            </a:extLst>
          </p:cNvPr>
          <p:cNvSpPr>
            <a:spLocks noGrp="1"/>
          </p:cNvSpPr>
          <p:nvPr/>
        </p:nvSpPr>
        <p:spPr>
          <a:xfrm>
            <a:off x="5724525" y="2609850"/>
            <a:ext cx="228600" cy="28575"/>
          </a:xfrm>
          <a:prstGeom prst="rect">
            <a:avLst/>
          </a:prstGeom>
          <a:solidFill>
            <a:srgbClr val="171717"/>
          </a:solidFill>
          <a:ln w="0">
            <a:noFill/>
          </a:ln>
        </p:spPr>
        <p:txBody>
          <a:bodyPr/>
          <a:lstStyle/>
          <a:p>
            <a:endParaRPr lang="pt-BR"/>
          </a:p>
        </p:txBody>
      </p:sp>
      <p:sp>
        <p:nvSpPr>
          <p:cNvPr id="16" name="arrow-192">
            <a:extLst>
              <a:ext uri="{FF2B5EF4-FFF2-40B4-BE49-F238E27FC236}">
                <a16:creationId xmlns:a16="http://schemas.microsoft.com/office/drawing/2014/main" id="{68659027-94A3-4156-AC15-8C88FC976CAD}"/>
              </a:ext>
            </a:extLst>
          </p:cNvPr>
          <p:cNvSpPr>
            <a:spLocks noGrp="1"/>
          </p:cNvSpPr>
          <p:nvPr/>
        </p:nvSpPr>
        <p:spPr>
          <a:xfrm rot="5400000">
            <a:off x="5934075" y="2552700"/>
            <a:ext cx="133350" cy="152400"/>
          </a:xfrm>
          <a:prstGeom prst="triangle">
            <a:avLst/>
          </a:prstGeom>
          <a:solidFill>
            <a:srgbClr val="171717"/>
          </a:solidFill>
          <a:ln w="0">
            <a:noFill/>
          </a:ln>
        </p:spPr>
        <p:txBody>
          <a:bodyPr/>
          <a:lstStyle/>
          <a:p>
            <a:endParaRPr lang="pt-BR"/>
          </a:p>
        </p:txBody>
      </p:sp>
      <p:sp>
        <p:nvSpPr>
          <p:cNvPr id="17" name="text-193">
            <a:extLst>
              <a:ext uri="{FF2B5EF4-FFF2-40B4-BE49-F238E27FC236}">
                <a16:creationId xmlns:a16="http://schemas.microsoft.com/office/drawing/2014/main" id="{0CB34980-FD1C-4CB7-BCF0-E842C597A6B1}"/>
              </a:ext>
            </a:extLst>
          </p:cNvPr>
          <p:cNvSpPr>
            <a:spLocks noGrp="1"/>
          </p:cNvSpPr>
          <p:nvPr/>
        </p:nvSpPr>
        <p:spPr>
          <a:xfrm>
            <a:off x="952500" y="3486150"/>
            <a:ext cx="3048000" cy="364236"/>
          </a:xfrm>
          <a:prstGeom prst="rect">
            <a:avLst/>
          </a:prstGeom>
          <a:noFill/>
          <a:ln w="0">
            <a:noFill/>
          </a:ln>
        </p:spPr>
        <p:txBody>
          <a:bodyPr wrap="none" lIns="0" tIns="0" rIns="0" bIns="0">
            <a:noAutofit/>
          </a:bodyPr>
          <a:lstStyle/>
          <a:p>
            <a:pPr>
              <a:lnSpc>
                <a:spcPct val="106000"/>
              </a:lnSpc>
              <a:buNone/>
              <a:defRPr sz="2025" b="1">
                <a:solidFill>
                  <a:srgbClr val="171717"/>
                </a:solidFill>
                <a:latin typeface="Arial"/>
                <a:ea typeface="Arial"/>
                <a:cs typeface="Arial"/>
              </a:defRPr>
            </a:pPr>
            <a:r>
              <a:rPr sz="2025" b="1">
                <a:solidFill>
                  <a:srgbClr val="171717"/>
                </a:solidFill>
                <a:latin typeface="Arial"/>
                <a:ea typeface="Arial"/>
                <a:cs typeface="Arial"/>
              </a:rPr>
              <a:t>ROLLBACK</a:t>
            </a:r>
          </a:p>
        </p:txBody>
      </p:sp>
      <p:sp>
        <p:nvSpPr>
          <p:cNvPr id="18" name="text-194">
            <a:extLst>
              <a:ext uri="{FF2B5EF4-FFF2-40B4-BE49-F238E27FC236}">
                <a16:creationId xmlns:a16="http://schemas.microsoft.com/office/drawing/2014/main" id="{FEBD791A-DE6E-4EB9-9F4B-6D202A13C52E}"/>
              </a:ext>
            </a:extLst>
          </p:cNvPr>
          <p:cNvSpPr>
            <a:spLocks noGrp="1"/>
          </p:cNvSpPr>
          <p:nvPr/>
        </p:nvSpPr>
        <p:spPr>
          <a:xfrm>
            <a:off x="952500" y="3857625"/>
            <a:ext cx="3238500" cy="321564"/>
          </a:xfrm>
          <a:prstGeom prst="rect">
            <a:avLst/>
          </a:prstGeom>
          <a:noFill/>
          <a:ln w="0">
            <a:noFill/>
          </a:ln>
        </p:spPr>
        <p:txBody>
          <a:bodyPr wrap="none" lIns="0" tIns="0" rIns="0" bIns="0">
            <a:noAutofit/>
          </a:bodyPr>
          <a:lstStyle/>
          <a:p>
            <a:pPr>
              <a:lnSpc>
                <a:spcPct val="106000"/>
              </a:lnSpc>
              <a:buNone/>
              <a:defRPr sz="1725" b="0">
                <a:solidFill>
                  <a:srgbClr val="1A1A1A"/>
                </a:solidFill>
                <a:latin typeface="Arial"/>
                <a:ea typeface="Arial"/>
                <a:cs typeface="Arial"/>
              </a:defRPr>
            </a:pPr>
            <a:r>
              <a:rPr sz="1725" b="0">
                <a:solidFill>
                  <a:srgbClr val="1A1A1A"/>
                </a:solidFill>
                <a:latin typeface="Arial"/>
                <a:ea typeface="Arial"/>
                <a:cs typeface="Arial"/>
              </a:rPr>
              <a:t>Undo your changes</a:t>
            </a:r>
          </a:p>
        </p:txBody>
      </p:sp>
      <p:sp>
        <p:nvSpPr>
          <p:cNvPr id="19" name="text-195">
            <a:extLst>
              <a:ext uri="{FF2B5EF4-FFF2-40B4-BE49-F238E27FC236}">
                <a16:creationId xmlns:a16="http://schemas.microsoft.com/office/drawing/2014/main" id="{0CF75EB5-2DA5-42C0-B8A5-CF8E272E5233}"/>
              </a:ext>
            </a:extLst>
          </p:cNvPr>
          <p:cNvSpPr>
            <a:spLocks noGrp="1"/>
          </p:cNvSpPr>
          <p:nvPr/>
        </p:nvSpPr>
        <p:spPr>
          <a:xfrm>
            <a:off x="5067300" y="3486150"/>
            <a:ext cx="3524250" cy="364236"/>
          </a:xfrm>
          <a:prstGeom prst="rect">
            <a:avLst/>
          </a:prstGeom>
          <a:noFill/>
          <a:ln w="0">
            <a:noFill/>
          </a:ln>
        </p:spPr>
        <p:txBody>
          <a:bodyPr wrap="none" lIns="0" tIns="0" rIns="0" bIns="0">
            <a:noAutofit/>
          </a:bodyPr>
          <a:lstStyle/>
          <a:p>
            <a:pPr>
              <a:lnSpc>
                <a:spcPct val="106000"/>
              </a:lnSpc>
              <a:buNone/>
              <a:defRPr sz="2025" b="1">
                <a:solidFill>
                  <a:srgbClr val="171717"/>
                </a:solidFill>
                <a:latin typeface="Arial"/>
                <a:ea typeface="Arial"/>
                <a:cs typeface="Arial"/>
              </a:defRPr>
            </a:pPr>
            <a:r>
              <a:rPr sz="2025" b="1">
                <a:solidFill>
                  <a:srgbClr val="171717"/>
                </a:solidFill>
                <a:latin typeface="Arial"/>
                <a:ea typeface="Arial"/>
                <a:cs typeface="Arial"/>
              </a:rPr>
              <a:t>SNAPSHOT READ</a:t>
            </a:r>
          </a:p>
        </p:txBody>
      </p:sp>
      <p:sp>
        <p:nvSpPr>
          <p:cNvPr id="20" name="text-196">
            <a:extLst>
              <a:ext uri="{FF2B5EF4-FFF2-40B4-BE49-F238E27FC236}">
                <a16:creationId xmlns:a16="http://schemas.microsoft.com/office/drawing/2014/main" id="{9E3D3907-9278-4D7A-AA74-9E55977ADFCA}"/>
              </a:ext>
            </a:extLst>
          </p:cNvPr>
          <p:cNvSpPr>
            <a:spLocks noGrp="1"/>
          </p:cNvSpPr>
          <p:nvPr/>
        </p:nvSpPr>
        <p:spPr>
          <a:xfrm>
            <a:off x="5067300" y="3857625"/>
            <a:ext cx="3524250" cy="321564"/>
          </a:xfrm>
          <a:prstGeom prst="rect">
            <a:avLst/>
          </a:prstGeom>
          <a:noFill/>
          <a:ln w="0">
            <a:noFill/>
          </a:ln>
        </p:spPr>
        <p:txBody>
          <a:bodyPr wrap="none" lIns="0" tIns="0" rIns="0" bIns="0">
            <a:noAutofit/>
          </a:bodyPr>
          <a:lstStyle/>
          <a:p>
            <a:pPr>
              <a:lnSpc>
                <a:spcPct val="106000"/>
              </a:lnSpc>
              <a:buNone/>
              <a:defRPr sz="1725" b="0">
                <a:solidFill>
                  <a:srgbClr val="1A1A1A"/>
                </a:solidFill>
                <a:latin typeface="Arial"/>
                <a:ea typeface="Arial"/>
                <a:cs typeface="Arial"/>
              </a:defRPr>
            </a:pPr>
            <a:r>
              <a:rPr sz="1725" b="0">
                <a:solidFill>
                  <a:srgbClr val="1A1A1A"/>
                </a:solidFill>
                <a:latin typeface="Arial"/>
                <a:ea typeface="Arial"/>
                <a:cs typeface="Arial"/>
              </a:rPr>
              <a:t>Reconstruct an older version</a:t>
            </a:r>
          </a:p>
        </p:txBody>
      </p:sp>
      <p:sp>
        <p:nvSpPr>
          <p:cNvPr id="21" name="text-197">
            <a:extLst>
              <a:ext uri="{FF2B5EF4-FFF2-40B4-BE49-F238E27FC236}">
                <a16:creationId xmlns:a16="http://schemas.microsoft.com/office/drawing/2014/main" id="{7B9FE8A4-FFF6-4E67-9670-237B1C1F0AAC}"/>
              </a:ext>
            </a:extLst>
          </p:cNvPr>
          <p:cNvSpPr>
            <a:spLocks noGrp="1"/>
          </p:cNvSpPr>
          <p:nvPr/>
        </p:nvSpPr>
        <p:spPr>
          <a:xfrm>
            <a:off x="457200" y="4552950"/>
            <a:ext cx="7953375" cy="278892"/>
          </a:xfrm>
          <a:prstGeom prst="rect">
            <a:avLst/>
          </a:prstGeom>
          <a:noFill/>
          <a:ln w="0">
            <a:noFill/>
          </a:ln>
        </p:spPr>
        <p:txBody>
          <a:bodyPr wrap="none" lIns="0" tIns="0" rIns="0" bIns="0">
            <a:noAutofit/>
          </a:bodyPr>
          <a:lstStyle/>
          <a:p>
            <a:pPr>
              <a:lnSpc>
                <a:spcPct val="106000"/>
              </a:lnSpc>
              <a:buNone/>
              <a:defRPr sz="1425" b="0">
                <a:solidFill>
                  <a:srgbClr val="706E6C"/>
                </a:solidFill>
                <a:latin typeface="Arial"/>
                <a:ea typeface="Arial"/>
                <a:cs typeface="Arial"/>
              </a:defRPr>
            </a:pPr>
            <a:r>
              <a:rPr sz="1425" b="0">
                <a:solidFill>
                  <a:srgbClr val="706E6C"/>
                </a:solidFill>
                <a:latin typeface="Arial"/>
                <a:ea typeface="Arial"/>
                <a:cs typeface="Arial"/>
              </a:rPr>
              <a:t>Long-lived snapshots can keep history from being purged.</a:t>
            </a:r>
          </a:p>
        </p:txBody>
      </p:sp>
      <p:sp>
        <p:nvSpPr>
          <p:cNvPr id="9513"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13</a:t>
            </a:r>
          </a:p>
        </p:txBody>
      </p:sp>
    </p:spTree>
    <p:extLst>
      <p:ext uri="{BB962C8B-B14F-4D97-AF65-F5344CB8AC3E}">
        <p14:creationId xmlns:p14="http://schemas.microsoft.com/office/powerpoint/2010/main" val="123173110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0633744A-D945-47BE-AD08-FB5900304D3B}"/>
              </a:ext>
            </a:extLst>
          </p:cNvPr>
          <p:cNvSpPr>
            <a:spLocks noGrp="1"/>
          </p:cNvSpPr>
          <p:nvPr/>
        </p:nvSpPr>
        <p:spPr>
          <a:xfrm>
            <a:off x="457200" y="790575"/>
            <a:ext cx="8229600" cy="460248"/>
          </a:xfrm>
          <a:prstGeom prst="rect">
            <a:avLst/>
          </a:prstGeom>
          <a:noFill/>
          <a:ln w="0">
            <a:noFill/>
          </a:ln>
        </p:spPr>
        <p:txBody>
          <a:bodyPr wrap="none" lIns="0" tIns="0" rIns="0" bIns="0">
            <a:noAutofit/>
          </a:bodyPr>
          <a:lstStyle/>
          <a:p>
            <a:pPr>
              <a:lnSpc>
                <a:spcPct val="106000"/>
              </a:lnSpc>
              <a:buNone/>
              <a:defRPr sz="2700" b="1">
                <a:solidFill>
                  <a:srgbClr val="1A1A1A"/>
                </a:solidFill>
                <a:latin typeface="Arial"/>
                <a:ea typeface="Arial"/>
                <a:cs typeface="Arial"/>
              </a:defRPr>
            </a:pPr>
            <a:r>
              <a:rPr sz="2700" b="1">
                <a:solidFill>
                  <a:srgbClr val="1A1A1A"/>
                </a:solidFill>
                <a:latin typeface="Arial"/>
                <a:ea typeface="Arial"/>
                <a:cs typeface="Arial"/>
              </a:rPr>
              <a:t>Autocommit still means a transaction</a:t>
            </a:r>
          </a:p>
        </p:txBody>
      </p:sp>
      <p:sp>
        <p:nvSpPr>
          <p:cNvPr id="4" name="text-198">
            <a:extLst>
              <a:ext uri="{FF2B5EF4-FFF2-40B4-BE49-F238E27FC236}">
                <a16:creationId xmlns:a16="http://schemas.microsoft.com/office/drawing/2014/main" id="{9C767DA6-28DE-4B05-8DF0-BA290773D548}"/>
              </a:ext>
            </a:extLst>
          </p:cNvPr>
          <p:cNvSpPr>
            <a:spLocks noGrp="1"/>
          </p:cNvSpPr>
          <p:nvPr/>
        </p:nvSpPr>
        <p:spPr>
          <a:xfrm>
            <a:off x="457200" y="1914525"/>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Autocommit</a:t>
            </a:r>
          </a:p>
        </p:txBody>
      </p:sp>
      <p:sp>
        <p:nvSpPr>
          <p:cNvPr id="5" name="text-199">
            <a:extLst>
              <a:ext uri="{FF2B5EF4-FFF2-40B4-BE49-F238E27FC236}">
                <a16:creationId xmlns:a16="http://schemas.microsoft.com/office/drawing/2014/main" id="{0A3CCF83-A788-41D0-9E7C-3222AE5C7412}"/>
              </a:ext>
            </a:extLst>
          </p:cNvPr>
          <p:cNvSpPr>
            <a:spLocks noGrp="1"/>
          </p:cNvSpPr>
          <p:nvPr/>
        </p:nvSpPr>
        <p:spPr>
          <a:xfrm>
            <a:off x="3143250" y="191452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statement 1     COMMIT</a:t>
            </a:r>
          </a:p>
        </p:txBody>
      </p:sp>
      <p:sp>
        <p:nvSpPr>
          <p:cNvPr id="6" name="text-200">
            <a:extLst>
              <a:ext uri="{FF2B5EF4-FFF2-40B4-BE49-F238E27FC236}">
                <a16:creationId xmlns:a16="http://schemas.microsoft.com/office/drawing/2014/main" id="{A37BCCD6-A60F-4B90-9D50-6C0B3B7F0700}"/>
              </a:ext>
            </a:extLst>
          </p:cNvPr>
          <p:cNvSpPr>
            <a:spLocks noGrp="1"/>
          </p:cNvSpPr>
          <p:nvPr/>
        </p:nvSpPr>
        <p:spPr>
          <a:xfrm>
            <a:off x="457200" y="2705100"/>
            <a:ext cx="2476500" cy="342900"/>
          </a:xfrm>
          <a:prstGeom prst="rect">
            <a:avLst/>
          </a:prstGeom>
          <a:noFill/>
          <a:ln w="0">
            <a:noFill/>
          </a:ln>
        </p:spPr>
        <p:txBody>
          <a:bodyPr wrap="none" lIns="0" tIns="0" rIns="0" bIns="0">
            <a:noAutofit/>
          </a:bodyPr>
          <a:lstStyle/>
          <a:p>
            <a:endParaRPr/>
          </a:p>
        </p:txBody>
      </p:sp>
      <p:sp>
        <p:nvSpPr>
          <p:cNvPr id="7" name="text-201">
            <a:extLst>
              <a:ext uri="{FF2B5EF4-FFF2-40B4-BE49-F238E27FC236}">
                <a16:creationId xmlns:a16="http://schemas.microsoft.com/office/drawing/2014/main" id="{403E8296-8A1D-4E13-A1E4-16F1731FAFFD}"/>
              </a:ext>
            </a:extLst>
          </p:cNvPr>
          <p:cNvSpPr>
            <a:spLocks noGrp="1"/>
          </p:cNvSpPr>
          <p:nvPr/>
        </p:nvSpPr>
        <p:spPr>
          <a:xfrm>
            <a:off x="3143250" y="2705100"/>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statement 2     COMMIT</a:t>
            </a:r>
          </a:p>
        </p:txBody>
      </p:sp>
      <p:sp>
        <p:nvSpPr>
          <p:cNvPr id="8" name="text-202">
            <a:extLst>
              <a:ext uri="{FF2B5EF4-FFF2-40B4-BE49-F238E27FC236}">
                <a16:creationId xmlns:a16="http://schemas.microsoft.com/office/drawing/2014/main" id="{CD5BB990-0975-4F66-B02B-C195309F3994}"/>
              </a:ext>
            </a:extLst>
          </p:cNvPr>
          <p:cNvSpPr>
            <a:spLocks noGrp="1"/>
          </p:cNvSpPr>
          <p:nvPr/>
        </p:nvSpPr>
        <p:spPr>
          <a:xfrm>
            <a:off x="457200" y="3495675"/>
            <a:ext cx="2476500" cy="342900"/>
          </a:xfrm>
          <a:prstGeom prst="rect">
            <a:avLst/>
          </a:prstGeom>
          <a:noFill/>
          <a:ln w="0">
            <a:noFill/>
          </a:ln>
        </p:spPr>
        <p:txBody>
          <a:bodyPr wrap="none" lIns="0" tIns="0" rIns="0" bIns="0">
            <a:noAutofit/>
          </a:bodyPr>
          <a:lstStyle/>
          <a:p>
            <a:pPr>
              <a:lnSpc>
                <a:spcPct val="106000"/>
              </a:lnSpc>
              <a:buNone/>
              <a:defRPr sz="1875" b="1">
                <a:solidFill>
                  <a:srgbClr val="171717"/>
                </a:solidFill>
                <a:latin typeface="Arial"/>
                <a:ea typeface="Arial"/>
                <a:cs typeface="Arial"/>
              </a:defRPr>
            </a:pPr>
            <a:r>
              <a:rPr sz="1875" b="1">
                <a:solidFill>
                  <a:srgbClr val="171717"/>
                </a:solidFill>
                <a:latin typeface="Arial"/>
                <a:ea typeface="Arial"/>
                <a:cs typeface="Arial"/>
              </a:rPr>
              <a:t>Explicit transaction</a:t>
            </a:r>
          </a:p>
        </p:txBody>
      </p:sp>
      <p:sp>
        <p:nvSpPr>
          <p:cNvPr id="9" name="text-203">
            <a:extLst>
              <a:ext uri="{FF2B5EF4-FFF2-40B4-BE49-F238E27FC236}">
                <a16:creationId xmlns:a16="http://schemas.microsoft.com/office/drawing/2014/main" id="{6529D3F5-83C7-43EA-88FC-28A9FC6AB40F}"/>
              </a:ext>
            </a:extLst>
          </p:cNvPr>
          <p:cNvSpPr>
            <a:spLocks noGrp="1"/>
          </p:cNvSpPr>
          <p:nvPr/>
        </p:nvSpPr>
        <p:spPr>
          <a:xfrm>
            <a:off x="3143250" y="3495675"/>
            <a:ext cx="5486400"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BEGIN    statement 1    statement 2    COMMIT</a:t>
            </a:r>
          </a:p>
        </p:txBody>
      </p:sp>
      <p:sp>
        <p:nvSpPr>
          <p:cNvPr id="10" name="text-204">
            <a:extLst>
              <a:ext uri="{FF2B5EF4-FFF2-40B4-BE49-F238E27FC236}">
                <a16:creationId xmlns:a16="http://schemas.microsoft.com/office/drawing/2014/main" id="{15333DE2-B643-4953-94ED-BE1261977A45}"/>
              </a:ext>
            </a:extLst>
          </p:cNvPr>
          <p:cNvSpPr>
            <a:spLocks noGrp="1"/>
          </p:cNvSpPr>
          <p:nvPr/>
        </p:nvSpPr>
        <p:spPr>
          <a:xfrm>
            <a:off x="457200" y="4552950"/>
            <a:ext cx="7953375" cy="278892"/>
          </a:xfrm>
          <a:prstGeom prst="rect">
            <a:avLst/>
          </a:prstGeom>
          <a:noFill/>
          <a:ln w="0">
            <a:noFill/>
          </a:ln>
        </p:spPr>
        <p:txBody>
          <a:bodyPr wrap="none" lIns="0" tIns="0" rIns="0" bIns="0">
            <a:noAutofit/>
          </a:bodyPr>
          <a:lstStyle/>
          <a:p>
            <a:pPr>
              <a:lnSpc>
                <a:spcPct val="106000"/>
              </a:lnSpc>
              <a:buNone/>
              <a:defRPr sz="1425" b="0">
                <a:solidFill>
                  <a:srgbClr val="706E6C"/>
                </a:solidFill>
                <a:latin typeface="Arial"/>
                <a:ea typeface="Arial"/>
                <a:cs typeface="Arial"/>
              </a:defRPr>
            </a:pPr>
            <a:r>
              <a:rPr sz="1425" b="0">
                <a:solidFill>
                  <a:srgbClr val="706E6C"/>
                </a:solidFill>
                <a:latin typeface="Arial"/>
                <a:ea typeface="Arial"/>
                <a:cs typeface="Arial"/>
              </a:rPr>
              <a:t>Grouping statements changes the lifetime of the transaction and its snapshot.</a:t>
            </a:r>
          </a:p>
        </p:txBody>
      </p:sp>
      <p:sp>
        <p:nvSpPr>
          <p:cNvPr id="951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14</a:t>
            </a:r>
          </a:p>
        </p:txBody>
      </p:sp>
    </p:spTree>
    <p:extLst>
      <p:ext uri="{BB962C8B-B14F-4D97-AF65-F5344CB8AC3E}">
        <p14:creationId xmlns:p14="http://schemas.microsoft.com/office/powerpoint/2010/main" val="78358195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7" name="Readyset logo" descr="Readyset logo"/>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961C9B7B-B1B5-4FBB-9C2E-685AEEBAEAE4}"/>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sz="4275" b="1">
                <a:solidFill>
                  <a:srgbClr val="EDEDEC"/>
                </a:solidFill>
                <a:latin typeface="Arial"/>
                <a:ea typeface="Arial"/>
                <a:cs typeface="Arial"/>
              </a:rPr>
              <a:t>Isolation levels</a:t>
            </a:r>
          </a:p>
        </p:txBody>
      </p:sp>
      <p:sp>
        <p:nvSpPr>
          <p:cNvPr id="5" name="Section explanation">
            <a:extLst>
              <a:ext uri="{FF2B5EF4-FFF2-40B4-BE49-F238E27FC236}">
                <a16:creationId xmlns:a16="http://schemas.microsoft.com/office/drawing/2014/main" id="{E73C6BE2-2CD0-48A1-AD66-11776E44D04C}"/>
              </a:ext>
            </a:extLst>
          </p:cNvPr>
          <p:cNvSpPr>
            <a:spLocks noGrp="1"/>
          </p:cNvSpPr>
          <p:nvPr/>
        </p:nvSpPr>
        <p:spPr>
          <a:xfrm>
            <a:off x="476250" y="3705225"/>
            <a:ext cx="5905500" cy="341948"/>
          </a:xfrm>
          <a:prstGeom prst="rect">
            <a:avLst/>
          </a:prstGeom>
          <a:noFill/>
          <a:ln w="0">
            <a:noFill/>
          </a:ln>
        </p:spPr>
        <p:txBody>
          <a:bodyPr wrap="none" lIns="0" tIns="0" rIns="0" bIns="0">
            <a:noAutofit/>
          </a:bodyPr>
          <a:lstStyle/>
          <a:p>
            <a:pPr>
              <a:lnSpc>
                <a:spcPct val="110000"/>
              </a:lnSpc>
              <a:buNone/>
              <a:defRPr sz="1950" b="0">
                <a:solidFill>
                  <a:srgbClr val="C8C5C1"/>
                </a:solidFill>
                <a:latin typeface="Arial"/>
                <a:ea typeface="Arial"/>
                <a:cs typeface="Arial"/>
              </a:defRPr>
            </a:pPr>
            <a:r>
              <a:rPr sz="1950" b="0" dirty="0">
                <a:solidFill>
                  <a:srgbClr val="C8C5C1"/>
                </a:solidFill>
                <a:latin typeface="Arial"/>
                <a:ea typeface="Arial"/>
                <a:cs typeface="Arial"/>
              </a:rPr>
              <a:t>What each level does with the read view</a:t>
            </a:r>
          </a:p>
        </p:txBody>
      </p:sp>
      <p:pic>
        <p:nvPicPr>
          <p:cNvPr id="12" name="Section glyph" descr="Section glyph"/>
          <p:cNvPicPr>
            <a:picLocks noChangeAspect="1"/>
          </p:cNvPicPr>
          <p:nvPr/>
        </p:nvPicPr>
        <p:blipFill>
          <a:blip r:embed="rId4"/>
          <a:stretch/>
        </p:blipFill>
        <p:spPr>
          <a:xfrm>
            <a:off x="6905625" y="1823085"/>
            <a:ext cx="1619250" cy="1554480"/>
          </a:xfrm>
          <a:prstGeom prst="rect">
            <a:avLst/>
          </a:prstGeom>
        </p:spPr>
      </p:pic>
      <p:sp>
        <p:nvSpPr>
          <p:cNvPr id="951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15</a:t>
            </a:r>
          </a:p>
        </p:txBody>
      </p:sp>
    </p:spTree>
    <p:extLst>
      <p:ext uri="{BB962C8B-B14F-4D97-AF65-F5344CB8AC3E}">
        <p14:creationId xmlns:p14="http://schemas.microsoft.com/office/powerpoint/2010/main" val="21032636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set>
                                      <p:cBhvr>
                                        <p:cTn id="8" dur="1" fill="hold">
                                          <p:stCondLst>
                                            <p:cond delay="0"/>
                                          </p:stCondLst>
                                        </p:cTn>
                                        <p:tgtEl>
                                          <p:spTgt spid="12"/>
                                        </p:tgtEl>
                                        <p:attrNameLst>
                                          <p:attrName>style.visibility</p:attrName>
                                        </p:attrNameLst>
                                      </p:cBhvr>
                                      <p:to>
                                        <p:strVal val="visible"/>
                                      </p:to>
                                    </p:set>
                                    <p:animEffect transition="in" filter="fade">
                                      <p:cBhvr>
                                        <p:cTn id="9" dur="3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ACEB144F-9AC5-461A-A2FD-CA0A6B612E4F}"/>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Read Uncommitted</a:t>
            </a:r>
          </a:p>
        </p:txBody>
      </p:sp>
      <p:pic>
        <p:nvPicPr>
          <p:cNvPr id="7" name="Read Uncommitted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E6C6F27A-20AF-4530-9906-DD3C5586ADB2}"/>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1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16</a:t>
            </a:r>
          </a:p>
        </p:txBody>
      </p:sp>
    </p:spTree>
    <p:extLst>
      <p:ext uri="{BB962C8B-B14F-4D97-AF65-F5344CB8AC3E}">
        <p14:creationId xmlns:p14="http://schemas.microsoft.com/office/powerpoint/2010/main" val="939685464"/>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FCB0A2FE-9E2E-4C03-A9B0-FA7D2B5FC1BC}"/>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Read Committed</a:t>
            </a:r>
          </a:p>
        </p:txBody>
      </p:sp>
      <p:pic>
        <p:nvPicPr>
          <p:cNvPr id="7" name="Read Committed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B80B3C5C-8A1D-4760-8873-67C01F452C62}"/>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1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17</a:t>
            </a:r>
          </a:p>
        </p:txBody>
      </p:sp>
    </p:spTree>
    <p:extLst>
      <p:ext uri="{BB962C8B-B14F-4D97-AF65-F5344CB8AC3E}">
        <p14:creationId xmlns:p14="http://schemas.microsoft.com/office/powerpoint/2010/main" val="1040377038"/>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0A157A1A-7DB6-4778-99AE-7447BDF11ECB}"/>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Repeatable Read</a:t>
            </a:r>
          </a:p>
        </p:txBody>
      </p:sp>
      <p:pic>
        <p:nvPicPr>
          <p:cNvPr id="7" name="Repeatable Read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782A5039-9781-4D13-AC9C-AB46B958902E}"/>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1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18</a:t>
            </a:r>
          </a:p>
        </p:txBody>
      </p:sp>
    </p:spTree>
    <p:extLst>
      <p:ext uri="{BB962C8B-B14F-4D97-AF65-F5344CB8AC3E}">
        <p14:creationId xmlns:p14="http://schemas.microsoft.com/office/powerpoint/2010/main" val="464293435"/>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8125"/>
            <a:ext cx="952500" cy="219075"/>
          </a:xfrm>
          <a:prstGeom prst="rect">
            <a:avLst/>
          </a:prstGeom>
        </p:spPr>
      </p:pic>
      <p:sp>
        <p:nvSpPr>
          <p:cNvPr id="2" name="Rectangle 1">
            <a:extLst>
              <a:ext uri="{FF2B5EF4-FFF2-40B4-BE49-F238E27FC236}">
                <a16:creationId xmlns:a16="http://schemas.microsoft.com/office/drawing/2014/main" id="{68F68446-9188-4ADA-9383-3EB1ABFC9A66}"/>
              </a:ext>
            </a:extLst>
          </p:cNvPr>
          <p:cNvSpPr>
            <a:spLocks noGrp="1"/>
          </p:cNvSpPr>
          <p:nvPr/>
        </p:nvSpPr>
        <p:spPr>
          <a:xfrm>
            <a:off x="457200" y="781050"/>
            <a:ext cx="8229600" cy="476250"/>
          </a:xfrm>
          <a:prstGeom prst="rect">
            <a:avLst/>
          </a:prstGeom>
          <a:noFill/>
          <a:ln w="0">
            <a:noFill/>
          </a:ln>
        </p:spPr>
        <p:txBody>
          <a:bodyPr wrap="none" lIns="0" tIns="0" rIns="0" bIns="0"/>
          <a:lstStyle/>
          <a:p>
            <a:pPr>
              <a:defRPr sz="2850" b="1">
                <a:solidFill>
                  <a:srgbClr val="25232C"/>
                </a:solidFill>
                <a:latin typeface="Arial"/>
                <a:ea typeface="Arial"/>
                <a:cs typeface="Arial"/>
              </a:defRPr>
            </a:pPr>
            <a:r>
              <a:rPr sz="2850" b="1">
                <a:solidFill>
                  <a:srgbClr val="25232C"/>
                </a:solidFill>
                <a:latin typeface="Arial"/>
                <a:ea typeface="Arial"/>
                <a:cs typeface="Arial"/>
              </a:rPr>
              <a:t>Serializable</a:t>
            </a:r>
          </a:p>
        </p:txBody>
      </p:sp>
      <p:pic>
        <p:nvPicPr>
          <p:cNvPr id="7" name="Serializable animated story">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28750"/>
            <a:ext cx="8686800" cy="3257550"/>
          </a:xfrm>
          <a:prstGeom prst="rect">
            <a:avLst/>
          </a:prstGeom>
        </p:spPr>
      </p:pic>
      <p:sp>
        <p:nvSpPr>
          <p:cNvPr id="4" name="Rectangle 3">
            <a:extLst>
              <a:ext uri="{FF2B5EF4-FFF2-40B4-BE49-F238E27FC236}">
                <a16:creationId xmlns:a16="http://schemas.microsoft.com/office/drawing/2014/main" id="{CCD86F88-8B42-4EA5-8921-EF4136B817FD}"/>
              </a:ext>
            </a:extLst>
          </p:cNvPr>
          <p:cNvSpPr>
            <a:spLocks noGrp="1"/>
          </p:cNvSpPr>
          <p:nvPr/>
        </p:nvSpPr>
        <p:spPr>
          <a:xfrm>
            <a:off x="457200" y="4810125"/>
            <a:ext cx="7810500" cy="200000"/>
          </a:xfrm>
          <a:prstGeom prst="rect">
            <a:avLst/>
          </a:prstGeom>
          <a:noFill/>
          <a:ln w="0">
            <a:noFill/>
          </a:ln>
        </p:spPr>
        <p:txBody>
          <a:bodyPr wrap="none" lIns="0" tIns="0" rIns="0" bIns="0"/>
          <a:lstStyle/>
          <a:p>
            <a:pPr>
              <a:defRPr sz="900" b="1">
                <a:solidFill>
                  <a:srgbClr val="706E6C"/>
                </a:solidFill>
                <a:latin typeface="Arial"/>
                <a:ea typeface="Arial"/>
                <a:cs typeface="Arial"/>
              </a:defRPr>
            </a:pPr>
            <a:r>
              <a:rPr sz="900" b="1">
                <a:solidFill>
                  <a:srgbClr val="706E6C"/>
                </a:solidFill>
                <a:latin typeface="Arial"/>
                <a:ea typeface="Arial"/>
                <a:cs typeface="Arial"/>
              </a:rPr>
              <a:t>Click the scene to play • Hover for playback controls</a:t>
            </a:r>
          </a:p>
        </p:txBody>
      </p:sp>
      <p:sp>
        <p:nvSpPr>
          <p:cNvPr id="951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19</a:t>
            </a:r>
          </a:p>
        </p:txBody>
      </p:sp>
    </p:spTree>
    <p:extLst>
      <p:ext uri="{BB962C8B-B14F-4D97-AF65-F5344CB8AC3E}">
        <p14:creationId xmlns:p14="http://schemas.microsoft.com/office/powerpoint/2010/main" val="820906282"/>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457200" y="239275"/>
            <a:ext cx="952500" cy="216776"/>
          </a:xfrm>
          <a:prstGeom prst="rect">
            <a:avLst/>
          </a:prstGeom>
        </p:spPr>
      </p:pic>
      <p:sp>
        <p:nvSpPr>
          <p:cNvPr id="3" name="Slide title">
            <a:extLst>
              <a:ext uri="{FF2B5EF4-FFF2-40B4-BE49-F238E27FC236}">
                <a16:creationId xmlns:a16="http://schemas.microsoft.com/office/drawing/2014/main" id="{EA1DE502-5636-4C9A-B45F-9E70161EE9E4}"/>
              </a:ext>
            </a:extLst>
          </p:cNvPr>
          <p:cNvSpPr>
            <a:spLocks noGrp="1"/>
          </p:cNvSpPr>
          <p:nvPr/>
        </p:nvSpPr>
        <p:spPr>
          <a:xfrm>
            <a:off x="457200" y="790575"/>
            <a:ext cx="8229600" cy="460248"/>
          </a:xfrm>
          <a:prstGeom prst="rect">
            <a:avLst/>
          </a:prstGeom>
          <a:noFill/>
          <a:ln w="0">
            <a:noFill/>
          </a:ln>
        </p:spPr>
        <p:txBody>
          <a:bodyPr wrap="none" lIns="0" tIns="0" rIns="0" bIns="0">
            <a:noAutofit/>
          </a:bodyPr>
          <a:lstStyle/>
          <a:p>
            <a:pPr>
              <a:lnSpc>
                <a:spcPct val="106000"/>
              </a:lnSpc>
              <a:buNone/>
              <a:defRPr sz="2700" b="1">
                <a:solidFill>
                  <a:srgbClr val="1A1A1A"/>
                </a:solidFill>
                <a:latin typeface="Arial"/>
                <a:ea typeface="Arial"/>
                <a:cs typeface="Arial"/>
              </a:defRPr>
            </a:pPr>
            <a:r>
              <a:rPr sz="2700" b="1">
                <a:solidFill>
                  <a:srgbClr val="1A1A1A"/>
                </a:solidFill>
                <a:latin typeface="Arial"/>
                <a:ea typeface="Arial"/>
                <a:cs typeface="Arial"/>
              </a:rPr>
              <a:t>Replica apply and replica reads</a:t>
            </a:r>
          </a:p>
        </p:txBody>
      </p:sp>
      <p:sp>
        <p:nvSpPr>
          <p:cNvPr id="4" name="diagram-748">
            <a:extLst>
              <a:ext uri="{FF2B5EF4-FFF2-40B4-BE49-F238E27FC236}">
                <a16:creationId xmlns:a16="http://schemas.microsoft.com/office/drawing/2014/main" id="{3C7E92B4-1D15-4C6B-BA31-6548392BC18B}"/>
              </a:ext>
            </a:extLst>
          </p:cNvPr>
          <p:cNvSpPr>
            <a:spLocks noGrp="1"/>
          </p:cNvSpPr>
          <p:nvPr/>
        </p:nvSpPr>
        <p:spPr>
          <a:xfrm>
            <a:off x="609600" y="2038350"/>
            <a:ext cx="3876675" cy="1066800"/>
          </a:xfrm>
          <a:prstGeom prst="rect">
            <a:avLst/>
          </a:prstGeom>
          <a:solidFill>
            <a:srgbClr val="F8F6F3"/>
          </a:solidFill>
          <a:ln w="19050">
            <a:solidFill>
              <a:srgbClr val="171717"/>
            </a:solidFill>
          </a:ln>
        </p:spPr>
        <p:txBody>
          <a:bodyPr/>
          <a:lstStyle/>
          <a:p>
            <a:endParaRPr lang="pt-BR"/>
          </a:p>
        </p:txBody>
      </p:sp>
      <p:sp>
        <p:nvSpPr>
          <p:cNvPr id="5" name="text-749">
            <a:extLst>
              <a:ext uri="{FF2B5EF4-FFF2-40B4-BE49-F238E27FC236}">
                <a16:creationId xmlns:a16="http://schemas.microsoft.com/office/drawing/2014/main" id="{BE452C92-6FF0-4AA2-A3B0-CBA6872F7A12}"/>
              </a:ext>
            </a:extLst>
          </p:cNvPr>
          <p:cNvSpPr>
            <a:spLocks noGrp="1"/>
          </p:cNvSpPr>
          <p:nvPr/>
        </p:nvSpPr>
        <p:spPr>
          <a:xfrm>
            <a:off x="762000" y="2162175"/>
            <a:ext cx="3571875" cy="300228"/>
          </a:xfrm>
          <a:prstGeom prst="rect">
            <a:avLst/>
          </a:prstGeom>
          <a:noFill/>
          <a:ln w="0">
            <a:noFill/>
          </a:ln>
        </p:spPr>
        <p:txBody>
          <a:bodyPr wrap="non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Row-based applier</a:t>
            </a:r>
          </a:p>
        </p:txBody>
      </p:sp>
      <p:sp>
        <p:nvSpPr>
          <p:cNvPr id="6" name="text-750">
            <a:extLst>
              <a:ext uri="{FF2B5EF4-FFF2-40B4-BE49-F238E27FC236}">
                <a16:creationId xmlns:a16="http://schemas.microsoft.com/office/drawing/2014/main" id="{059A1778-8A4B-4E26-9A12-C18868B7D16E}"/>
              </a:ext>
            </a:extLst>
          </p:cNvPr>
          <p:cNvSpPr>
            <a:spLocks noGrp="1"/>
          </p:cNvSpPr>
          <p:nvPr/>
        </p:nvSpPr>
        <p:spPr>
          <a:xfrm>
            <a:off x="762000" y="2495550"/>
            <a:ext cx="3571875" cy="428244"/>
          </a:xfrm>
          <a:prstGeom prst="rect">
            <a:avLst/>
          </a:prstGeom>
          <a:noFill/>
          <a:ln w="0">
            <a:noFill/>
          </a:ln>
        </p:spPr>
        <p:txBody>
          <a:bodyPr wrap="non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READ COMMITTED</a:t>
            </a:r>
          </a:p>
        </p:txBody>
      </p:sp>
      <p:sp>
        <p:nvSpPr>
          <p:cNvPr id="7" name="diagram-751">
            <a:extLst>
              <a:ext uri="{FF2B5EF4-FFF2-40B4-BE49-F238E27FC236}">
                <a16:creationId xmlns:a16="http://schemas.microsoft.com/office/drawing/2014/main" id="{279DFC15-CD97-49EF-8295-6D9E094B6B66}"/>
              </a:ext>
            </a:extLst>
          </p:cNvPr>
          <p:cNvSpPr>
            <a:spLocks noGrp="1"/>
          </p:cNvSpPr>
          <p:nvPr/>
        </p:nvSpPr>
        <p:spPr>
          <a:xfrm>
            <a:off x="4857750" y="2038350"/>
            <a:ext cx="3667125" cy="1066800"/>
          </a:xfrm>
          <a:prstGeom prst="rect">
            <a:avLst/>
          </a:prstGeom>
          <a:solidFill>
            <a:srgbClr val="F8F6F3"/>
          </a:solidFill>
          <a:ln w="19050">
            <a:solidFill>
              <a:srgbClr val="171717"/>
            </a:solidFill>
          </a:ln>
        </p:spPr>
        <p:txBody>
          <a:bodyPr/>
          <a:lstStyle/>
          <a:p>
            <a:endParaRPr lang="pt-BR"/>
          </a:p>
        </p:txBody>
      </p:sp>
      <p:sp>
        <p:nvSpPr>
          <p:cNvPr id="8" name="text-752">
            <a:extLst>
              <a:ext uri="{FF2B5EF4-FFF2-40B4-BE49-F238E27FC236}">
                <a16:creationId xmlns:a16="http://schemas.microsoft.com/office/drawing/2014/main" id="{B9911BC1-1BBC-49F3-B4F8-3960BB85DEA2}"/>
              </a:ext>
            </a:extLst>
          </p:cNvPr>
          <p:cNvSpPr>
            <a:spLocks noGrp="1"/>
          </p:cNvSpPr>
          <p:nvPr/>
        </p:nvSpPr>
        <p:spPr>
          <a:xfrm>
            <a:off x="5010150" y="2162175"/>
            <a:ext cx="3362325" cy="300228"/>
          </a:xfrm>
          <a:prstGeom prst="rect">
            <a:avLst/>
          </a:prstGeom>
          <a:noFill/>
          <a:ln w="0">
            <a:noFill/>
          </a:ln>
        </p:spPr>
        <p:txBody>
          <a:bodyPr wrap="none" lIns="0" tIns="0" rIns="0" bIns="0">
            <a:noAutofit/>
          </a:bodyPr>
          <a:lstStyle/>
          <a:p>
            <a:pPr>
              <a:lnSpc>
                <a:spcPct val="106000"/>
              </a:lnSpc>
              <a:buNone/>
              <a:defRPr sz="1575" b="0">
                <a:solidFill>
                  <a:srgbClr val="706E6C"/>
                </a:solidFill>
                <a:latin typeface="Arial"/>
                <a:ea typeface="Arial"/>
                <a:cs typeface="Arial"/>
              </a:defRPr>
            </a:pPr>
            <a:r>
              <a:rPr sz="1575" b="0">
                <a:solidFill>
                  <a:srgbClr val="706E6C"/>
                </a:solidFill>
                <a:latin typeface="Arial"/>
                <a:ea typeface="Arial"/>
                <a:cs typeface="Arial"/>
              </a:rPr>
              <a:t>Your reader</a:t>
            </a:r>
          </a:p>
        </p:txBody>
      </p:sp>
      <p:sp>
        <p:nvSpPr>
          <p:cNvPr id="9" name="text-753">
            <a:extLst>
              <a:ext uri="{FF2B5EF4-FFF2-40B4-BE49-F238E27FC236}">
                <a16:creationId xmlns:a16="http://schemas.microsoft.com/office/drawing/2014/main" id="{265BC0B5-567F-4AF1-8C44-71542DB7F9C4}"/>
              </a:ext>
            </a:extLst>
          </p:cNvPr>
          <p:cNvSpPr>
            <a:spLocks noGrp="1"/>
          </p:cNvSpPr>
          <p:nvPr/>
        </p:nvSpPr>
        <p:spPr>
          <a:xfrm>
            <a:off x="5010150" y="2495550"/>
            <a:ext cx="3362325" cy="428244"/>
          </a:xfrm>
          <a:prstGeom prst="rect">
            <a:avLst/>
          </a:prstGeom>
          <a:noFill/>
          <a:ln w="0">
            <a:noFill/>
          </a:ln>
        </p:spPr>
        <p:txBody>
          <a:bodyPr wrap="none" lIns="0" tIns="0" rIns="0" bIns="0">
            <a:noAutofit/>
          </a:bodyPr>
          <a:lstStyle/>
          <a:p>
            <a:pPr>
              <a:lnSpc>
                <a:spcPct val="106000"/>
              </a:lnSpc>
              <a:buNone/>
              <a:defRPr sz="2475" b="1">
                <a:solidFill>
                  <a:srgbClr val="171717"/>
                </a:solidFill>
                <a:latin typeface="Arial"/>
                <a:ea typeface="Arial"/>
                <a:cs typeface="Arial"/>
              </a:defRPr>
            </a:pPr>
            <a:r>
              <a:rPr sz="2475" b="1">
                <a:solidFill>
                  <a:srgbClr val="171717"/>
                </a:solidFill>
                <a:latin typeface="Arial"/>
                <a:ea typeface="Arial"/>
                <a:cs typeface="Arial"/>
              </a:rPr>
              <a:t>its own isolation</a:t>
            </a:r>
          </a:p>
        </p:txBody>
      </p:sp>
      <p:sp>
        <p:nvSpPr>
          <p:cNvPr id="10" name="text-754">
            <a:extLst>
              <a:ext uri="{FF2B5EF4-FFF2-40B4-BE49-F238E27FC236}">
                <a16:creationId xmlns:a16="http://schemas.microsoft.com/office/drawing/2014/main" id="{988AAEE3-0098-44D2-9B5F-C2F80677445B}"/>
              </a:ext>
            </a:extLst>
          </p:cNvPr>
          <p:cNvSpPr>
            <a:spLocks noGrp="1"/>
          </p:cNvSpPr>
          <p:nvPr/>
        </p:nvSpPr>
        <p:spPr>
          <a:xfrm>
            <a:off x="609600" y="3381375"/>
            <a:ext cx="3876675"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Temporary, per transaction</a:t>
            </a:r>
          </a:p>
        </p:txBody>
      </p:sp>
      <p:sp>
        <p:nvSpPr>
          <p:cNvPr id="11" name="text-755">
            <a:extLst>
              <a:ext uri="{FF2B5EF4-FFF2-40B4-BE49-F238E27FC236}">
                <a16:creationId xmlns:a16="http://schemas.microsoft.com/office/drawing/2014/main" id="{9A42B3BB-80BB-48BF-A5CA-0EE5382326D3}"/>
              </a:ext>
            </a:extLst>
          </p:cNvPr>
          <p:cNvSpPr>
            <a:spLocks noGrp="1"/>
          </p:cNvSpPr>
          <p:nvPr/>
        </p:nvSpPr>
        <p:spPr>
          <a:xfrm>
            <a:off x="4857750" y="3381375"/>
            <a:ext cx="3667125" cy="332232"/>
          </a:xfrm>
          <a:prstGeom prst="rect">
            <a:avLst/>
          </a:prstGeom>
          <a:noFill/>
          <a:ln w="0">
            <a:noFill/>
          </a:ln>
        </p:spPr>
        <p:txBody>
          <a:bodyPr wrap="none" lIns="0" tIns="0" rIns="0" bIns="0">
            <a:noAutofit/>
          </a:bodyPr>
          <a:lstStyle/>
          <a:p>
            <a:pPr>
              <a:lnSpc>
                <a:spcPct val="106000"/>
              </a:lnSpc>
              <a:buNone/>
              <a:defRPr sz="1800" b="0">
                <a:solidFill>
                  <a:srgbClr val="1A1A1A"/>
                </a:solidFill>
                <a:latin typeface="Arial"/>
                <a:ea typeface="Arial"/>
                <a:cs typeface="Arial"/>
              </a:defRPr>
            </a:pPr>
            <a:r>
              <a:rPr sz="1800" b="0">
                <a:solidFill>
                  <a:srgbClr val="1A1A1A"/>
                </a:solidFill>
                <a:latin typeface="Arial"/>
                <a:ea typeface="Arial"/>
                <a:cs typeface="Arial"/>
              </a:rPr>
              <a:t>Controls what your SELECT sees</a:t>
            </a:r>
          </a:p>
        </p:txBody>
      </p:sp>
      <p:sp>
        <p:nvSpPr>
          <p:cNvPr id="12" name="text-756">
            <a:extLst>
              <a:ext uri="{FF2B5EF4-FFF2-40B4-BE49-F238E27FC236}">
                <a16:creationId xmlns:a16="http://schemas.microsoft.com/office/drawing/2014/main" id="{69DE696A-7E9C-4FF2-B819-37FE461E4F8A}"/>
              </a:ext>
            </a:extLst>
          </p:cNvPr>
          <p:cNvSpPr>
            <a:spLocks noGrp="1"/>
          </p:cNvSpPr>
          <p:nvPr/>
        </p:nvSpPr>
        <p:spPr>
          <a:xfrm>
            <a:off x="457200" y="4552950"/>
            <a:ext cx="7953375" cy="278892"/>
          </a:xfrm>
          <a:prstGeom prst="rect">
            <a:avLst/>
          </a:prstGeom>
          <a:noFill/>
          <a:ln w="0">
            <a:noFill/>
          </a:ln>
        </p:spPr>
        <p:txBody>
          <a:bodyPr wrap="none" lIns="0" tIns="0" rIns="0" bIns="0">
            <a:noAutofit/>
          </a:bodyPr>
          <a:lstStyle/>
          <a:p>
            <a:pPr>
              <a:lnSpc>
                <a:spcPct val="106000"/>
              </a:lnSpc>
              <a:buNone/>
              <a:defRPr sz="1425" b="0">
                <a:solidFill>
                  <a:srgbClr val="706E6C"/>
                </a:solidFill>
                <a:latin typeface="Arial"/>
                <a:ea typeface="Arial"/>
                <a:cs typeface="Arial"/>
              </a:defRPr>
            </a:pPr>
            <a:r>
              <a:rPr sz="1425" b="0">
                <a:solidFill>
                  <a:srgbClr val="706E6C"/>
                </a:solidFill>
                <a:latin typeface="Arial"/>
                <a:ea typeface="Arial"/>
                <a:cs typeface="Arial"/>
              </a:rPr>
              <a:t>MySQL 8.4.11 test: ROW → RC; STATEMENT → RR (replica default).</a:t>
            </a:r>
          </a:p>
        </p:txBody>
      </p:sp>
      <p:sp>
        <p:nvSpPr>
          <p:cNvPr id="952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20</a:t>
            </a:r>
          </a:p>
        </p:txBody>
      </p:sp>
    </p:spTree>
    <p:extLst>
      <p:ext uri="{BB962C8B-B14F-4D97-AF65-F5344CB8AC3E}">
        <p14:creationId xmlns:p14="http://schemas.microsoft.com/office/powerpoint/2010/main" val="25757338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C7D80EB1-884C-4C1C-E1D3-BDE4334D5D2A}"/>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C3ABE36F-7767-67EA-7B74-526E122F97F1}"/>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E8DD2B6C-0800-A288-0095-E7353D036EBC}"/>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lang="pt-BR" sz="4275" b="1" dirty="0">
                <a:solidFill>
                  <a:srgbClr val="EDEDEC"/>
                </a:solidFill>
                <a:latin typeface="Arial"/>
                <a:ea typeface="Arial"/>
                <a:cs typeface="Arial"/>
              </a:rPr>
              <a:t>Readyset</a:t>
            </a:r>
            <a:endParaRPr lang="en-BR" sz="4275" b="1" dirty="0">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4B75D405-1A47-2501-B2F7-AE4F643A3DA0}"/>
              </a:ext>
            </a:extLst>
          </p:cNvPr>
          <p:cNvPicPr>
            <a:picLocks noChangeAspect="1"/>
          </p:cNvPicPr>
          <p:nvPr/>
        </p:nvPicPr>
        <p:blipFill>
          <a:blip r:embed="rId4"/>
          <a:stretch/>
        </p:blipFill>
        <p:spPr>
          <a:xfrm>
            <a:off x="6905625" y="1823085"/>
            <a:ext cx="1619250" cy="1554480"/>
          </a:xfrm>
          <a:prstGeom prst="rect">
            <a:avLst/>
          </a:prstGeom>
        </p:spPr>
      </p:pic>
      <p:sp>
        <p:nvSpPr>
          <p:cNvPr id="952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21</a:t>
            </a:r>
          </a:p>
        </p:txBody>
      </p:sp>
    </p:spTree>
    <p:extLst>
      <p:ext uri="{BB962C8B-B14F-4D97-AF65-F5344CB8AC3E}">
        <p14:creationId xmlns:p14="http://schemas.microsoft.com/office/powerpoint/2010/main" val="38960051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21"/>
          <p:cNvSpPr/>
          <p:nvPr/>
        </p:nvSpPr>
        <p:spPr>
          <a:xfrm>
            <a:off x="457200" y="1523848"/>
            <a:ext cx="5153101" cy="866851"/>
          </a:xfrm>
          <a:prstGeom prst="roundRect">
            <a:avLst>
              <a:gd name="adj" fmla="val 6593"/>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6" name="Google Shape;386;p21"/>
          <p:cNvSpPr/>
          <p:nvPr/>
        </p:nvSpPr>
        <p:spPr>
          <a:xfrm>
            <a:off x="457200" y="2476653"/>
            <a:ext cx="5143500" cy="1047903"/>
          </a:xfrm>
          <a:prstGeom prst="roundRect">
            <a:avLst>
              <a:gd name="adj" fmla="val 5454"/>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7" name="Google Shape;387;p21"/>
          <p:cNvSpPr/>
          <p:nvPr/>
        </p:nvSpPr>
        <p:spPr>
          <a:xfrm>
            <a:off x="457200" y="3619653"/>
            <a:ext cx="5153101" cy="771754"/>
          </a:xfrm>
          <a:prstGeom prst="roundRect">
            <a:avLst>
              <a:gd name="adj" fmla="val 7405"/>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8" name="Google Shape;388;p21"/>
          <p:cNvSpPr/>
          <p:nvPr/>
        </p:nvSpPr>
        <p:spPr>
          <a:xfrm>
            <a:off x="5791353" y="1523848"/>
            <a:ext cx="2676449" cy="2486254"/>
          </a:xfrm>
          <a:prstGeom prst="roundRect">
            <a:avLst>
              <a:gd name="adj" fmla="val 229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89" name="Google Shape;389;p21"/>
          <p:cNvSpPr/>
          <p:nvPr/>
        </p:nvSpPr>
        <p:spPr>
          <a:xfrm>
            <a:off x="5791353" y="4095598"/>
            <a:ext cx="2666848" cy="476403"/>
          </a:xfrm>
          <a:prstGeom prst="roundRect">
            <a:avLst>
              <a:gd name="adj" fmla="val 11996"/>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390" name="Google Shape;390;p21"/>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999999"/>
              </a:buClr>
              <a:buSzPts val="1500"/>
            </a:pPr>
            <a:r>
              <a:rPr lang="en-US" sz="900" b="0">
                <a:solidFill>
                  <a:srgbClr val="666666"/>
                </a:solidFill>
                <a:latin typeface="Arial"/>
                <a:ea typeface="Arial"/>
                <a:cs typeface="Arial"/>
                <a:sym typeface="IBM Plex Mono"/>
              </a:rPr>
              <a:t>the alternative · readyset</a:t>
            </a:r>
            <a:endParaRPr sz="900" b="0">
              <a:solidFill>
                <a:srgbClr val="666666"/>
              </a:solidFill>
              <a:latin typeface="Arial"/>
              <a:ea typeface="Arial"/>
              <a:cs typeface="Arial"/>
              <a:sym typeface="Arial"/>
            </a:endParaRPr>
          </a:p>
        </p:txBody>
      </p:sp>
      <p:sp>
        <p:nvSpPr>
          <p:cNvPr id="392" name="Google Shape;392;p21"/>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A1A1A"/>
              </a:buClr>
              <a:buSzPts val="4500"/>
            </a:pPr>
            <a:r>
              <a:rPr lang="en-US" sz="2700" b="1">
                <a:solidFill>
                  <a:srgbClr val="171717"/>
                </a:solidFill>
                <a:latin typeface="Arial"/>
                <a:ea typeface="Arial"/>
                <a:cs typeface="Arial"/>
                <a:sym typeface="Arial"/>
              </a:rPr>
              <a:t>A decade of research. One problem.</a:t>
            </a:r>
            <a:endParaRPr sz="2700" b="1">
              <a:solidFill>
                <a:srgbClr val="171717"/>
              </a:solidFill>
              <a:latin typeface="Arial"/>
              <a:ea typeface="Arial"/>
              <a:cs typeface="Arial"/>
              <a:sym typeface="Arial"/>
            </a:endParaRPr>
          </a:p>
        </p:txBody>
      </p:sp>
      <p:sp>
        <p:nvSpPr>
          <p:cNvPr id="393" name="Google Shape;393;p21"/>
          <p:cNvSpPr txBox="1"/>
          <p:nvPr/>
        </p:nvSpPr>
        <p:spPr>
          <a:xfrm>
            <a:off x="600304" y="1647749"/>
            <a:ext cx="4857750"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999999"/>
                </a:solidFill>
                <a:latin typeface="Arial"/>
                <a:ea typeface="Arial"/>
                <a:cs typeface="Arial"/>
                <a:sym typeface="IBM Plex Mono"/>
              </a:rPr>
              <a:t>origin</a:t>
            </a:r>
            <a:endParaRPr sz="525">
              <a:solidFill>
                <a:schemeClr val="dk1"/>
              </a:solidFill>
              <a:latin typeface="Arial"/>
              <a:ea typeface="Arial"/>
              <a:cs typeface="Arial"/>
              <a:sym typeface="Arial"/>
            </a:endParaRPr>
          </a:p>
        </p:txBody>
      </p:sp>
      <p:sp>
        <p:nvSpPr>
          <p:cNvPr id="394" name="Google Shape;394;p21"/>
          <p:cNvSpPr txBox="1"/>
          <p:nvPr/>
        </p:nvSpPr>
        <p:spPr>
          <a:xfrm>
            <a:off x="600304" y="1781251"/>
            <a:ext cx="4857750" cy="186081"/>
          </a:xfrm>
          <a:prstGeom prst="rect">
            <a:avLst/>
          </a:prstGeom>
          <a:noFill/>
          <a:ln>
            <a:noFill/>
          </a:ln>
        </p:spPr>
        <p:txBody>
          <a:bodyPr spcFirstLastPara="1" wrap="square" lIns="0" tIns="0" rIns="0" bIns="0" anchor="ctr" anchorCtr="0">
            <a:noAutofit/>
          </a:bodyPr>
          <a:lstStyle/>
          <a:p>
            <a:pPr>
              <a:buClr>
                <a:srgbClr val="161615"/>
              </a:buClr>
              <a:buSzPts val="2400"/>
            </a:pPr>
            <a:r>
              <a:rPr lang="en-US" sz="1200" b="1">
                <a:solidFill>
                  <a:srgbClr val="161615"/>
                </a:solidFill>
                <a:latin typeface="Arial"/>
                <a:ea typeface="Arial"/>
                <a:cs typeface="Arial"/>
                <a:sym typeface="Arial"/>
              </a:rPr>
              <a:t>A decade of MIT research behind it</a:t>
            </a:r>
            <a:endParaRPr sz="1200">
              <a:solidFill>
                <a:schemeClr val="dk1"/>
              </a:solidFill>
              <a:latin typeface="Arial"/>
              <a:ea typeface="Arial"/>
              <a:cs typeface="Arial"/>
              <a:sym typeface="Arial"/>
            </a:endParaRPr>
          </a:p>
        </p:txBody>
      </p:sp>
      <p:sp>
        <p:nvSpPr>
          <p:cNvPr id="395" name="Google Shape;395;p21"/>
          <p:cNvSpPr txBox="1"/>
          <p:nvPr/>
        </p:nvSpPr>
        <p:spPr>
          <a:xfrm>
            <a:off x="600304" y="2002079"/>
            <a:ext cx="4857750" cy="267005"/>
          </a:xfrm>
          <a:prstGeom prst="rect">
            <a:avLst/>
          </a:prstGeom>
          <a:noFill/>
          <a:ln>
            <a:noFill/>
          </a:ln>
        </p:spPr>
        <p:txBody>
          <a:bodyPr spcFirstLastPara="1" wrap="square" lIns="0" tIns="0" rIns="0" bIns="0" anchor="ctr" anchorCtr="0">
            <a:noAutofit/>
          </a:bodyPr>
          <a:lstStyle/>
          <a:p>
            <a:pPr>
              <a:lnSpc>
                <a:spcPct val="140000"/>
              </a:lnSpc>
              <a:buClr>
                <a:srgbClr val="706E6C"/>
              </a:buClr>
              <a:buSzPts val="1500"/>
            </a:pPr>
            <a:r>
              <a:rPr lang="en-US" sz="750">
                <a:solidFill>
                  <a:srgbClr val="706E6C"/>
                </a:solidFill>
                <a:latin typeface="Arial"/>
                <a:ea typeface="Arial"/>
                <a:cs typeface="Arial"/>
                <a:sym typeface="Arial"/>
              </a:rPr>
              <a:t>The </a:t>
            </a:r>
            <a:r>
              <a:rPr lang="en-US" sz="750">
                <a:solidFill>
                  <a:srgbClr val="161615"/>
                </a:solidFill>
                <a:latin typeface="Arial"/>
                <a:ea typeface="Arial"/>
                <a:cs typeface="Arial"/>
                <a:sym typeface="IBM Plex Mono"/>
              </a:rPr>
              <a:t>Noria</a:t>
            </a:r>
            <a:r>
              <a:rPr lang="en-US" sz="750">
                <a:solidFill>
                  <a:srgbClr val="706E6C"/>
                </a:solidFill>
                <a:latin typeface="Arial"/>
                <a:ea typeface="Arial"/>
                <a:cs typeface="Arial"/>
                <a:sym typeface="Arial"/>
              </a:rPr>
              <a:t> paper (OSDI '18) describes the </a:t>
            </a:r>
            <a:r>
              <a:rPr lang="en-US" sz="750" b="1">
                <a:solidFill>
                  <a:srgbClr val="161615"/>
                </a:solidFill>
                <a:latin typeface="Arial"/>
                <a:ea typeface="Arial"/>
                <a:cs typeface="Arial"/>
                <a:sym typeface="Arial"/>
              </a:rPr>
              <a:t>partial dataflow</a:t>
            </a:r>
            <a:r>
              <a:rPr lang="en-US" sz="750">
                <a:solidFill>
                  <a:srgbClr val="706E6C"/>
                </a:solidFill>
                <a:latin typeface="Arial"/>
                <a:ea typeface="Arial"/>
                <a:cs typeface="Arial"/>
                <a:sym typeface="Arial"/>
              </a:rPr>
              <a:t> model Readyset is built on — from </a:t>
            </a:r>
            <a:r>
              <a:rPr lang="en-US" sz="750">
                <a:solidFill>
                  <a:srgbClr val="161615"/>
                </a:solidFill>
                <a:latin typeface="Arial"/>
                <a:ea typeface="Arial"/>
                <a:cs typeface="Arial"/>
                <a:sym typeface="IBM Plex Mono"/>
              </a:rPr>
              <a:t>MIT PDOS</a:t>
            </a:r>
            <a:r>
              <a:rPr lang="en-US" sz="750">
                <a:solidFill>
                  <a:srgbClr val="706E6C"/>
                </a:solidFill>
                <a:latin typeface="Arial"/>
                <a:ea typeface="Arial"/>
                <a:cs typeface="Arial"/>
                <a:sym typeface="Arial"/>
              </a:rPr>
              <a:t>, a systems group focused on parallel and distributed data.</a:t>
            </a:r>
            <a:endParaRPr sz="750">
              <a:solidFill>
                <a:schemeClr val="dk1"/>
              </a:solidFill>
              <a:latin typeface="Arial"/>
              <a:ea typeface="Arial"/>
              <a:cs typeface="Arial"/>
              <a:sym typeface="Arial"/>
            </a:endParaRPr>
          </a:p>
        </p:txBody>
      </p:sp>
      <p:sp>
        <p:nvSpPr>
          <p:cNvPr id="396" name="Google Shape;396;p21"/>
          <p:cNvSpPr txBox="1"/>
          <p:nvPr/>
        </p:nvSpPr>
        <p:spPr>
          <a:xfrm>
            <a:off x="600304" y="2600554"/>
            <a:ext cx="4857750"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EEEEEE"/>
                </a:solidFill>
                <a:latin typeface="Arial"/>
                <a:ea typeface="Arial"/>
                <a:cs typeface="Arial"/>
                <a:sym typeface="IBM Plex Mono"/>
              </a:rPr>
              <a:t>mission</a:t>
            </a:r>
            <a:endParaRPr sz="525">
              <a:solidFill>
                <a:schemeClr val="dk1"/>
              </a:solidFill>
              <a:latin typeface="Arial"/>
              <a:ea typeface="Arial"/>
              <a:cs typeface="Arial"/>
              <a:sym typeface="Arial"/>
            </a:endParaRPr>
          </a:p>
        </p:txBody>
      </p:sp>
      <p:sp>
        <p:nvSpPr>
          <p:cNvPr id="397" name="Google Shape;397;p21"/>
          <p:cNvSpPr txBox="1"/>
          <p:nvPr/>
        </p:nvSpPr>
        <p:spPr>
          <a:xfrm>
            <a:off x="600304" y="2733599"/>
            <a:ext cx="4857750" cy="347929"/>
          </a:xfrm>
          <a:prstGeom prst="rect">
            <a:avLst/>
          </a:prstGeom>
          <a:noFill/>
          <a:ln>
            <a:noFill/>
          </a:ln>
        </p:spPr>
        <p:txBody>
          <a:bodyPr spcFirstLastPara="1" wrap="square" lIns="0" tIns="0" rIns="0" bIns="0" anchor="t" anchorCtr="0">
            <a:noAutofit/>
          </a:bodyPr>
          <a:lstStyle/>
          <a:p>
            <a:pPr>
              <a:lnSpc>
                <a:spcPct val="130000"/>
              </a:lnSpc>
              <a:buClr>
                <a:srgbClr val="EDEDEC"/>
              </a:buClr>
              <a:buSzPts val="2100"/>
            </a:pPr>
            <a:r>
              <a:rPr lang="en-US" sz="1050" b="1">
                <a:solidFill>
                  <a:srgbClr val="EDEDEC"/>
                </a:solidFill>
                <a:latin typeface="Arial"/>
                <a:ea typeface="Arial"/>
                <a:cs typeface="Arial"/>
                <a:sym typeface="Arial"/>
              </a:rPr>
              <a:t>“There are only two hard things in Computer Science:</a:t>
            </a:r>
            <a:endParaRPr sz="1050">
              <a:solidFill>
                <a:schemeClr val="dk1"/>
              </a:solidFill>
              <a:latin typeface="Arial"/>
              <a:ea typeface="Arial"/>
              <a:cs typeface="Arial"/>
              <a:sym typeface="Arial"/>
            </a:endParaRPr>
          </a:p>
          <a:p>
            <a:pPr>
              <a:lnSpc>
                <a:spcPct val="130000"/>
              </a:lnSpc>
              <a:buClr>
                <a:srgbClr val="999999"/>
              </a:buClr>
              <a:buSzPts val="2100"/>
            </a:pPr>
            <a:r>
              <a:rPr lang="en-US" sz="1050" b="1">
                <a:solidFill>
                  <a:srgbClr val="EEEEEE"/>
                </a:solidFill>
                <a:latin typeface="Arial"/>
                <a:ea typeface="Arial"/>
                <a:cs typeface="Arial"/>
                <a:sym typeface="Arial"/>
              </a:rPr>
              <a:t>cache invalidation</a:t>
            </a:r>
            <a:r>
              <a:rPr lang="en-US" sz="1050" b="1">
                <a:solidFill>
                  <a:srgbClr val="EDEDEC"/>
                </a:solidFill>
                <a:latin typeface="Arial"/>
                <a:ea typeface="Arial"/>
                <a:cs typeface="Arial"/>
                <a:sym typeface="Arial"/>
              </a:rPr>
              <a:t> and naming things.”</a:t>
            </a:r>
            <a:endParaRPr sz="1050">
              <a:solidFill>
                <a:schemeClr val="dk1"/>
              </a:solidFill>
              <a:latin typeface="Arial"/>
              <a:ea typeface="Arial"/>
              <a:cs typeface="Arial"/>
              <a:sym typeface="Arial"/>
            </a:endParaRPr>
          </a:p>
        </p:txBody>
      </p:sp>
      <p:sp>
        <p:nvSpPr>
          <p:cNvPr id="398" name="Google Shape;398;p21"/>
          <p:cNvSpPr txBox="1"/>
          <p:nvPr/>
        </p:nvSpPr>
        <p:spPr>
          <a:xfrm>
            <a:off x="600304" y="3137307"/>
            <a:ext cx="4857750" cy="95555"/>
          </a:xfrm>
          <a:prstGeom prst="rect">
            <a:avLst/>
          </a:prstGeom>
          <a:noFill/>
          <a:ln>
            <a:noFill/>
          </a:ln>
        </p:spPr>
        <p:txBody>
          <a:bodyPr spcFirstLastPara="1" wrap="square" lIns="0" tIns="0" rIns="0" bIns="0" anchor="ctr" anchorCtr="0">
            <a:noAutofit/>
          </a:bodyPr>
          <a:lstStyle/>
          <a:p>
            <a:pPr>
              <a:buClr>
                <a:srgbClr val="A1A09A"/>
              </a:buClr>
              <a:buSzPts val="1200"/>
            </a:pPr>
            <a:r>
              <a:rPr lang="en-US" sz="600">
                <a:solidFill>
                  <a:srgbClr val="EEEEEE"/>
                </a:solidFill>
                <a:latin typeface="Arial"/>
                <a:ea typeface="Arial"/>
                <a:cs typeface="Arial"/>
                <a:sym typeface="IBM Plex Mono"/>
              </a:rPr>
              <a:t>— Phil Karlton</a:t>
            </a:r>
            <a:endParaRPr sz="600">
              <a:solidFill>
                <a:schemeClr val="dk1"/>
              </a:solidFill>
              <a:latin typeface="Arial"/>
              <a:ea typeface="Arial"/>
              <a:cs typeface="Arial"/>
              <a:sym typeface="Arial"/>
            </a:endParaRPr>
          </a:p>
        </p:txBody>
      </p:sp>
      <p:sp>
        <p:nvSpPr>
          <p:cNvPr id="399" name="Google Shape;399;p21"/>
          <p:cNvSpPr txBox="1"/>
          <p:nvPr/>
        </p:nvSpPr>
        <p:spPr>
          <a:xfrm>
            <a:off x="600304" y="3270809"/>
            <a:ext cx="4857750" cy="123901"/>
          </a:xfrm>
          <a:prstGeom prst="rect">
            <a:avLst/>
          </a:prstGeom>
          <a:noFill/>
          <a:ln>
            <a:noFill/>
          </a:ln>
        </p:spPr>
        <p:txBody>
          <a:bodyPr spcFirstLastPara="1" wrap="square" lIns="0" tIns="0" rIns="0" bIns="0" anchor="ctr" anchorCtr="0">
            <a:noAutofit/>
          </a:bodyPr>
          <a:lstStyle/>
          <a:p>
            <a:pPr>
              <a:buClr>
                <a:srgbClr val="A1A09A"/>
              </a:buClr>
              <a:buSzPts val="1350"/>
            </a:pPr>
            <a:r>
              <a:rPr lang="en-US" sz="675" i="1">
                <a:solidFill>
                  <a:srgbClr val="EEEEEE"/>
                </a:solidFill>
                <a:latin typeface="Arial"/>
                <a:ea typeface="Arial"/>
                <a:cs typeface="Arial"/>
                <a:sym typeface="Arial"/>
              </a:rPr>
              <a:t>Readyset solves the first. You're on your own for the second.</a:t>
            </a:r>
            <a:endParaRPr sz="675">
              <a:solidFill>
                <a:schemeClr val="dk1"/>
              </a:solidFill>
              <a:latin typeface="Arial"/>
              <a:ea typeface="Arial"/>
              <a:cs typeface="Arial"/>
              <a:sym typeface="Arial"/>
            </a:endParaRPr>
          </a:p>
        </p:txBody>
      </p:sp>
      <p:sp>
        <p:nvSpPr>
          <p:cNvPr id="400" name="Google Shape;400;p21"/>
          <p:cNvSpPr txBox="1"/>
          <p:nvPr/>
        </p:nvSpPr>
        <p:spPr>
          <a:xfrm>
            <a:off x="600304" y="3743554"/>
            <a:ext cx="4857750"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999999"/>
                </a:solidFill>
                <a:latin typeface="Arial"/>
                <a:ea typeface="Arial"/>
                <a:cs typeface="Arial"/>
                <a:sym typeface="IBM Plex Mono"/>
              </a:rPr>
              <a:t>two modes</a:t>
            </a:r>
            <a:endParaRPr sz="525">
              <a:solidFill>
                <a:schemeClr val="dk1"/>
              </a:solidFill>
              <a:latin typeface="Arial"/>
              <a:ea typeface="Arial"/>
              <a:cs typeface="Arial"/>
              <a:sym typeface="Arial"/>
            </a:endParaRPr>
          </a:p>
        </p:txBody>
      </p:sp>
      <p:sp>
        <p:nvSpPr>
          <p:cNvPr id="401" name="Google Shape;401;p21"/>
          <p:cNvSpPr txBox="1"/>
          <p:nvPr/>
        </p:nvSpPr>
        <p:spPr>
          <a:xfrm>
            <a:off x="600304" y="3895801"/>
            <a:ext cx="2352751" cy="138532"/>
          </a:xfrm>
          <a:prstGeom prst="rect">
            <a:avLst/>
          </a:prstGeom>
          <a:noFill/>
          <a:ln>
            <a:noFill/>
          </a:ln>
        </p:spPr>
        <p:txBody>
          <a:bodyPr spcFirstLastPara="1" wrap="square" lIns="0" tIns="0" rIns="0" bIns="0" anchor="ctr" anchorCtr="0">
            <a:noAutofit/>
          </a:bodyPr>
          <a:lstStyle/>
          <a:p>
            <a:pPr>
              <a:buClr>
                <a:srgbClr val="161615"/>
              </a:buClr>
              <a:buSzPts val="1800"/>
            </a:pPr>
            <a:r>
              <a:rPr lang="en-US" sz="900" b="1">
                <a:solidFill>
                  <a:srgbClr val="161615"/>
                </a:solidFill>
                <a:latin typeface="Arial"/>
                <a:ea typeface="Arial"/>
                <a:cs typeface="Arial"/>
                <a:sym typeface="Arial"/>
              </a:rPr>
              <a:t>Shallow Caching</a:t>
            </a:r>
            <a:endParaRPr sz="900">
              <a:solidFill>
                <a:schemeClr val="dk1"/>
              </a:solidFill>
              <a:latin typeface="Arial"/>
              <a:ea typeface="Arial"/>
              <a:cs typeface="Arial"/>
              <a:sym typeface="Arial"/>
            </a:endParaRPr>
          </a:p>
        </p:txBody>
      </p:sp>
      <p:sp>
        <p:nvSpPr>
          <p:cNvPr id="402" name="Google Shape;402;p21"/>
          <p:cNvSpPr txBox="1"/>
          <p:nvPr/>
        </p:nvSpPr>
        <p:spPr>
          <a:xfrm>
            <a:off x="600304" y="4053078"/>
            <a:ext cx="2695651" cy="109728"/>
          </a:xfrm>
          <a:prstGeom prst="rect">
            <a:avLst/>
          </a:prstGeom>
          <a:noFill/>
          <a:ln>
            <a:noFill/>
          </a:ln>
        </p:spPr>
        <p:txBody>
          <a:bodyPr spcFirstLastPara="1" wrap="square" lIns="0" tIns="0" rIns="0" bIns="0" anchor="ctr" anchorCtr="0">
            <a:noAutofit/>
          </a:bodyPr>
          <a:lstStyle/>
          <a:p>
            <a:pPr>
              <a:buClr>
                <a:srgbClr val="706E6C"/>
              </a:buClr>
              <a:buSzPts val="1275"/>
            </a:pPr>
            <a:r>
              <a:rPr lang="en-US" sz="638">
                <a:solidFill>
                  <a:srgbClr val="706E6C"/>
                </a:solidFill>
                <a:latin typeface="Arial"/>
                <a:ea typeface="Arial"/>
                <a:cs typeface="Arial"/>
                <a:sym typeface="Arial"/>
              </a:rPr>
              <a:t>TTL-based result cache. Lightweight setup, broad coverage.</a:t>
            </a:r>
            <a:endParaRPr sz="638">
              <a:solidFill>
                <a:schemeClr val="dk1"/>
              </a:solidFill>
              <a:latin typeface="Arial"/>
              <a:ea typeface="Arial"/>
              <a:cs typeface="Arial"/>
              <a:sym typeface="Arial"/>
            </a:endParaRPr>
          </a:p>
        </p:txBody>
      </p:sp>
      <p:sp>
        <p:nvSpPr>
          <p:cNvPr id="403" name="Google Shape;403;p21"/>
          <p:cNvSpPr txBox="1"/>
          <p:nvPr/>
        </p:nvSpPr>
        <p:spPr>
          <a:xfrm>
            <a:off x="3105303" y="3895801"/>
            <a:ext cx="2352751" cy="138532"/>
          </a:xfrm>
          <a:prstGeom prst="rect">
            <a:avLst/>
          </a:prstGeom>
          <a:noFill/>
          <a:ln>
            <a:noFill/>
          </a:ln>
        </p:spPr>
        <p:txBody>
          <a:bodyPr spcFirstLastPara="1" wrap="square" lIns="0" tIns="0" rIns="0" bIns="0" anchor="ctr" anchorCtr="0">
            <a:noAutofit/>
          </a:bodyPr>
          <a:lstStyle/>
          <a:p>
            <a:pPr>
              <a:buClr>
                <a:srgbClr val="161615"/>
              </a:buClr>
              <a:buSzPts val="1800"/>
            </a:pPr>
            <a:r>
              <a:rPr lang="en-US" sz="900" b="1">
                <a:solidFill>
                  <a:srgbClr val="161615"/>
                </a:solidFill>
                <a:latin typeface="Arial"/>
                <a:ea typeface="Arial"/>
                <a:cs typeface="Arial"/>
                <a:sym typeface="Arial"/>
              </a:rPr>
              <a:t>Deep Caching</a:t>
            </a:r>
            <a:endParaRPr sz="900">
              <a:solidFill>
                <a:schemeClr val="dk1"/>
              </a:solidFill>
              <a:latin typeface="Arial"/>
              <a:ea typeface="Arial"/>
              <a:cs typeface="Arial"/>
              <a:sym typeface="Arial"/>
            </a:endParaRPr>
          </a:p>
        </p:txBody>
      </p:sp>
      <p:sp>
        <p:nvSpPr>
          <p:cNvPr id="404" name="Google Shape;404;p21"/>
          <p:cNvSpPr txBox="1"/>
          <p:nvPr/>
        </p:nvSpPr>
        <p:spPr>
          <a:xfrm>
            <a:off x="3105303" y="4053078"/>
            <a:ext cx="2611984" cy="109728"/>
          </a:xfrm>
          <a:prstGeom prst="rect">
            <a:avLst/>
          </a:prstGeom>
          <a:noFill/>
          <a:ln>
            <a:noFill/>
          </a:ln>
        </p:spPr>
        <p:txBody>
          <a:bodyPr spcFirstLastPara="1" wrap="square" lIns="0" tIns="0" rIns="0" bIns="0" anchor="ctr" anchorCtr="0">
            <a:noAutofit/>
          </a:bodyPr>
          <a:lstStyle/>
          <a:p>
            <a:pPr>
              <a:buClr>
                <a:srgbClr val="706E6C"/>
              </a:buClr>
              <a:buSzPts val="1275"/>
            </a:pPr>
            <a:r>
              <a:rPr lang="en-US" sz="638">
                <a:solidFill>
                  <a:srgbClr val="706E6C"/>
                </a:solidFill>
                <a:latin typeface="Arial"/>
                <a:ea typeface="Arial"/>
                <a:cs typeface="Arial"/>
                <a:sym typeface="Arial"/>
              </a:rPr>
              <a:t>Incremental dataflow via CDC/IVM — always consistent.</a:t>
            </a:r>
            <a:endParaRPr sz="638">
              <a:solidFill>
                <a:schemeClr val="dk1"/>
              </a:solidFill>
              <a:latin typeface="Arial"/>
              <a:ea typeface="Arial"/>
              <a:cs typeface="Arial"/>
              <a:sym typeface="Arial"/>
            </a:endParaRPr>
          </a:p>
        </p:txBody>
      </p:sp>
      <p:sp>
        <p:nvSpPr>
          <p:cNvPr id="405" name="Google Shape;405;p21"/>
          <p:cNvSpPr txBox="1"/>
          <p:nvPr/>
        </p:nvSpPr>
        <p:spPr>
          <a:xfrm>
            <a:off x="5933999" y="1647749"/>
            <a:ext cx="2381555" cy="85954"/>
          </a:xfrm>
          <a:prstGeom prst="rect">
            <a:avLst/>
          </a:prstGeom>
          <a:noFill/>
          <a:ln>
            <a:noFill/>
          </a:ln>
        </p:spPr>
        <p:txBody>
          <a:bodyPr spcFirstLastPara="1" wrap="square" lIns="0" tIns="0" rIns="0" bIns="0" anchor="ctr" anchorCtr="0">
            <a:noAutofit/>
          </a:bodyPr>
          <a:lstStyle/>
          <a:p>
            <a:pPr>
              <a:buClr>
                <a:srgbClr val="999999"/>
              </a:buClr>
              <a:buSzPts val="1050"/>
            </a:pPr>
            <a:r>
              <a:rPr lang="en-US" sz="525">
                <a:solidFill>
                  <a:srgbClr val="999999"/>
                </a:solidFill>
                <a:latin typeface="Arial"/>
                <a:ea typeface="Arial"/>
                <a:cs typeface="Arial"/>
                <a:sym typeface="IBM Plex Mono"/>
              </a:rPr>
              <a:t>paper — OSDI '18</a:t>
            </a:r>
            <a:endParaRPr sz="525">
              <a:solidFill>
                <a:schemeClr val="dk1"/>
              </a:solidFill>
              <a:latin typeface="Arial"/>
              <a:ea typeface="Arial"/>
              <a:cs typeface="Arial"/>
              <a:sym typeface="Arial"/>
            </a:endParaRPr>
          </a:p>
        </p:txBody>
      </p:sp>
      <p:sp>
        <p:nvSpPr>
          <p:cNvPr id="406" name="Google Shape;406;p21"/>
          <p:cNvSpPr txBox="1"/>
          <p:nvPr/>
        </p:nvSpPr>
        <p:spPr>
          <a:xfrm>
            <a:off x="5933999" y="1781251"/>
            <a:ext cx="2381555" cy="495605"/>
          </a:xfrm>
          <a:prstGeom prst="rect">
            <a:avLst/>
          </a:prstGeom>
          <a:noFill/>
          <a:ln>
            <a:noFill/>
          </a:ln>
        </p:spPr>
        <p:txBody>
          <a:bodyPr spcFirstLastPara="1" wrap="square" lIns="0" tIns="0" rIns="0" bIns="0" anchor="ctr" anchorCtr="0">
            <a:noAutofit/>
          </a:bodyPr>
          <a:lstStyle/>
          <a:p>
            <a:pPr>
              <a:lnSpc>
                <a:spcPct val="115000"/>
              </a:lnSpc>
              <a:buClr>
                <a:srgbClr val="161615"/>
              </a:buClr>
              <a:buSzPts val="2250"/>
            </a:pPr>
            <a:r>
              <a:rPr lang="en-US" sz="1125" b="1">
                <a:solidFill>
                  <a:srgbClr val="161615"/>
                </a:solidFill>
                <a:latin typeface="Arial"/>
                <a:ea typeface="Arial"/>
                <a:cs typeface="Arial"/>
                <a:sym typeface="Arial"/>
              </a:rPr>
              <a:t>Noria: dynamic, partially stateful data-flow for high performance web applications</a:t>
            </a:r>
            <a:endParaRPr sz="1125">
              <a:solidFill>
                <a:schemeClr val="dk1"/>
              </a:solidFill>
              <a:latin typeface="Arial"/>
              <a:ea typeface="Arial"/>
              <a:cs typeface="Arial"/>
              <a:sym typeface="Arial"/>
            </a:endParaRPr>
          </a:p>
        </p:txBody>
      </p:sp>
      <p:sp>
        <p:nvSpPr>
          <p:cNvPr id="407" name="Google Shape;407;p21"/>
          <p:cNvSpPr txBox="1"/>
          <p:nvPr/>
        </p:nvSpPr>
        <p:spPr>
          <a:xfrm>
            <a:off x="5933999" y="2312061"/>
            <a:ext cx="2381555" cy="105156"/>
          </a:xfrm>
          <a:prstGeom prst="rect">
            <a:avLst/>
          </a:prstGeom>
          <a:noFill/>
          <a:ln>
            <a:noFill/>
          </a:ln>
        </p:spPr>
        <p:txBody>
          <a:bodyPr spcFirstLastPara="1" wrap="square" lIns="0" tIns="0" rIns="0" bIns="0" anchor="ctr" anchorCtr="0">
            <a:noAutofit/>
          </a:bodyPr>
          <a:lstStyle/>
          <a:p>
            <a:pPr>
              <a:buClr>
                <a:srgbClr val="706E6C"/>
              </a:buClr>
              <a:buSzPts val="1200"/>
            </a:pPr>
            <a:r>
              <a:rPr lang="en-US" sz="600">
                <a:solidFill>
                  <a:srgbClr val="706E6C"/>
                </a:solidFill>
                <a:latin typeface="Arial"/>
                <a:ea typeface="Arial"/>
                <a:cs typeface="Arial"/>
                <a:sym typeface="Arial"/>
              </a:rPr>
              <a:t>Jon Gjengset - MIT PDOS · 2018</a:t>
            </a:r>
            <a:endParaRPr sz="600">
              <a:solidFill>
                <a:schemeClr val="dk1"/>
              </a:solidFill>
              <a:latin typeface="Arial"/>
              <a:ea typeface="Arial"/>
              <a:cs typeface="Arial"/>
              <a:sym typeface="Arial"/>
            </a:endParaRPr>
          </a:p>
        </p:txBody>
      </p:sp>
      <p:pic>
        <p:nvPicPr>
          <p:cNvPr id="408" name="Google Shape;408;p21" descr="gen-dedup-6435ea99b289bb3a42882b94058d33db.jpg"/>
          <p:cNvPicPr preferRelativeResize="0"/>
          <p:nvPr/>
        </p:nvPicPr>
        <p:blipFill rotWithShape="1">
          <a:blip r:embed="rId3">
            <a:alphaModFix/>
          </a:blip>
          <a:srcRect/>
          <a:stretch/>
        </p:blipFill>
        <p:spPr>
          <a:xfrm>
            <a:off x="6743700" y="2762403"/>
            <a:ext cx="952348" cy="952348"/>
          </a:xfrm>
          <a:prstGeom prst="rect">
            <a:avLst/>
          </a:prstGeom>
          <a:noFill/>
          <a:ln>
            <a:noFill/>
          </a:ln>
        </p:spPr>
      </p:pic>
      <p:sp>
        <p:nvSpPr>
          <p:cNvPr id="409" name="Google Shape;409;p21"/>
          <p:cNvSpPr txBox="1"/>
          <p:nvPr/>
        </p:nvSpPr>
        <p:spPr>
          <a:xfrm>
            <a:off x="5933999" y="3762299"/>
            <a:ext cx="2381555" cy="85954"/>
          </a:xfrm>
          <a:prstGeom prst="rect">
            <a:avLst/>
          </a:prstGeom>
          <a:noFill/>
          <a:ln>
            <a:noFill/>
          </a:ln>
        </p:spPr>
        <p:txBody>
          <a:bodyPr spcFirstLastPara="1" wrap="square" lIns="0" tIns="0" rIns="0" bIns="0" anchor="ctr" anchorCtr="0">
            <a:noAutofit/>
          </a:bodyPr>
          <a:lstStyle/>
          <a:p>
            <a:pPr algn="ctr">
              <a:buClr>
                <a:srgbClr val="706E6C"/>
              </a:buClr>
              <a:buSzPts val="1050"/>
            </a:pPr>
            <a:r>
              <a:rPr lang="en-US" sz="525">
                <a:solidFill>
                  <a:srgbClr val="706E6C"/>
                </a:solidFill>
                <a:latin typeface="Arial"/>
                <a:ea typeface="Arial"/>
                <a:cs typeface="Arial"/>
                <a:sym typeface="IBM Plex Mono"/>
              </a:rPr>
              <a:t>pdos.csail.mit.edu/papers/noria:osdi18.pdf</a:t>
            </a:r>
            <a:endParaRPr sz="525">
              <a:solidFill>
                <a:schemeClr val="dk1"/>
              </a:solidFill>
              <a:latin typeface="Arial"/>
              <a:ea typeface="Arial"/>
              <a:cs typeface="Arial"/>
              <a:sym typeface="Arial"/>
            </a:endParaRPr>
          </a:p>
        </p:txBody>
      </p:sp>
      <p:sp>
        <p:nvSpPr>
          <p:cNvPr id="410" name="Google Shape;410;p21"/>
          <p:cNvSpPr txBox="1"/>
          <p:nvPr/>
        </p:nvSpPr>
        <p:spPr>
          <a:xfrm>
            <a:off x="5933999" y="4181551"/>
            <a:ext cx="2381555" cy="71781"/>
          </a:xfrm>
          <a:prstGeom prst="rect">
            <a:avLst/>
          </a:prstGeom>
          <a:noFill/>
          <a:ln>
            <a:noFill/>
          </a:ln>
        </p:spPr>
        <p:txBody>
          <a:bodyPr spcFirstLastPara="1" wrap="square" lIns="0" tIns="0" rIns="0" bIns="0" anchor="ctr" anchorCtr="0">
            <a:noAutofit/>
          </a:bodyPr>
          <a:lstStyle/>
          <a:p>
            <a:pPr>
              <a:buClr>
                <a:srgbClr val="999999"/>
              </a:buClr>
              <a:buSzPts val="900"/>
            </a:pPr>
            <a:r>
              <a:rPr lang="en-US" sz="450">
                <a:solidFill>
                  <a:srgbClr val="EEEEEE"/>
                </a:solidFill>
                <a:latin typeface="Arial"/>
                <a:ea typeface="Arial"/>
                <a:cs typeface="Arial"/>
                <a:sym typeface="IBM Plex Mono"/>
              </a:rPr>
              <a:t>open source</a:t>
            </a:r>
            <a:endParaRPr sz="450">
              <a:solidFill>
                <a:schemeClr val="dk1"/>
              </a:solidFill>
              <a:latin typeface="Arial"/>
              <a:ea typeface="Arial"/>
              <a:cs typeface="Arial"/>
              <a:sym typeface="Arial"/>
            </a:endParaRPr>
          </a:p>
        </p:txBody>
      </p:sp>
      <p:sp>
        <p:nvSpPr>
          <p:cNvPr id="411" name="Google Shape;411;p21"/>
          <p:cNvSpPr txBox="1"/>
          <p:nvPr/>
        </p:nvSpPr>
        <p:spPr>
          <a:xfrm>
            <a:off x="5933999" y="4281678"/>
            <a:ext cx="2381555" cy="138532"/>
          </a:xfrm>
          <a:prstGeom prst="rect">
            <a:avLst/>
          </a:prstGeom>
          <a:noFill/>
          <a:ln>
            <a:noFill/>
          </a:ln>
        </p:spPr>
        <p:txBody>
          <a:bodyPr spcFirstLastPara="1" wrap="square" lIns="0" tIns="0" rIns="0" bIns="0" anchor="ctr" anchorCtr="0">
            <a:noAutofit/>
          </a:bodyPr>
          <a:lstStyle/>
          <a:p>
            <a:pPr>
              <a:buClr>
                <a:srgbClr val="EDEDEC"/>
              </a:buClr>
              <a:buSzPts val="1650"/>
            </a:pPr>
            <a:r>
              <a:rPr lang="en-US" sz="825">
                <a:solidFill>
                  <a:srgbClr val="EDEDEC"/>
                </a:solidFill>
                <a:latin typeface="Arial"/>
                <a:ea typeface="Arial"/>
                <a:cs typeface="Arial"/>
                <a:sym typeface="IBM Plex Mono"/>
              </a:rPr>
              <a:t>github.com/readysettech/readyset</a:t>
            </a:r>
            <a:endParaRPr sz="825">
              <a:solidFill>
                <a:schemeClr val="dk1"/>
              </a:solidFill>
              <a:latin typeface="Arial"/>
              <a:ea typeface="Arial"/>
              <a:cs typeface="Arial"/>
              <a:sym typeface="Arial"/>
            </a:endParaRPr>
          </a:p>
        </p:txBody>
      </p:sp>
      <p:pic>
        <p:nvPicPr>
          <p:cNvPr id="9022" name="Readyset standard logo 22"/>
          <p:cNvPicPr>
            <a:picLocks noChangeAspect="1"/>
          </p:cNvPicPr>
          <p:nvPr/>
        </p:nvPicPr>
        <p:blipFill>
          <a:blip r:embed="rId4"/>
          <a:stretch/>
        </p:blipFill>
        <p:spPr>
          <a:xfrm>
            <a:off x="457200" y="239275"/>
            <a:ext cx="952500" cy="216776"/>
          </a:xfrm>
          <a:prstGeom prst="rect">
            <a:avLst/>
          </a:prstGeom>
        </p:spPr>
      </p:pic>
      <p:sp>
        <p:nvSpPr>
          <p:cNvPr id="952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6375BCB6-51B4-27A3-2EF0-265A92B0FB99}"/>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672F3752-F860-5773-1575-C306F7D02DFC}"/>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A5E8E7C5-40D5-F489-44D9-45953ACCF5DB}"/>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lang="pt-BR" sz="4275" b="1" dirty="0" err="1">
                <a:solidFill>
                  <a:srgbClr val="EDEDEC"/>
                </a:solidFill>
                <a:latin typeface="Arial"/>
                <a:ea typeface="Arial"/>
                <a:cs typeface="Arial"/>
              </a:rPr>
              <a:t>Shallow</a:t>
            </a:r>
            <a:r>
              <a:rPr lang="pt-BR" sz="4275" b="1" dirty="0">
                <a:solidFill>
                  <a:srgbClr val="EDEDEC"/>
                </a:solidFill>
                <a:latin typeface="Arial"/>
                <a:ea typeface="Arial"/>
                <a:cs typeface="Arial"/>
              </a:rPr>
              <a:t> </a:t>
            </a:r>
            <a:r>
              <a:rPr lang="pt-BR" sz="4275" b="1" dirty="0" err="1">
                <a:solidFill>
                  <a:srgbClr val="EDEDEC"/>
                </a:solidFill>
                <a:latin typeface="Arial"/>
                <a:ea typeface="Arial"/>
                <a:cs typeface="Arial"/>
              </a:rPr>
              <a:t>Caching</a:t>
            </a:r>
            <a:endParaRPr lang="en-BR" sz="4275" b="1" dirty="0">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5F6BF6A7-F8BD-2498-99BF-2E43B2CB339D}"/>
              </a:ext>
            </a:extLst>
          </p:cNvPr>
          <p:cNvPicPr>
            <a:picLocks noChangeAspect="1"/>
          </p:cNvPicPr>
          <p:nvPr/>
        </p:nvPicPr>
        <p:blipFill>
          <a:blip r:embed="rId4"/>
          <a:stretch/>
        </p:blipFill>
        <p:spPr>
          <a:xfrm>
            <a:off x="6905625" y="1823085"/>
            <a:ext cx="1619250" cy="1554480"/>
          </a:xfrm>
          <a:prstGeom prst="rect">
            <a:avLst/>
          </a:prstGeom>
        </p:spPr>
      </p:pic>
      <p:sp>
        <p:nvSpPr>
          <p:cNvPr id="9523"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23</a:t>
            </a:r>
          </a:p>
        </p:txBody>
      </p:sp>
    </p:spTree>
    <p:extLst>
      <p:ext uri="{BB962C8B-B14F-4D97-AF65-F5344CB8AC3E}">
        <p14:creationId xmlns:p14="http://schemas.microsoft.com/office/powerpoint/2010/main" val="391294346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9"/>
        <p:cNvGrpSpPr/>
        <p:nvPr/>
      </p:nvGrpSpPr>
      <p:grpSpPr>
        <a:xfrm>
          <a:off x="0" y="0"/>
          <a:ext cx="0" cy="0"/>
          <a:chOff x="0" y="0"/>
          <a:chExt cx="0" cy="0"/>
        </a:xfrm>
      </p:grpSpPr>
      <p:sp>
        <p:nvSpPr>
          <p:cNvPr id="450" name="Google Shape;450;p24"/>
          <p:cNvSpPr/>
          <p:nvPr/>
        </p:nvSpPr>
        <p:spPr>
          <a:xfrm>
            <a:off x="380848" y="1905153"/>
            <a:ext cx="8391449" cy="1629004"/>
          </a:xfrm>
          <a:prstGeom prst="roundRect">
            <a:avLst>
              <a:gd name="adj" fmla="val 350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51" name="Google Shape;451;p24"/>
          <p:cNvSpPr/>
          <p:nvPr/>
        </p:nvSpPr>
        <p:spPr>
          <a:xfrm>
            <a:off x="457200" y="4381348"/>
            <a:ext cx="8001000" cy="380848"/>
          </a:xfrm>
          <a:prstGeom prst="roundRect">
            <a:avLst>
              <a:gd name="adj" fmla="val 9964"/>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52" name="Google Shape;452;p24"/>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shallow caching · flow per request</a:t>
            </a:r>
            <a:endParaRPr sz="900" b="0">
              <a:solidFill>
                <a:srgbClr val="666666"/>
              </a:solidFill>
              <a:latin typeface="Arial"/>
              <a:ea typeface="Arial"/>
              <a:cs typeface="Arial"/>
              <a:sym typeface="Arial"/>
            </a:endParaRPr>
          </a:p>
        </p:txBody>
      </p:sp>
      <p:sp>
        <p:nvSpPr>
          <p:cNvPr id="454" name="Google Shape;454;p24"/>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A1A1A"/>
              </a:buClr>
              <a:buSzPts val="4500"/>
            </a:pPr>
            <a:r>
              <a:rPr lang="en-US" sz="2700" b="1">
                <a:solidFill>
                  <a:srgbClr val="171717"/>
                </a:solidFill>
                <a:latin typeface="Arial"/>
                <a:ea typeface="Arial"/>
                <a:cs typeface="Arial"/>
                <a:sym typeface="Arial"/>
              </a:rPr>
              <a:t>How a query moves through Readyset</a:t>
            </a:r>
            <a:endParaRPr sz="2700" b="1">
              <a:solidFill>
                <a:srgbClr val="171717"/>
              </a:solidFill>
              <a:latin typeface="Arial"/>
              <a:ea typeface="Arial"/>
              <a:cs typeface="Arial"/>
              <a:sym typeface="Arial"/>
            </a:endParaRPr>
          </a:p>
        </p:txBody>
      </p:sp>
      <p:sp>
        <p:nvSpPr>
          <p:cNvPr id="455" name="Google Shape;455;p24"/>
          <p:cNvSpPr txBox="1"/>
          <p:nvPr/>
        </p:nvSpPr>
        <p:spPr>
          <a:xfrm>
            <a:off x="457200" y="1381201"/>
            <a:ext cx="8001000" cy="128931"/>
          </a:xfrm>
          <a:prstGeom prst="rect">
            <a:avLst/>
          </a:prstGeom>
          <a:noFill/>
          <a:ln>
            <a:noFill/>
          </a:ln>
        </p:spPr>
        <p:txBody>
          <a:bodyPr spcFirstLastPara="1" wrap="square" lIns="0" tIns="0" rIns="0" bIns="0" anchor="ctr" anchorCtr="0">
            <a:noAutofit/>
          </a:bodyPr>
          <a:lstStyle/>
          <a:p>
            <a:pPr>
              <a:buClr>
                <a:srgbClr val="706E6C"/>
              </a:buClr>
              <a:buSzPts val="1500"/>
            </a:pPr>
            <a:r>
              <a:rPr lang="en-US" sz="750">
                <a:solidFill>
                  <a:srgbClr val="706E6C"/>
                </a:solidFill>
                <a:latin typeface="Arial"/>
                <a:ea typeface="Arial"/>
                <a:cs typeface="Arial"/>
                <a:sym typeface="IBM Plex Mono"/>
              </a:rPr>
              <a:t>TTL-based result cache · </a:t>
            </a:r>
            <a:r>
              <a:rPr lang="en-US" sz="750">
                <a:solidFill>
                  <a:srgbClr val="555555"/>
                </a:solidFill>
                <a:latin typeface="Arial"/>
                <a:ea typeface="Arial"/>
                <a:cs typeface="Arial"/>
                <a:sym typeface="IBM Plex Mono"/>
              </a:rPr>
              <a:t>asynchronous background refresh</a:t>
            </a:r>
            <a:r>
              <a:rPr lang="en-US" sz="750">
                <a:solidFill>
                  <a:srgbClr val="706E6C"/>
                </a:solidFill>
                <a:latin typeface="Arial"/>
                <a:ea typeface="Arial"/>
                <a:cs typeface="Arial"/>
                <a:sym typeface="IBM Plex Mono"/>
              </a:rPr>
              <a:t> · the user always sees sub-ms</a:t>
            </a:r>
            <a:endParaRPr sz="750">
              <a:solidFill>
                <a:schemeClr val="dk1"/>
              </a:solidFill>
              <a:latin typeface="Arial"/>
              <a:ea typeface="Arial"/>
              <a:cs typeface="Arial"/>
              <a:sym typeface="Arial"/>
            </a:endParaRPr>
          </a:p>
        </p:txBody>
      </p:sp>
      <p:sp>
        <p:nvSpPr>
          <p:cNvPr id="456" name="Google Shape;456;p24"/>
          <p:cNvSpPr txBox="1"/>
          <p:nvPr/>
        </p:nvSpPr>
        <p:spPr>
          <a:xfrm>
            <a:off x="457200" y="3333903"/>
            <a:ext cx="8001000" cy="90526"/>
          </a:xfrm>
          <a:prstGeom prst="rect">
            <a:avLst/>
          </a:prstGeom>
          <a:noFill/>
          <a:ln>
            <a:noFill/>
          </a:ln>
        </p:spPr>
        <p:txBody>
          <a:bodyPr spcFirstLastPara="1" wrap="square" lIns="0" tIns="0" rIns="0" bIns="0" anchor="ctr" anchorCtr="0">
            <a:noAutofit/>
          </a:bodyPr>
          <a:lstStyle/>
          <a:p>
            <a:pPr algn="ctr">
              <a:buClr>
                <a:srgbClr val="555555"/>
              </a:buClr>
              <a:buSzPts val="1125"/>
            </a:pPr>
            <a:r>
              <a:rPr lang="en-US" sz="563">
                <a:solidFill>
                  <a:srgbClr val="555555"/>
                </a:solidFill>
                <a:latin typeface="Arial"/>
                <a:ea typeface="Arial"/>
                <a:cs typeface="Arial"/>
                <a:sym typeface="IBM Plex Mono"/>
              </a:rPr>
              <a:t>Proxy</a:t>
            </a:r>
            <a:r>
              <a:rPr lang="en-US" sz="563">
                <a:solidFill>
                  <a:srgbClr val="706E6C"/>
                </a:solidFill>
                <a:latin typeface="Arial"/>
                <a:ea typeface="Arial"/>
                <a:cs typeface="Arial"/>
                <a:sym typeface="IBM Plex Mono"/>
              </a:rPr>
              <a:t> intercepts the query · </a:t>
            </a:r>
            <a:r>
              <a:rPr lang="en-US" sz="563">
                <a:solidFill>
                  <a:srgbClr val="161615"/>
                </a:solidFill>
                <a:latin typeface="Arial"/>
                <a:ea typeface="Arial"/>
                <a:cs typeface="Arial"/>
                <a:sym typeface="IBM Plex Mono"/>
              </a:rPr>
              <a:t>KV cache</a:t>
            </a:r>
            <a:r>
              <a:rPr lang="en-US" sz="563">
                <a:solidFill>
                  <a:srgbClr val="706E6C"/>
                </a:solidFill>
                <a:latin typeface="Arial"/>
                <a:ea typeface="Arial"/>
                <a:cs typeface="Arial"/>
                <a:sym typeface="IBM Plex Mono"/>
              </a:rPr>
              <a:t> stores the result set · </a:t>
            </a:r>
            <a:r>
              <a:rPr lang="en-US" sz="563">
                <a:solidFill>
                  <a:srgbClr val="161615"/>
                </a:solidFill>
                <a:latin typeface="Arial"/>
                <a:ea typeface="Arial"/>
                <a:cs typeface="Arial"/>
                <a:sym typeface="IBM Plex Mono"/>
              </a:rPr>
              <a:t>refresher</a:t>
            </a:r>
            <a:r>
              <a:rPr lang="en-US" sz="563">
                <a:solidFill>
                  <a:srgbClr val="706E6C"/>
                </a:solidFill>
                <a:latin typeface="Arial"/>
                <a:ea typeface="Arial"/>
                <a:cs typeface="Arial"/>
                <a:sym typeface="IBM Plex Mono"/>
              </a:rPr>
              <a:t> updates the entry in the background, off the user's path</a:t>
            </a:r>
            <a:endParaRPr sz="563">
              <a:solidFill>
                <a:schemeClr val="dk1"/>
              </a:solidFill>
              <a:latin typeface="Arial"/>
              <a:ea typeface="Arial"/>
              <a:cs typeface="Arial"/>
              <a:sym typeface="Arial"/>
            </a:endParaRPr>
          </a:p>
        </p:txBody>
      </p:sp>
      <p:sp>
        <p:nvSpPr>
          <p:cNvPr id="457" name="Google Shape;457;p24"/>
          <p:cNvSpPr txBox="1"/>
          <p:nvPr/>
        </p:nvSpPr>
        <p:spPr>
          <a:xfrm>
            <a:off x="600304" y="4448099"/>
            <a:ext cx="7715250"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outcome</a:t>
            </a:r>
            <a:endParaRPr sz="488">
              <a:solidFill>
                <a:schemeClr val="dk1"/>
              </a:solidFill>
              <a:latin typeface="Arial"/>
              <a:ea typeface="Arial"/>
              <a:cs typeface="Arial"/>
              <a:sym typeface="Arial"/>
            </a:endParaRPr>
          </a:p>
        </p:txBody>
      </p:sp>
      <p:sp>
        <p:nvSpPr>
          <p:cNvPr id="458" name="Google Shape;458;p24"/>
          <p:cNvSpPr txBox="1"/>
          <p:nvPr/>
        </p:nvSpPr>
        <p:spPr>
          <a:xfrm>
            <a:off x="600304" y="4548226"/>
            <a:ext cx="8058150" cy="138532"/>
          </a:xfrm>
          <a:prstGeom prst="rect">
            <a:avLst/>
          </a:prstGeom>
          <a:noFill/>
          <a:ln>
            <a:noFill/>
          </a:ln>
        </p:spPr>
        <p:txBody>
          <a:bodyPr spcFirstLastPara="1" wrap="square" lIns="0" tIns="0" rIns="0" bIns="0" anchor="ctr" anchorCtr="0">
            <a:noAutofit/>
          </a:bodyPr>
          <a:lstStyle/>
          <a:p>
            <a:pPr>
              <a:buClr>
                <a:srgbClr val="EDEDEC"/>
              </a:buClr>
              <a:buSzPts val="1650"/>
            </a:pPr>
            <a:r>
              <a:rPr lang="en-US" sz="825">
                <a:solidFill>
                  <a:srgbClr val="EDEDEC"/>
                </a:solidFill>
                <a:latin typeface="Arial"/>
                <a:ea typeface="Arial"/>
                <a:cs typeface="Arial"/>
                <a:sym typeface="Arial"/>
              </a:rPr>
              <a:t>Stale entry → the user gets the cached value </a:t>
            </a:r>
            <a:r>
              <a:rPr lang="en-US" sz="825" b="1">
                <a:solidFill>
                  <a:srgbClr val="555555"/>
                </a:solidFill>
                <a:latin typeface="Arial"/>
                <a:ea typeface="Arial"/>
                <a:cs typeface="Arial"/>
                <a:sym typeface="Arial"/>
              </a:rPr>
              <a:t>immediately</a:t>
            </a:r>
            <a:r>
              <a:rPr lang="en-US" sz="825">
                <a:solidFill>
                  <a:srgbClr val="EDEDEC"/>
                </a:solidFill>
                <a:latin typeface="Arial"/>
                <a:ea typeface="Arial"/>
                <a:cs typeface="Arial"/>
                <a:sym typeface="Arial"/>
              </a:rPr>
              <a:t> while Readyset refreshes it in the background. No stampede, no tail latency.</a:t>
            </a:r>
            <a:endParaRPr sz="825">
              <a:solidFill>
                <a:schemeClr val="dk1"/>
              </a:solidFill>
              <a:latin typeface="Arial"/>
              <a:ea typeface="Arial"/>
              <a:cs typeface="Arial"/>
              <a:sym typeface="Arial"/>
            </a:endParaRPr>
          </a:p>
        </p:txBody>
      </p:sp>
      <p:pic>
        <p:nvPicPr>
          <p:cNvPr id="461" name="Google Shape;461;p24" descr="gen-dedup-3c106051117ffc1ac2e7d54e60e2941e.png"/>
          <p:cNvPicPr preferRelativeResize="0"/>
          <p:nvPr/>
        </p:nvPicPr>
        <p:blipFill rotWithShape="1">
          <a:blip r:embed="rId3">
            <a:alphaModFix/>
          </a:blip>
          <a:srcRect/>
          <a:stretch/>
        </p:blipFill>
        <p:spPr>
          <a:xfrm>
            <a:off x="386334" y="2081632"/>
            <a:ext cx="8425577" cy="1004926"/>
          </a:xfrm>
          <a:prstGeom prst="rect">
            <a:avLst/>
          </a:prstGeom>
          <a:noFill/>
          <a:ln>
            <a:noFill/>
          </a:ln>
        </p:spPr>
      </p:pic>
      <p:pic>
        <p:nvPicPr>
          <p:cNvPr id="9024" name="Readyset standard logo 24"/>
          <p:cNvPicPr>
            <a:picLocks noChangeAspect="1"/>
          </p:cNvPicPr>
          <p:nvPr/>
        </p:nvPicPr>
        <p:blipFill>
          <a:blip r:embed="rId4"/>
          <a:stretch/>
        </p:blipFill>
        <p:spPr>
          <a:xfrm>
            <a:off x="457200" y="239275"/>
            <a:ext cx="952500" cy="216776"/>
          </a:xfrm>
          <a:prstGeom prst="rect">
            <a:avLst/>
          </a:prstGeom>
        </p:spPr>
      </p:pic>
      <p:sp>
        <p:nvSpPr>
          <p:cNvPr id="952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6"/>
        <p:cNvGrpSpPr/>
        <p:nvPr/>
      </p:nvGrpSpPr>
      <p:grpSpPr>
        <a:xfrm>
          <a:off x="0" y="0"/>
          <a:ext cx="0" cy="0"/>
          <a:chOff x="0" y="0"/>
          <a:chExt cx="0" cy="0"/>
        </a:xfrm>
      </p:grpSpPr>
      <p:sp>
        <p:nvSpPr>
          <p:cNvPr id="468" name="Google Shape;468;p25"/>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 shallow cache · what the application stops doing</a:t>
            </a:r>
            <a:endParaRPr sz="900" b="0">
              <a:solidFill>
                <a:srgbClr val="666666"/>
              </a:solidFill>
              <a:latin typeface="Arial"/>
              <a:ea typeface="Arial"/>
              <a:cs typeface="Arial"/>
              <a:sym typeface="Arial"/>
            </a:endParaRPr>
          </a:p>
        </p:txBody>
      </p:sp>
      <p:sp>
        <p:nvSpPr>
          <p:cNvPr id="469" name="Google Shape;469;p25"/>
          <p:cNvSpPr txBox="1"/>
          <p:nvPr/>
        </p:nvSpPr>
        <p:spPr>
          <a:xfrm>
            <a:off x="457200" y="790575"/>
            <a:ext cx="8229600" cy="819150"/>
          </a:xfrm>
          <a:prstGeom prst="rect">
            <a:avLst/>
          </a:prstGeom>
          <a:noFill/>
          <a:ln>
            <a:noFill/>
          </a:ln>
        </p:spPr>
        <p:txBody>
          <a:bodyPr spcFirstLastPara="1" wrap="square" lIns="0" tIns="0" rIns="0" bIns="0" anchor="t" anchorCtr="0">
            <a:noAutofit/>
          </a:bodyPr>
          <a:lstStyle/>
          <a:p>
            <a:pPr algn="l">
              <a:buClr>
                <a:srgbClr val="161615"/>
              </a:buClr>
              <a:buSzPts val="4500"/>
            </a:pPr>
            <a:r>
              <a:rPr lang="en-US" sz="2700" b="1">
                <a:solidFill>
                  <a:srgbClr val="171717"/>
                </a:solidFill>
                <a:latin typeface="Arial"/>
                <a:ea typeface="Arial"/>
                <a:cs typeface="Arial"/>
                <a:sym typeface="Arial"/>
              </a:rPr>
              <a:t>Traditional: the application is the cache.</a:t>
            </a:r>
            <a:endParaRPr sz="2700" b="1">
              <a:solidFill>
                <a:srgbClr val="171717"/>
              </a:solidFill>
              <a:latin typeface="Arial"/>
              <a:ea typeface="Arial"/>
              <a:cs typeface="Arial"/>
              <a:sym typeface="Arial"/>
            </a:endParaRPr>
          </a:p>
          <a:p>
            <a:pPr algn="l">
              <a:buClr>
                <a:srgbClr val="161615"/>
              </a:buClr>
              <a:buSzPts val="4500"/>
            </a:pPr>
            <a:r>
              <a:rPr lang="en-US" sz="2700" b="1">
                <a:solidFill>
                  <a:srgbClr val="171717"/>
                </a:solidFill>
                <a:latin typeface="Arial"/>
                <a:ea typeface="Arial"/>
                <a:cs typeface="Arial"/>
                <a:sym typeface="Arial"/>
              </a:rPr>
              <a:t>Readyset: SQL is the cache.</a:t>
            </a:r>
            <a:endParaRPr sz="2700" b="1">
              <a:solidFill>
                <a:srgbClr val="171717"/>
              </a:solidFill>
              <a:latin typeface="Arial"/>
              <a:ea typeface="Arial"/>
              <a:cs typeface="Arial"/>
              <a:sym typeface="Arial"/>
            </a:endParaRPr>
          </a:p>
        </p:txBody>
      </p:sp>
      <p:sp>
        <p:nvSpPr>
          <p:cNvPr id="470" name="Google Shape;470;p25"/>
          <p:cNvSpPr/>
          <p:nvPr/>
        </p:nvSpPr>
        <p:spPr>
          <a:xfrm>
            <a:off x="457200" y="1790548"/>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1" name="Google Shape;471;p25"/>
          <p:cNvSpPr txBox="1"/>
          <p:nvPr/>
        </p:nvSpPr>
        <p:spPr>
          <a:xfrm>
            <a:off x="657454" y="1714653"/>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Authorization</a:t>
            </a:r>
            <a:r>
              <a:rPr lang="en-US" sz="1350">
                <a:solidFill>
                  <a:srgbClr val="1A1A1A"/>
                </a:solidFill>
                <a:latin typeface="Arial"/>
                <a:ea typeface="Arial"/>
                <a:cs typeface="Arial"/>
                <a:sym typeface="Arial"/>
              </a:rPr>
              <a:t> verdict per row</a:t>
            </a:r>
            <a:endParaRPr sz="1350">
              <a:solidFill>
                <a:schemeClr val="dk1"/>
              </a:solidFill>
              <a:latin typeface="Arial"/>
              <a:ea typeface="Arial"/>
              <a:cs typeface="Arial"/>
              <a:sym typeface="Arial"/>
            </a:endParaRPr>
          </a:p>
        </p:txBody>
      </p:sp>
      <p:sp>
        <p:nvSpPr>
          <p:cNvPr id="472" name="Google Shape;472;p25"/>
          <p:cNvSpPr/>
          <p:nvPr/>
        </p:nvSpPr>
        <p:spPr>
          <a:xfrm>
            <a:off x="457200" y="216408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3" name="Google Shape;473;p25"/>
          <p:cNvSpPr txBox="1"/>
          <p:nvPr/>
        </p:nvSpPr>
        <p:spPr>
          <a:xfrm>
            <a:off x="657454" y="2087728"/>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Stampede</a:t>
            </a:r>
            <a:r>
              <a:rPr lang="en-US" sz="1350">
                <a:solidFill>
                  <a:srgbClr val="1A1A1A"/>
                </a:solidFill>
                <a:latin typeface="Arial"/>
                <a:ea typeface="Arial"/>
                <a:cs typeface="Arial"/>
                <a:sym typeface="Arial"/>
              </a:rPr>
              <a:t> coalesces upstream</a:t>
            </a:r>
            <a:endParaRPr sz="1350">
              <a:solidFill>
                <a:schemeClr val="dk1"/>
              </a:solidFill>
              <a:latin typeface="Arial"/>
              <a:ea typeface="Arial"/>
              <a:cs typeface="Arial"/>
              <a:sym typeface="Arial"/>
            </a:endParaRPr>
          </a:p>
        </p:txBody>
      </p:sp>
      <p:sp>
        <p:nvSpPr>
          <p:cNvPr id="474" name="Google Shape;474;p25"/>
          <p:cNvSpPr/>
          <p:nvPr/>
        </p:nvSpPr>
        <p:spPr>
          <a:xfrm>
            <a:off x="457200" y="2537613"/>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5" name="Google Shape;475;p25"/>
          <p:cNvSpPr txBox="1"/>
          <p:nvPr/>
        </p:nvSpPr>
        <p:spPr>
          <a:xfrm>
            <a:off x="657454" y="2461260"/>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TTL</a:t>
            </a:r>
            <a:r>
              <a:rPr lang="en-US" sz="1350">
                <a:solidFill>
                  <a:srgbClr val="1A1A1A"/>
                </a:solidFill>
                <a:latin typeface="Arial"/>
                <a:ea typeface="Arial"/>
                <a:cs typeface="Arial"/>
                <a:sym typeface="Arial"/>
              </a:rPr>
              <a:t> sliding from access</a:t>
            </a:r>
            <a:endParaRPr sz="1350">
              <a:solidFill>
                <a:schemeClr val="dk1"/>
              </a:solidFill>
              <a:latin typeface="Arial"/>
              <a:ea typeface="Arial"/>
              <a:cs typeface="Arial"/>
              <a:sym typeface="Arial"/>
            </a:endParaRPr>
          </a:p>
        </p:txBody>
      </p:sp>
      <p:sp>
        <p:nvSpPr>
          <p:cNvPr id="476" name="Google Shape;476;p25"/>
          <p:cNvSpPr/>
          <p:nvPr/>
        </p:nvSpPr>
        <p:spPr>
          <a:xfrm>
            <a:off x="457200" y="2911145"/>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7" name="Google Shape;477;p25"/>
          <p:cNvSpPr txBox="1"/>
          <p:nvPr/>
        </p:nvSpPr>
        <p:spPr>
          <a:xfrm>
            <a:off x="657454" y="2834793"/>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Refresh</a:t>
            </a:r>
            <a:r>
              <a:rPr lang="en-US" sz="1350">
                <a:solidFill>
                  <a:srgbClr val="1A1A1A"/>
                </a:solidFill>
                <a:latin typeface="Arial"/>
                <a:ea typeface="Arial"/>
                <a:cs typeface="Arial"/>
                <a:sym typeface="Arial"/>
              </a:rPr>
              <a:t> pre-expiry, off-path</a:t>
            </a:r>
            <a:endParaRPr sz="1350">
              <a:solidFill>
                <a:schemeClr val="dk1"/>
              </a:solidFill>
              <a:latin typeface="Arial"/>
              <a:ea typeface="Arial"/>
              <a:cs typeface="Arial"/>
              <a:sym typeface="Arial"/>
            </a:endParaRPr>
          </a:p>
        </p:txBody>
      </p:sp>
      <p:sp>
        <p:nvSpPr>
          <p:cNvPr id="478" name="Google Shape;478;p25"/>
          <p:cNvSpPr/>
          <p:nvPr/>
        </p:nvSpPr>
        <p:spPr>
          <a:xfrm>
            <a:off x="457200" y="328422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79" name="Google Shape;479;p25"/>
          <p:cNvSpPr txBox="1"/>
          <p:nvPr/>
        </p:nvSpPr>
        <p:spPr>
          <a:xfrm>
            <a:off x="657454" y="3208325"/>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Dynamic</a:t>
            </a:r>
            <a:r>
              <a:rPr lang="en-US" sz="1350">
                <a:solidFill>
                  <a:srgbClr val="1A1A1A"/>
                </a:solidFill>
                <a:latin typeface="Arial"/>
                <a:ea typeface="Arial"/>
                <a:cs typeface="Arial"/>
                <a:sym typeface="Arial"/>
              </a:rPr>
              <a:t> refresh per key</a:t>
            </a:r>
            <a:endParaRPr sz="1350">
              <a:solidFill>
                <a:schemeClr val="dk1"/>
              </a:solidFill>
              <a:latin typeface="Arial"/>
              <a:ea typeface="Arial"/>
              <a:cs typeface="Arial"/>
              <a:sym typeface="Arial"/>
            </a:endParaRPr>
          </a:p>
        </p:txBody>
      </p:sp>
      <p:sp>
        <p:nvSpPr>
          <p:cNvPr id="480" name="Google Shape;480;p25"/>
          <p:cNvSpPr/>
          <p:nvPr/>
        </p:nvSpPr>
        <p:spPr>
          <a:xfrm>
            <a:off x="457200" y="3657753"/>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81" name="Google Shape;481;p25"/>
          <p:cNvSpPr txBox="1"/>
          <p:nvPr/>
        </p:nvSpPr>
        <p:spPr>
          <a:xfrm>
            <a:off x="657454" y="3581400"/>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Eviction</a:t>
            </a:r>
            <a:r>
              <a:rPr lang="en-US" sz="1350">
                <a:solidFill>
                  <a:srgbClr val="1A1A1A"/>
                </a:solidFill>
                <a:latin typeface="Arial"/>
                <a:ea typeface="Arial"/>
                <a:cs typeface="Arial"/>
                <a:sym typeface="Arial"/>
              </a:rPr>
              <a:t> cost-aware LFU</a:t>
            </a:r>
            <a:endParaRPr sz="1350">
              <a:solidFill>
                <a:schemeClr val="dk1"/>
              </a:solidFill>
              <a:latin typeface="Arial"/>
              <a:ea typeface="Arial"/>
              <a:cs typeface="Arial"/>
              <a:sym typeface="Arial"/>
            </a:endParaRPr>
          </a:p>
        </p:txBody>
      </p:sp>
      <p:sp>
        <p:nvSpPr>
          <p:cNvPr id="482" name="Google Shape;482;p25"/>
          <p:cNvSpPr/>
          <p:nvPr/>
        </p:nvSpPr>
        <p:spPr>
          <a:xfrm>
            <a:off x="457200" y="4031285"/>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83" name="Google Shape;483;p25"/>
          <p:cNvSpPr txBox="1"/>
          <p:nvPr/>
        </p:nvSpPr>
        <p:spPr>
          <a:xfrm>
            <a:off x="657454" y="3954933"/>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Admission</a:t>
            </a:r>
            <a:r>
              <a:rPr lang="en-US" sz="1350">
                <a:solidFill>
                  <a:srgbClr val="1A1A1A"/>
                </a:solidFill>
                <a:latin typeface="Arial"/>
                <a:ea typeface="Arial"/>
                <a:cs typeface="Arial"/>
                <a:sym typeface="Arial"/>
              </a:rPr>
              <a:t> freq × cost</a:t>
            </a:r>
            <a:endParaRPr sz="1350">
              <a:solidFill>
                <a:schemeClr val="dk1"/>
              </a:solidFill>
              <a:latin typeface="Arial"/>
              <a:ea typeface="Arial"/>
              <a:cs typeface="Arial"/>
              <a:sym typeface="Arial"/>
            </a:endParaRPr>
          </a:p>
        </p:txBody>
      </p:sp>
      <p:sp>
        <p:nvSpPr>
          <p:cNvPr id="484" name="Google Shape;484;p25"/>
          <p:cNvSpPr/>
          <p:nvPr/>
        </p:nvSpPr>
        <p:spPr>
          <a:xfrm>
            <a:off x="457200" y="440436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485" name="Google Shape;485;p25"/>
          <p:cNvSpPr txBox="1"/>
          <p:nvPr/>
        </p:nvSpPr>
        <p:spPr>
          <a:xfrm>
            <a:off x="657454" y="4328465"/>
            <a:ext cx="7801204" cy="243231"/>
          </a:xfrm>
          <a:prstGeom prst="rect">
            <a:avLst/>
          </a:prstGeom>
          <a:noFill/>
          <a:ln>
            <a:noFill/>
          </a:ln>
        </p:spPr>
        <p:txBody>
          <a:bodyPr spcFirstLastPara="1" wrap="square" lIns="0" tIns="0" rIns="0" bIns="0" anchor="ctr" anchorCtr="0">
            <a:noAutofit/>
          </a:bodyPr>
          <a:lstStyle/>
          <a:p>
            <a:pPr>
              <a:buClr>
                <a:srgbClr val="1A1A1A"/>
              </a:buClr>
              <a:buSzPts val="2700"/>
            </a:pPr>
            <a:r>
              <a:rPr lang="en-US" sz="1350" b="1">
                <a:solidFill>
                  <a:srgbClr val="1A1A1A"/>
                </a:solidFill>
                <a:latin typeface="Arial"/>
                <a:ea typeface="Arial"/>
                <a:cs typeface="Arial"/>
                <a:sym typeface="Arial"/>
              </a:rPr>
              <a:t>Semantic Aware keys</a:t>
            </a:r>
            <a:r>
              <a:rPr lang="en-US" sz="1350">
                <a:solidFill>
                  <a:srgbClr val="1A1A1A"/>
                </a:solidFill>
                <a:latin typeface="Arial"/>
                <a:ea typeface="Arial"/>
                <a:cs typeface="Arial"/>
                <a:sym typeface="Arial"/>
              </a:rPr>
              <a:t> - RLS , Charset, Collation, ...</a:t>
            </a:r>
            <a:endParaRPr sz="1350">
              <a:solidFill>
                <a:schemeClr val="dk1"/>
              </a:solidFill>
              <a:latin typeface="Arial"/>
              <a:ea typeface="Arial"/>
              <a:cs typeface="Arial"/>
              <a:sym typeface="Arial"/>
            </a:endParaRPr>
          </a:p>
        </p:txBody>
      </p:sp>
      <p:pic>
        <p:nvPicPr>
          <p:cNvPr id="9025" name="Readyset standard logo 25"/>
          <p:cNvPicPr>
            <a:picLocks noChangeAspect="1"/>
          </p:cNvPicPr>
          <p:nvPr/>
        </p:nvPicPr>
        <p:blipFill>
          <a:blip r:embed="rId3"/>
          <a:stretch/>
        </p:blipFill>
        <p:spPr>
          <a:xfrm>
            <a:off x="457200" y="239275"/>
            <a:ext cx="952500" cy="216776"/>
          </a:xfrm>
          <a:prstGeom prst="rect">
            <a:avLst/>
          </a:prstGeom>
        </p:spPr>
      </p:pic>
      <p:sp>
        <p:nvSpPr>
          <p:cNvPr id="952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B2C0D769-6352-FF9B-CFFF-0693F366F2AA}"/>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986EBD96-6B6D-B641-FFF8-02AE9155C11A}"/>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6EF17A86-4960-C187-7375-8B544E53ED30}"/>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lang="pt-BR" sz="4275" b="1" dirty="0" err="1">
                <a:solidFill>
                  <a:srgbClr val="EDEDEC"/>
                </a:solidFill>
                <a:latin typeface="Arial"/>
                <a:ea typeface="Arial"/>
                <a:cs typeface="Arial"/>
              </a:rPr>
              <a:t>Deep</a:t>
            </a:r>
            <a:r>
              <a:rPr lang="pt-BR" sz="4275" b="1" dirty="0">
                <a:solidFill>
                  <a:srgbClr val="EDEDEC"/>
                </a:solidFill>
                <a:latin typeface="Arial"/>
                <a:ea typeface="Arial"/>
                <a:cs typeface="Arial"/>
              </a:rPr>
              <a:t> </a:t>
            </a:r>
            <a:r>
              <a:rPr lang="pt-BR" sz="4275" b="1" dirty="0" err="1">
                <a:solidFill>
                  <a:srgbClr val="EDEDEC"/>
                </a:solidFill>
                <a:latin typeface="Arial"/>
                <a:ea typeface="Arial"/>
                <a:cs typeface="Arial"/>
              </a:rPr>
              <a:t>Caching</a:t>
            </a:r>
            <a:endParaRPr lang="en-BR" sz="4275" b="1" dirty="0">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55433AE3-4E5F-2622-60B3-BF032108A454}"/>
              </a:ext>
            </a:extLst>
          </p:cNvPr>
          <p:cNvPicPr>
            <a:picLocks noChangeAspect="1"/>
          </p:cNvPicPr>
          <p:nvPr/>
        </p:nvPicPr>
        <p:blipFill>
          <a:blip r:embed="rId4"/>
          <a:stretch/>
        </p:blipFill>
        <p:spPr>
          <a:xfrm>
            <a:off x="6905625" y="1823085"/>
            <a:ext cx="1619250" cy="1554480"/>
          </a:xfrm>
          <a:prstGeom prst="rect">
            <a:avLst/>
          </a:prstGeom>
        </p:spPr>
      </p:pic>
      <p:sp>
        <p:nvSpPr>
          <p:cNvPr id="952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26</a:t>
            </a:r>
          </a:p>
        </p:txBody>
      </p:sp>
    </p:spTree>
    <p:extLst>
      <p:ext uri="{BB962C8B-B14F-4D97-AF65-F5344CB8AC3E}">
        <p14:creationId xmlns:p14="http://schemas.microsoft.com/office/powerpoint/2010/main" val="11855297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7"/>
        <p:cNvGrpSpPr/>
        <p:nvPr/>
      </p:nvGrpSpPr>
      <p:grpSpPr>
        <a:xfrm>
          <a:off x="0" y="0"/>
          <a:ext cx="0" cy="0"/>
          <a:chOff x="0" y="0"/>
          <a:chExt cx="0" cy="0"/>
        </a:xfrm>
      </p:grpSpPr>
      <p:sp>
        <p:nvSpPr>
          <p:cNvPr id="668" name="Google Shape;668;p31"/>
          <p:cNvSpPr/>
          <p:nvPr/>
        </p:nvSpPr>
        <p:spPr>
          <a:xfrm>
            <a:off x="380848" y="1666951"/>
            <a:ext cx="5153101" cy="2914650"/>
          </a:xfrm>
          <a:prstGeom prst="roundRect">
            <a:avLst>
              <a:gd name="adj" fmla="val 1961"/>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69" name="Google Shape;669;p31"/>
          <p:cNvSpPr/>
          <p:nvPr/>
        </p:nvSpPr>
        <p:spPr>
          <a:xfrm>
            <a:off x="5600700" y="2143354"/>
            <a:ext cx="2881275" cy="533553"/>
          </a:xfrm>
          <a:prstGeom prst="roundRect">
            <a:avLst>
              <a:gd name="adj" fmla="val 539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0" name="Google Shape;670;p31"/>
          <p:cNvSpPr/>
          <p:nvPr/>
        </p:nvSpPr>
        <p:spPr>
          <a:xfrm>
            <a:off x="5600700" y="2143354"/>
            <a:ext cx="19203" cy="533553"/>
          </a:xfrm>
          <a:prstGeom prst="roundRect">
            <a:avLst>
              <a:gd name="adj" fmla="val 149999"/>
            </a:avLst>
          </a:prstGeom>
          <a:solidFill>
            <a:srgbClr val="555555"/>
          </a:solidFill>
          <a:ln w="12700" cap="flat" cmpd="sng">
            <a:solidFill>
              <a:srgbClr val="555555">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1" name="Google Shape;671;p31"/>
          <p:cNvSpPr/>
          <p:nvPr/>
        </p:nvSpPr>
        <p:spPr>
          <a:xfrm>
            <a:off x="5600700" y="2738628"/>
            <a:ext cx="2881275" cy="533553"/>
          </a:xfrm>
          <a:prstGeom prst="roundRect">
            <a:avLst>
              <a:gd name="adj" fmla="val 539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2" name="Google Shape;672;p31"/>
          <p:cNvSpPr/>
          <p:nvPr/>
        </p:nvSpPr>
        <p:spPr>
          <a:xfrm>
            <a:off x="5600700" y="2738628"/>
            <a:ext cx="19203" cy="533553"/>
          </a:xfrm>
          <a:prstGeom prst="roundRect">
            <a:avLst>
              <a:gd name="adj" fmla="val 149999"/>
            </a:avLst>
          </a:prstGeom>
          <a:solidFill>
            <a:srgbClr val="555555"/>
          </a:solidFill>
          <a:ln w="12700" cap="flat" cmpd="sng">
            <a:solidFill>
              <a:srgbClr val="555555">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3" name="Google Shape;673;p31"/>
          <p:cNvSpPr/>
          <p:nvPr/>
        </p:nvSpPr>
        <p:spPr>
          <a:xfrm>
            <a:off x="5600700" y="3333903"/>
            <a:ext cx="2881275" cy="533553"/>
          </a:xfrm>
          <a:prstGeom prst="roundRect">
            <a:avLst>
              <a:gd name="adj" fmla="val 539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4" name="Google Shape;674;p31"/>
          <p:cNvSpPr/>
          <p:nvPr/>
        </p:nvSpPr>
        <p:spPr>
          <a:xfrm>
            <a:off x="5600700" y="3333903"/>
            <a:ext cx="19203" cy="533553"/>
          </a:xfrm>
          <a:prstGeom prst="roundRect">
            <a:avLst>
              <a:gd name="adj" fmla="val 149999"/>
            </a:avLst>
          </a:prstGeom>
          <a:solidFill>
            <a:srgbClr val="555555"/>
          </a:solidFill>
          <a:ln w="12700" cap="flat" cmpd="sng">
            <a:solidFill>
              <a:srgbClr val="555555">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5" name="Google Shape;675;p31"/>
          <p:cNvSpPr/>
          <p:nvPr/>
        </p:nvSpPr>
        <p:spPr>
          <a:xfrm>
            <a:off x="5600700" y="3929177"/>
            <a:ext cx="2857500" cy="642823"/>
          </a:xfrm>
          <a:prstGeom prst="roundRect">
            <a:avLst>
              <a:gd name="adj" fmla="val 4481"/>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677" name="Google Shape;677;p31"/>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deep caching · architecture</a:t>
            </a:r>
            <a:endParaRPr sz="900" b="0">
              <a:solidFill>
                <a:srgbClr val="666666"/>
              </a:solidFill>
              <a:latin typeface="Arial"/>
              <a:ea typeface="Arial"/>
              <a:cs typeface="Arial"/>
              <a:sym typeface="Arial"/>
            </a:endParaRPr>
          </a:p>
        </p:txBody>
      </p:sp>
      <p:sp>
        <p:nvSpPr>
          <p:cNvPr id="678" name="Google Shape;678;p31"/>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The database notifies. Readyset keeps up.</a:t>
            </a:r>
            <a:endParaRPr sz="2700" b="1">
              <a:solidFill>
                <a:srgbClr val="171717"/>
              </a:solidFill>
              <a:latin typeface="Arial"/>
              <a:ea typeface="Arial"/>
              <a:cs typeface="Arial"/>
              <a:sym typeface="Arial"/>
            </a:endParaRPr>
          </a:p>
        </p:txBody>
      </p:sp>
      <p:sp>
        <p:nvSpPr>
          <p:cNvPr id="679" name="Google Shape;679;p31"/>
          <p:cNvSpPr txBox="1"/>
          <p:nvPr/>
        </p:nvSpPr>
        <p:spPr>
          <a:xfrm>
            <a:off x="457200" y="1381201"/>
            <a:ext cx="8001000" cy="128931"/>
          </a:xfrm>
          <a:prstGeom prst="rect">
            <a:avLst/>
          </a:prstGeom>
          <a:noFill/>
          <a:ln>
            <a:noFill/>
          </a:ln>
        </p:spPr>
        <p:txBody>
          <a:bodyPr spcFirstLastPara="1" wrap="square" lIns="0" tIns="0" rIns="0" bIns="0" anchor="ctr" anchorCtr="0">
            <a:noAutofit/>
          </a:bodyPr>
          <a:lstStyle/>
          <a:p>
            <a:pPr>
              <a:buClr>
                <a:srgbClr val="706E6C"/>
              </a:buClr>
              <a:buSzPts val="1500"/>
            </a:pPr>
            <a:r>
              <a:rPr lang="en-US" sz="750">
                <a:solidFill>
                  <a:srgbClr val="706E6C"/>
                </a:solidFill>
                <a:latin typeface="Arial"/>
                <a:ea typeface="Arial"/>
                <a:cs typeface="Arial"/>
                <a:sym typeface="IBM Plex Mono"/>
              </a:rPr>
              <a:t>initial snapshot · </a:t>
            </a:r>
            <a:r>
              <a:rPr lang="en-US" sz="750">
                <a:solidFill>
                  <a:srgbClr val="555555"/>
                </a:solidFill>
                <a:latin typeface="Arial"/>
                <a:ea typeface="Arial"/>
                <a:cs typeface="Arial"/>
                <a:sym typeface="IBM Plex Mono"/>
              </a:rPr>
              <a:t>continuous CDC</a:t>
            </a:r>
            <a:r>
              <a:rPr lang="en-US" sz="750">
                <a:solidFill>
                  <a:srgbClr val="706E6C"/>
                </a:solidFill>
                <a:latin typeface="Arial"/>
                <a:ea typeface="Arial"/>
                <a:cs typeface="Arial"/>
                <a:sym typeface="IBM Plex Mono"/>
              </a:rPr>
              <a:t> · incremental dataflow — no recompute when nothing changed</a:t>
            </a:r>
            <a:endParaRPr sz="750">
              <a:solidFill>
                <a:schemeClr val="dk1"/>
              </a:solidFill>
              <a:latin typeface="Arial"/>
              <a:ea typeface="Arial"/>
              <a:cs typeface="Arial"/>
              <a:sym typeface="Arial"/>
            </a:endParaRPr>
          </a:p>
        </p:txBody>
      </p:sp>
      <p:pic>
        <p:nvPicPr>
          <p:cNvPr id="680" name="Google Shape;680;p31" descr="gen-dedup-3fab9fb5eb40e6ce312d5dc0c31248a7.png"/>
          <p:cNvPicPr preferRelativeResize="0"/>
          <p:nvPr/>
        </p:nvPicPr>
        <p:blipFill rotWithShape="1">
          <a:blip r:embed="rId3">
            <a:alphaModFix/>
          </a:blip>
          <a:srcRect t="-181" b="-181"/>
          <a:stretch/>
        </p:blipFill>
        <p:spPr>
          <a:xfrm>
            <a:off x="476403" y="1809598"/>
            <a:ext cx="4952848" cy="2524201"/>
          </a:xfrm>
          <a:prstGeom prst="rect">
            <a:avLst/>
          </a:prstGeom>
          <a:noFill/>
          <a:ln>
            <a:noFill/>
          </a:ln>
        </p:spPr>
      </p:pic>
      <p:sp>
        <p:nvSpPr>
          <p:cNvPr id="681" name="Google Shape;681;p31"/>
          <p:cNvSpPr txBox="1"/>
          <p:nvPr/>
        </p:nvSpPr>
        <p:spPr>
          <a:xfrm>
            <a:off x="476403" y="4357573"/>
            <a:ext cx="4953305" cy="85954"/>
          </a:xfrm>
          <a:prstGeom prst="rect">
            <a:avLst/>
          </a:prstGeom>
          <a:noFill/>
          <a:ln>
            <a:noFill/>
          </a:ln>
        </p:spPr>
        <p:txBody>
          <a:bodyPr spcFirstLastPara="1" wrap="square" lIns="0" tIns="0" rIns="0" bIns="0" anchor="ctr" anchorCtr="0">
            <a:noAutofit/>
          </a:bodyPr>
          <a:lstStyle/>
          <a:p>
            <a:pPr algn="ctr">
              <a:buClr>
                <a:srgbClr val="706E6C"/>
              </a:buClr>
              <a:buSzPts val="1050"/>
            </a:pPr>
            <a:r>
              <a:rPr lang="en-US" sz="525">
                <a:solidFill>
                  <a:srgbClr val="706E6C"/>
                </a:solidFill>
                <a:latin typeface="Arial"/>
                <a:ea typeface="Arial"/>
                <a:cs typeface="Arial"/>
                <a:sym typeface="IBM Plex Mono"/>
              </a:rPr>
              <a:t>reads → served by the </a:t>
            </a:r>
            <a:r>
              <a:rPr lang="en-US" sz="525">
                <a:solidFill>
                  <a:srgbClr val="555555"/>
                </a:solidFill>
                <a:latin typeface="Arial"/>
                <a:ea typeface="Arial"/>
                <a:cs typeface="Arial"/>
                <a:sym typeface="IBM Plex Mono"/>
              </a:rPr>
              <a:t>Reader</a:t>
            </a:r>
            <a:r>
              <a:rPr lang="en-US" sz="525">
                <a:solidFill>
                  <a:srgbClr val="706E6C"/>
                </a:solidFill>
                <a:latin typeface="Arial"/>
                <a:ea typeface="Arial"/>
                <a:cs typeface="Arial"/>
                <a:sym typeface="IBM Plex Mono"/>
              </a:rPr>
              <a:t> · writes → flow straight to the </a:t>
            </a:r>
            <a:r>
              <a:rPr lang="en-US" sz="525">
                <a:solidFill>
                  <a:srgbClr val="161615"/>
                </a:solidFill>
                <a:latin typeface="Arial"/>
                <a:ea typeface="Arial"/>
                <a:cs typeface="Arial"/>
                <a:sym typeface="IBM Plex Mono"/>
              </a:rPr>
              <a:t>Database</a:t>
            </a:r>
            <a:r>
              <a:rPr lang="en-US" sz="525">
                <a:solidFill>
                  <a:srgbClr val="706E6C"/>
                </a:solidFill>
                <a:latin typeface="Arial"/>
                <a:ea typeface="Arial"/>
                <a:cs typeface="Arial"/>
                <a:sym typeface="IBM Plex Mono"/>
              </a:rPr>
              <a:t> · </a:t>
            </a:r>
            <a:r>
              <a:rPr lang="en-US" sz="525">
                <a:solidFill>
                  <a:srgbClr val="161615"/>
                </a:solidFill>
                <a:latin typeface="Arial"/>
                <a:ea typeface="Arial"/>
                <a:cs typeface="Arial"/>
                <a:sym typeface="IBM Plex Mono"/>
              </a:rPr>
              <a:t>Replicator</a:t>
            </a:r>
            <a:r>
              <a:rPr lang="en-US" sz="525">
                <a:solidFill>
                  <a:srgbClr val="706E6C"/>
                </a:solidFill>
                <a:latin typeface="Arial"/>
                <a:ea typeface="Arial"/>
                <a:cs typeface="Arial"/>
                <a:sym typeface="IBM Plex Mono"/>
              </a:rPr>
              <a:t> feeds the Dataflow</a:t>
            </a:r>
            <a:endParaRPr sz="525">
              <a:solidFill>
                <a:schemeClr val="dk1"/>
              </a:solidFill>
              <a:latin typeface="Arial"/>
              <a:ea typeface="Arial"/>
              <a:cs typeface="Arial"/>
              <a:sym typeface="Arial"/>
            </a:endParaRPr>
          </a:p>
        </p:txBody>
      </p:sp>
      <p:sp>
        <p:nvSpPr>
          <p:cNvPr id="682" name="Google Shape;682;p31"/>
          <p:cNvSpPr txBox="1"/>
          <p:nvPr/>
        </p:nvSpPr>
        <p:spPr>
          <a:xfrm>
            <a:off x="5600700" y="1714500"/>
            <a:ext cx="2857500" cy="81382"/>
          </a:xfrm>
          <a:prstGeom prst="rect">
            <a:avLst/>
          </a:prstGeom>
          <a:noFill/>
          <a:ln>
            <a:noFill/>
          </a:ln>
        </p:spPr>
        <p:txBody>
          <a:bodyPr spcFirstLastPara="1" wrap="square" lIns="0" tIns="0" rIns="0" bIns="0" anchor="ctr" anchorCtr="0">
            <a:noAutofit/>
          </a:bodyPr>
          <a:lstStyle/>
          <a:p>
            <a:pPr>
              <a:buClr>
                <a:srgbClr val="706E6C"/>
              </a:buClr>
              <a:buSzPts val="975"/>
            </a:pPr>
            <a:r>
              <a:rPr lang="en-US" sz="488">
                <a:solidFill>
                  <a:srgbClr val="706E6C"/>
                </a:solidFill>
                <a:latin typeface="Arial"/>
                <a:ea typeface="Arial"/>
                <a:cs typeface="Arial"/>
                <a:sym typeface="IBM Plex Mono"/>
              </a:rPr>
              <a:t>components</a:t>
            </a:r>
            <a:endParaRPr sz="488">
              <a:solidFill>
                <a:schemeClr val="dk1"/>
              </a:solidFill>
              <a:latin typeface="Arial"/>
              <a:ea typeface="Arial"/>
              <a:cs typeface="Arial"/>
              <a:sym typeface="Arial"/>
            </a:endParaRPr>
          </a:p>
        </p:txBody>
      </p:sp>
      <p:sp>
        <p:nvSpPr>
          <p:cNvPr id="683" name="Google Shape;683;p31"/>
          <p:cNvSpPr txBox="1"/>
          <p:nvPr/>
        </p:nvSpPr>
        <p:spPr>
          <a:xfrm>
            <a:off x="5600700" y="1824228"/>
            <a:ext cx="2857500" cy="147676"/>
          </a:xfrm>
          <a:prstGeom prst="rect">
            <a:avLst/>
          </a:prstGeom>
          <a:noFill/>
          <a:ln>
            <a:noFill/>
          </a:ln>
        </p:spPr>
        <p:txBody>
          <a:bodyPr spcFirstLastPara="1" wrap="square" lIns="0" tIns="0" rIns="0" bIns="0" anchor="ctr" anchorCtr="0">
            <a:noAutofit/>
          </a:bodyPr>
          <a:lstStyle/>
          <a:p>
            <a:pPr>
              <a:buClr>
                <a:srgbClr val="161615"/>
              </a:buClr>
              <a:buSzPts val="1950"/>
            </a:pPr>
            <a:r>
              <a:rPr lang="en-US" sz="975" b="1">
                <a:solidFill>
                  <a:srgbClr val="161615"/>
                </a:solidFill>
                <a:latin typeface="Arial"/>
                <a:ea typeface="Arial"/>
                <a:cs typeface="Arial"/>
                <a:sym typeface="Arial"/>
              </a:rPr>
              <a:t>What makes up Deep</a:t>
            </a:r>
            <a:endParaRPr sz="975">
              <a:solidFill>
                <a:schemeClr val="dk1"/>
              </a:solidFill>
              <a:latin typeface="Arial"/>
              <a:ea typeface="Arial"/>
              <a:cs typeface="Arial"/>
              <a:sym typeface="Arial"/>
            </a:endParaRPr>
          </a:p>
        </p:txBody>
      </p:sp>
      <p:sp>
        <p:nvSpPr>
          <p:cNvPr id="684" name="Google Shape;684;p31"/>
          <p:cNvSpPr txBox="1"/>
          <p:nvPr/>
        </p:nvSpPr>
        <p:spPr>
          <a:xfrm>
            <a:off x="5743804" y="2248053"/>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555555"/>
                </a:solidFill>
                <a:latin typeface="Arial"/>
                <a:ea typeface="Arial"/>
                <a:cs typeface="Arial"/>
                <a:sym typeface="IBM Plex Mono"/>
              </a:rPr>
              <a:t>01.</a:t>
            </a:r>
            <a:endParaRPr sz="563">
              <a:solidFill>
                <a:schemeClr val="dk1"/>
              </a:solidFill>
              <a:latin typeface="Arial"/>
              <a:ea typeface="Arial"/>
              <a:cs typeface="Arial"/>
              <a:sym typeface="Arial"/>
            </a:endParaRPr>
          </a:p>
        </p:txBody>
      </p:sp>
      <p:sp>
        <p:nvSpPr>
          <p:cNvPr id="685" name="Google Shape;685;p31"/>
          <p:cNvSpPr txBox="1"/>
          <p:nvPr/>
        </p:nvSpPr>
        <p:spPr>
          <a:xfrm>
            <a:off x="6105449" y="2219249"/>
            <a:ext cx="2257654" cy="123901"/>
          </a:xfrm>
          <a:prstGeom prst="rect">
            <a:avLst/>
          </a:prstGeom>
          <a:noFill/>
          <a:ln>
            <a:noFill/>
          </a:ln>
        </p:spPr>
        <p:txBody>
          <a:bodyPr spcFirstLastPara="1" wrap="square" lIns="0" tIns="0" rIns="0" bIns="0" anchor="ctr" anchorCtr="0">
            <a:noAutofit/>
          </a:bodyPr>
          <a:lstStyle/>
          <a:p>
            <a:pPr>
              <a:buClr>
                <a:srgbClr val="161615"/>
              </a:buClr>
              <a:buSzPts val="1650"/>
            </a:pPr>
            <a:r>
              <a:rPr lang="en-US" sz="825" b="1">
                <a:solidFill>
                  <a:srgbClr val="161615"/>
                </a:solidFill>
                <a:latin typeface="Arial"/>
                <a:ea typeface="Arial"/>
                <a:cs typeface="Arial"/>
                <a:sym typeface="Arial"/>
              </a:rPr>
              <a:t>Snapshot</a:t>
            </a:r>
            <a:endParaRPr sz="825">
              <a:solidFill>
                <a:schemeClr val="dk1"/>
              </a:solidFill>
              <a:latin typeface="Arial"/>
              <a:ea typeface="Arial"/>
              <a:cs typeface="Arial"/>
              <a:sym typeface="Arial"/>
            </a:endParaRPr>
          </a:p>
        </p:txBody>
      </p:sp>
      <p:sp>
        <p:nvSpPr>
          <p:cNvPr id="686" name="Google Shape;686;p31"/>
          <p:cNvSpPr txBox="1"/>
          <p:nvPr/>
        </p:nvSpPr>
        <p:spPr>
          <a:xfrm>
            <a:off x="6105449" y="2362353"/>
            <a:ext cx="2257654" cy="219456"/>
          </a:xfrm>
          <a:prstGeom prst="rect">
            <a:avLst/>
          </a:prstGeom>
          <a:noFill/>
          <a:ln>
            <a:noFill/>
          </a:ln>
        </p:spPr>
        <p:txBody>
          <a:bodyPr spcFirstLastPara="1" wrap="square" lIns="0" tIns="0" rIns="0" bIns="0" anchor="ctr" anchorCtr="0">
            <a:noAutofit/>
          </a:bodyPr>
          <a:lstStyle/>
          <a:p>
            <a:pPr>
              <a:lnSpc>
                <a:spcPct val="135000"/>
              </a:lnSpc>
              <a:buClr>
                <a:srgbClr val="706E6C"/>
              </a:buClr>
              <a:buSzPts val="1275"/>
            </a:pPr>
            <a:r>
              <a:rPr lang="en-US" sz="638">
                <a:solidFill>
                  <a:srgbClr val="706E6C"/>
                </a:solidFill>
                <a:latin typeface="Arial"/>
                <a:ea typeface="Arial"/>
                <a:cs typeface="Arial"/>
                <a:sym typeface="Arial"/>
              </a:rPr>
              <a:t>An initial copy of the tables that will be cached — hydrates the Base Tables of the dataflow.</a:t>
            </a:r>
            <a:endParaRPr sz="638">
              <a:solidFill>
                <a:schemeClr val="dk1"/>
              </a:solidFill>
              <a:latin typeface="Arial"/>
              <a:ea typeface="Arial"/>
              <a:cs typeface="Arial"/>
              <a:sym typeface="Arial"/>
            </a:endParaRPr>
          </a:p>
        </p:txBody>
      </p:sp>
      <p:sp>
        <p:nvSpPr>
          <p:cNvPr id="687" name="Google Shape;687;p31"/>
          <p:cNvSpPr txBox="1"/>
          <p:nvPr/>
        </p:nvSpPr>
        <p:spPr>
          <a:xfrm>
            <a:off x="5743804" y="2843327"/>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555555"/>
                </a:solidFill>
                <a:latin typeface="Arial"/>
                <a:ea typeface="Arial"/>
                <a:cs typeface="Arial"/>
                <a:sym typeface="IBM Plex Mono"/>
              </a:rPr>
              <a:t>02.</a:t>
            </a:r>
            <a:endParaRPr sz="563">
              <a:solidFill>
                <a:schemeClr val="dk1"/>
              </a:solidFill>
              <a:latin typeface="Arial"/>
              <a:ea typeface="Arial"/>
              <a:cs typeface="Arial"/>
              <a:sym typeface="Arial"/>
            </a:endParaRPr>
          </a:p>
        </p:txBody>
      </p:sp>
      <p:sp>
        <p:nvSpPr>
          <p:cNvPr id="688" name="Google Shape;688;p31"/>
          <p:cNvSpPr txBox="1"/>
          <p:nvPr/>
        </p:nvSpPr>
        <p:spPr>
          <a:xfrm>
            <a:off x="6105449" y="2814523"/>
            <a:ext cx="2257654" cy="123901"/>
          </a:xfrm>
          <a:prstGeom prst="rect">
            <a:avLst/>
          </a:prstGeom>
          <a:noFill/>
          <a:ln>
            <a:noFill/>
          </a:ln>
        </p:spPr>
        <p:txBody>
          <a:bodyPr spcFirstLastPara="1" wrap="square" lIns="0" tIns="0" rIns="0" bIns="0" anchor="ctr" anchorCtr="0">
            <a:noAutofit/>
          </a:bodyPr>
          <a:lstStyle/>
          <a:p>
            <a:pPr>
              <a:buClr>
                <a:srgbClr val="161615"/>
              </a:buClr>
              <a:buSzPts val="1650"/>
            </a:pPr>
            <a:r>
              <a:rPr lang="en-US" sz="825" b="1">
                <a:solidFill>
                  <a:srgbClr val="161615"/>
                </a:solidFill>
                <a:latin typeface="Arial"/>
                <a:ea typeface="Arial"/>
                <a:cs typeface="Arial"/>
                <a:sym typeface="Arial"/>
              </a:rPr>
              <a:t>Replication / CDC</a:t>
            </a:r>
            <a:endParaRPr sz="825">
              <a:solidFill>
                <a:schemeClr val="dk1"/>
              </a:solidFill>
              <a:latin typeface="Arial"/>
              <a:ea typeface="Arial"/>
              <a:cs typeface="Arial"/>
              <a:sym typeface="Arial"/>
            </a:endParaRPr>
          </a:p>
        </p:txBody>
      </p:sp>
      <p:sp>
        <p:nvSpPr>
          <p:cNvPr id="689" name="Google Shape;689;p31"/>
          <p:cNvSpPr txBox="1"/>
          <p:nvPr/>
        </p:nvSpPr>
        <p:spPr>
          <a:xfrm>
            <a:off x="6105449" y="2957627"/>
            <a:ext cx="2257654" cy="219456"/>
          </a:xfrm>
          <a:prstGeom prst="rect">
            <a:avLst/>
          </a:prstGeom>
          <a:noFill/>
          <a:ln>
            <a:noFill/>
          </a:ln>
        </p:spPr>
        <p:txBody>
          <a:bodyPr spcFirstLastPara="1" wrap="square" lIns="0" tIns="0" rIns="0" bIns="0" anchor="ctr" anchorCtr="0">
            <a:noAutofit/>
          </a:bodyPr>
          <a:lstStyle/>
          <a:p>
            <a:pPr>
              <a:lnSpc>
                <a:spcPct val="135000"/>
              </a:lnSpc>
              <a:buClr>
                <a:srgbClr val="706E6C"/>
              </a:buClr>
              <a:buSzPts val="1275"/>
            </a:pPr>
            <a:r>
              <a:rPr lang="en-US" sz="638">
                <a:solidFill>
                  <a:srgbClr val="706E6C"/>
                </a:solidFill>
                <a:latin typeface="Arial"/>
                <a:ea typeface="Arial"/>
                <a:cs typeface="Arial"/>
                <a:sym typeface="Arial"/>
              </a:rPr>
              <a:t>Keeps the tables current and streams deltas into the dataflow.</a:t>
            </a:r>
            <a:endParaRPr sz="638">
              <a:solidFill>
                <a:schemeClr val="dk1"/>
              </a:solidFill>
              <a:latin typeface="Arial"/>
              <a:ea typeface="Arial"/>
              <a:cs typeface="Arial"/>
              <a:sym typeface="Arial"/>
            </a:endParaRPr>
          </a:p>
        </p:txBody>
      </p:sp>
      <p:sp>
        <p:nvSpPr>
          <p:cNvPr id="690" name="Google Shape;690;p31"/>
          <p:cNvSpPr txBox="1"/>
          <p:nvPr/>
        </p:nvSpPr>
        <p:spPr>
          <a:xfrm>
            <a:off x="5743804" y="3438601"/>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555555"/>
                </a:solidFill>
                <a:latin typeface="Arial"/>
                <a:ea typeface="Arial"/>
                <a:cs typeface="Arial"/>
                <a:sym typeface="IBM Plex Mono"/>
              </a:rPr>
              <a:t>03.</a:t>
            </a:r>
            <a:endParaRPr sz="563">
              <a:solidFill>
                <a:schemeClr val="dk1"/>
              </a:solidFill>
              <a:latin typeface="Arial"/>
              <a:ea typeface="Arial"/>
              <a:cs typeface="Arial"/>
              <a:sym typeface="Arial"/>
            </a:endParaRPr>
          </a:p>
        </p:txBody>
      </p:sp>
      <p:sp>
        <p:nvSpPr>
          <p:cNvPr id="691" name="Google Shape;691;p31"/>
          <p:cNvSpPr txBox="1"/>
          <p:nvPr/>
        </p:nvSpPr>
        <p:spPr>
          <a:xfrm>
            <a:off x="6105449" y="3409798"/>
            <a:ext cx="2257654" cy="123901"/>
          </a:xfrm>
          <a:prstGeom prst="rect">
            <a:avLst/>
          </a:prstGeom>
          <a:noFill/>
          <a:ln>
            <a:noFill/>
          </a:ln>
        </p:spPr>
        <p:txBody>
          <a:bodyPr spcFirstLastPara="1" wrap="square" lIns="0" tIns="0" rIns="0" bIns="0" anchor="ctr" anchorCtr="0">
            <a:noAutofit/>
          </a:bodyPr>
          <a:lstStyle/>
          <a:p>
            <a:pPr>
              <a:buClr>
                <a:srgbClr val="161615"/>
              </a:buClr>
              <a:buSzPts val="1650"/>
            </a:pPr>
            <a:r>
              <a:rPr lang="en-US" sz="825" b="1">
                <a:solidFill>
                  <a:srgbClr val="161615"/>
                </a:solidFill>
                <a:latin typeface="Arial"/>
                <a:ea typeface="Arial"/>
                <a:cs typeface="Arial"/>
                <a:sym typeface="Arial"/>
              </a:rPr>
              <a:t>Proxy</a:t>
            </a:r>
            <a:endParaRPr sz="825">
              <a:solidFill>
                <a:schemeClr val="dk1"/>
              </a:solidFill>
              <a:latin typeface="Arial"/>
              <a:ea typeface="Arial"/>
              <a:cs typeface="Arial"/>
              <a:sym typeface="Arial"/>
            </a:endParaRPr>
          </a:p>
        </p:txBody>
      </p:sp>
      <p:sp>
        <p:nvSpPr>
          <p:cNvPr id="692" name="Google Shape;692;p31"/>
          <p:cNvSpPr txBox="1"/>
          <p:nvPr/>
        </p:nvSpPr>
        <p:spPr>
          <a:xfrm>
            <a:off x="6105449" y="3552901"/>
            <a:ext cx="2257654" cy="219456"/>
          </a:xfrm>
          <a:prstGeom prst="rect">
            <a:avLst/>
          </a:prstGeom>
          <a:noFill/>
          <a:ln>
            <a:noFill/>
          </a:ln>
        </p:spPr>
        <p:txBody>
          <a:bodyPr spcFirstLastPara="1" wrap="square" lIns="0" tIns="0" rIns="0" bIns="0" anchor="ctr" anchorCtr="0">
            <a:noAutofit/>
          </a:bodyPr>
          <a:lstStyle/>
          <a:p>
            <a:pPr>
              <a:lnSpc>
                <a:spcPct val="135000"/>
              </a:lnSpc>
              <a:buClr>
                <a:srgbClr val="706E6C"/>
              </a:buClr>
              <a:buSzPts val="1275"/>
            </a:pPr>
            <a:r>
              <a:rPr lang="en-US" sz="638">
                <a:solidFill>
                  <a:srgbClr val="706E6C"/>
                </a:solidFill>
                <a:latin typeface="Arial"/>
                <a:ea typeface="Arial"/>
                <a:cs typeface="Arial"/>
                <a:sym typeface="Arial"/>
              </a:rPr>
              <a:t>Speaks the PostgreSQL wire protocol — routes reads to Readyset or to the upstream.</a:t>
            </a:r>
            <a:endParaRPr sz="638">
              <a:solidFill>
                <a:schemeClr val="dk1"/>
              </a:solidFill>
              <a:latin typeface="Arial"/>
              <a:ea typeface="Arial"/>
              <a:cs typeface="Arial"/>
              <a:sym typeface="Arial"/>
            </a:endParaRPr>
          </a:p>
        </p:txBody>
      </p:sp>
      <p:sp>
        <p:nvSpPr>
          <p:cNvPr id="693" name="Google Shape;693;p31"/>
          <p:cNvSpPr txBox="1"/>
          <p:nvPr/>
        </p:nvSpPr>
        <p:spPr>
          <a:xfrm>
            <a:off x="5743804" y="4043477"/>
            <a:ext cx="285750" cy="90526"/>
          </a:xfrm>
          <a:prstGeom prst="rect">
            <a:avLst/>
          </a:prstGeom>
          <a:noFill/>
          <a:ln>
            <a:noFill/>
          </a:ln>
        </p:spPr>
        <p:txBody>
          <a:bodyPr spcFirstLastPara="1" wrap="square" lIns="0" tIns="0" rIns="0" bIns="0" anchor="ctr" anchorCtr="0">
            <a:noAutofit/>
          </a:bodyPr>
          <a:lstStyle/>
          <a:p>
            <a:pPr>
              <a:buClr>
                <a:srgbClr val="555555"/>
              </a:buClr>
              <a:buSzPts val="1125"/>
            </a:pPr>
            <a:r>
              <a:rPr lang="en-US" sz="563">
                <a:solidFill>
                  <a:srgbClr val="EEEEEE"/>
                </a:solidFill>
                <a:latin typeface="Arial"/>
                <a:ea typeface="Arial"/>
                <a:cs typeface="Arial"/>
                <a:sym typeface="IBM Plex Mono"/>
              </a:rPr>
              <a:t>04.</a:t>
            </a:r>
            <a:endParaRPr sz="563">
              <a:solidFill>
                <a:schemeClr val="dk1"/>
              </a:solidFill>
              <a:latin typeface="Arial"/>
              <a:ea typeface="Arial"/>
              <a:cs typeface="Arial"/>
              <a:sym typeface="Arial"/>
            </a:endParaRPr>
          </a:p>
        </p:txBody>
      </p:sp>
      <p:sp>
        <p:nvSpPr>
          <p:cNvPr id="694" name="Google Shape;694;p31"/>
          <p:cNvSpPr txBox="1"/>
          <p:nvPr/>
        </p:nvSpPr>
        <p:spPr>
          <a:xfrm>
            <a:off x="6105449" y="4014673"/>
            <a:ext cx="2257654" cy="123901"/>
          </a:xfrm>
          <a:prstGeom prst="rect">
            <a:avLst/>
          </a:prstGeom>
          <a:noFill/>
          <a:ln>
            <a:noFill/>
          </a:ln>
        </p:spPr>
        <p:txBody>
          <a:bodyPr spcFirstLastPara="1" wrap="square" lIns="0" tIns="0" rIns="0" bIns="0" anchor="ctr" anchorCtr="0">
            <a:noAutofit/>
          </a:bodyPr>
          <a:lstStyle/>
          <a:p>
            <a:pPr>
              <a:buClr>
                <a:srgbClr val="EDEDEC"/>
              </a:buClr>
              <a:buSzPts val="1650"/>
            </a:pPr>
            <a:r>
              <a:rPr lang="en-US" sz="825" b="1">
                <a:solidFill>
                  <a:srgbClr val="EDEDEC"/>
                </a:solidFill>
                <a:latin typeface="Arial"/>
                <a:ea typeface="Arial"/>
                <a:cs typeface="Arial"/>
                <a:sym typeface="Arial"/>
              </a:rPr>
              <a:t>Dataflow </a:t>
            </a:r>
            <a:r>
              <a:rPr lang="en-US" sz="525" b="1">
                <a:solidFill>
                  <a:srgbClr val="EEEEEE"/>
                </a:solidFill>
                <a:latin typeface="Arial"/>
                <a:ea typeface="Arial"/>
                <a:cs typeface="Arial"/>
                <a:sym typeface="IBM Plex Mono"/>
              </a:rPr>
              <a:t>// heart of the system</a:t>
            </a:r>
            <a:endParaRPr sz="825">
              <a:solidFill>
                <a:schemeClr val="dk1"/>
              </a:solidFill>
              <a:latin typeface="Arial"/>
              <a:ea typeface="Arial"/>
              <a:cs typeface="Arial"/>
              <a:sym typeface="Arial"/>
            </a:endParaRPr>
          </a:p>
        </p:txBody>
      </p:sp>
      <p:sp>
        <p:nvSpPr>
          <p:cNvPr id="695" name="Google Shape;695;p31"/>
          <p:cNvSpPr txBox="1"/>
          <p:nvPr/>
        </p:nvSpPr>
        <p:spPr>
          <a:xfrm>
            <a:off x="6105449" y="4157777"/>
            <a:ext cx="2257654" cy="219456"/>
          </a:xfrm>
          <a:prstGeom prst="rect">
            <a:avLst/>
          </a:prstGeom>
          <a:noFill/>
          <a:ln>
            <a:noFill/>
          </a:ln>
        </p:spPr>
        <p:txBody>
          <a:bodyPr spcFirstLastPara="1" wrap="square" lIns="0" tIns="0" rIns="0" bIns="0" anchor="ctr" anchorCtr="0">
            <a:noAutofit/>
          </a:bodyPr>
          <a:lstStyle/>
          <a:p>
            <a:pPr>
              <a:lnSpc>
                <a:spcPct val="135000"/>
              </a:lnSpc>
              <a:buClr>
                <a:srgbClr val="A1A09A"/>
              </a:buClr>
              <a:buSzPts val="1275"/>
            </a:pPr>
            <a:r>
              <a:rPr lang="en-US" sz="638">
                <a:solidFill>
                  <a:srgbClr val="EEEEEE"/>
                </a:solidFill>
                <a:latin typeface="Arial"/>
                <a:ea typeface="Arial"/>
                <a:cs typeface="Arial"/>
                <a:sym typeface="Arial"/>
              </a:rPr>
              <a:t>Incremental graph: Base Table → DFG → Reader. It recomputes </a:t>
            </a:r>
            <a:r>
              <a:rPr lang="en-US" sz="638">
                <a:solidFill>
                  <a:srgbClr val="EDEDEC"/>
                </a:solidFill>
                <a:latin typeface="Arial"/>
                <a:ea typeface="Arial"/>
                <a:cs typeface="Arial"/>
                <a:sym typeface="Arial"/>
              </a:rPr>
              <a:t>only what changed</a:t>
            </a:r>
            <a:r>
              <a:rPr lang="en-US" sz="638">
                <a:solidFill>
                  <a:srgbClr val="EEEEEE"/>
                </a:solidFill>
                <a:latin typeface="Arial"/>
                <a:ea typeface="Arial"/>
                <a:cs typeface="Arial"/>
                <a:sym typeface="Arial"/>
              </a:rPr>
              <a:t>. Details in the next slides.</a:t>
            </a:r>
            <a:endParaRPr sz="638">
              <a:solidFill>
                <a:schemeClr val="dk1"/>
              </a:solidFill>
              <a:latin typeface="Arial"/>
              <a:ea typeface="Arial"/>
              <a:cs typeface="Arial"/>
              <a:sym typeface="Arial"/>
            </a:endParaRPr>
          </a:p>
        </p:txBody>
      </p:sp>
      <p:pic>
        <p:nvPicPr>
          <p:cNvPr id="9027" name="Readyset standard logo 27"/>
          <p:cNvPicPr>
            <a:picLocks noChangeAspect="1"/>
          </p:cNvPicPr>
          <p:nvPr/>
        </p:nvPicPr>
        <p:blipFill>
          <a:blip r:embed="rId4"/>
          <a:stretch/>
        </p:blipFill>
        <p:spPr>
          <a:xfrm>
            <a:off x="457200" y="239275"/>
            <a:ext cx="952500" cy="216776"/>
          </a:xfrm>
          <a:prstGeom prst="rect">
            <a:avLst/>
          </a:prstGeom>
        </p:spPr>
      </p:pic>
      <p:sp>
        <p:nvSpPr>
          <p:cNvPr id="952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2"/>
        <p:cNvGrpSpPr/>
        <p:nvPr/>
      </p:nvGrpSpPr>
      <p:grpSpPr>
        <a:xfrm>
          <a:off x="0" y="0"/>
          <a:ext cx="0" cy="0"/>
          <a:chOff x="0" y="0"/>
          <a:chExt cx="0" cy="0"/>
        </a:xfrm>
      </p:grpSpPr>
      <p:sp>
        <p:nvSpPr>
          <p:cNvPr id="703" name="Google Shape;703;p32"/>
          <p:cNvSpPr/>
          <p:nvPr/>
        </p:nvSpPr>
        <p:spPr>
          <a:xfrm>
            <a:off x="933603" y="1381201"/>
            <a:ext cx="7048653" cy="619049"/>
          </a:xfrm>
          <a:prstGeom prst="roundRect">
            <a:avLst>
              <a:gd name="adj" fmla="val 6130"/>
            </a:avLst>
          </a:prstGeom>
          <a:solidFill>
            <a:srgbClr val="0F0F0F"/>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05" name="Google Shape;705;p32"/>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overview</a:t>
            </a:r>
            <a:endParaRPr sz="900" b="0">
              <a:solidFill>
                <a:srgbClr val="666666"/>
              </a:solidFill>
              <a:latin typeface="Arial"/>
              <a:ea typeface="Arial"/>
              <a:cs typeface="Arial"/>
              <a:sym typeface="Arial"/>
            </a:endParaRPr>
          </a:p>
        </p:txBody>
      </p:sp>
      <p:sp>
        <p:nvSpPr>
          <p:cNvPr id="706" name="Google Shape;706;p32"/>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Every SQL operator becomes a node in the graph</a:t>
            </a:r>
            <a:endParaRPr sz="2700" b="1">
              <a:solidFill>
                <a:srgbClr val="171717"/>
              </a:solidFill>
              <a:latin typeface="Arial"/>
              <a:ea typeface="Arial"/>
              <a:cs typeface="Arial"/>
              <a:sym typeface="Arial"/>
            </a:endParaRPr>
          </a:p>
        </p:txBody>
      </p:sp>
      <p:sp>
        <p:nvSpPr>
          <p:cNvPr id="707" name="Google Shape;707;p32"/>
          <p:cNvSpPr txBox="1"/>
          <p:nvPr/>
        </p:nvSpPr>
        <p:spPr>
          <a:xfrm>
            <a:off x="1123798" y="1466698"/>
            <a:ext cx="6667805"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example query</a:t>
            </a:r>
            <a:endParaRPr sz="488">
              <a:solidFill>
                <a:schemeClr val="dk1"/>
              </a:solidFill>
              <a:latin typeface="Arial"/>
              <a:ea typeface="Arial"/>
              <a:cs typeface="Arial"/>
              <a:sym typeface="Arial"/>
            </a:endParaRPr>
          </a:p>
        </p:txBody>
      </p:sp>
      <p:sp>
        <p:nvSpPr>
          <p:cNvPr id="708" name="Google Shape;708;p32"/>
          <p:cNvSpPr txBox="1"/>
          <p:nvPr/>
        </p:nvSpPr>
        <p:spPr>
          <a:xfrm>
            <a:off x="1123798" y="1595628"/>
            <a:ext cx="6667805" cy="133503"/>
          </a:xfrm>
          <a:prstGeom prst="rect">
            <a:avLst/>
          </a:prstGeom>
          <a:noFill/>
          <a:ln>
            <a:noFill/>
          </a:ln>
        </p:spPr>
        <p:txBody>
          <a:bodyPr spcFirstLastPara="1" wrap="square" lIns="0" tIns="0" rIns="0" bIns="0" anchor="ctr" anchorCtr="0">
            <a:noAutofit/>
          </a:bodyPr>
          <a:lstStyle/>
          <a:p>
            <a:pPr>
              <a:buClr>
                <a:srgbClr val="555555"/>
              </a:buClr>
              <a:buSzPts val="1500"/>
            </a:pPr>
            <a:r>
              <a:rPr lang="en-US" sz="750">
                <a:solidFill>
                  <a:srgbClr val="EEEEEE"/>
                </a:solidFill>
                <a:latin typeface="Arial"/>
                <a:ea typeface="Arial"/>
                <a:cs typeface="Arial"/>
                <a:sym typeface="IBM Plex Mono"/>
              </a:rPr>
              <a:t>SELECT</a:t>
            </a:r>
            <a:r>
              <a:rPr lang="en-US" sz="750">
                <a:solidFill>
                  <a:srgbClr val="EDEDEC"/>
                </a:solidFill>
                <a:latin typeface="Arial"/>
                <a:ea typeface="Arial"/>
                <a:cs typeface="Arial"/>
                <a:sym typeface="IBM Plex Mono"/>
              </a:rPr>
              <a:t> s.id, s.author, s.title, </a:t>
            </a:r>
            <a:r>
              <a:rPr lang="en-US" sz="750">
                <a:solidFill>
                  <a:srgbClr val="79C0FF"/>
                </a:solidFill>
                <a:latin typeface="Arial"/>
                <a:ea typeface="Arial"/>
                <a:cs typeface="Arial"/>
                <a:sym typeface="IBM Plex Mono"/>
              </a:rPr>
              <a:t>COUNT</a:t>
            </a:r>
            <a:r>
              <a:rPr lang="en-US" sz="750">
                <a:solidFill>
                  <a:srgbClr val="EDEDEC"/>
                </a:solidFill>
                <a:latin typeface="Arial"/>
                <a:ea typeface="Arial"/>
                <a:cs typeface="Arial"/>
                <a:sym typeface="IBM Plex Mono"/>
              </a:rPr>
              <a:t>(v.*) </a:t>
            </a:r>
            <a:r>
              <a:rPr lang="en-US" sz="750">
                <a:solidFill>
                  <a:srgbClr val="EEEEEE"/>
                </a:solidFill>
                <a:latin typeface="Arial"/>
                <a:ea typeface="Arial"/>
                <a:cs typeface="Arial"/>
                <a:sym typeface="IBM Plex Mono"/>
              </a:rPr>
              <a:t>AS</a:t>
            </a:r>
            <a:r>
              <a:rPr lang="en-US" sz="750">
                <a:solidFill>
                  <a:srgbClr val="EDEDEC"/>
                </a:solidFill>
                <a:latin typeface="Arial"/>
                <a:ea typeface="Arial"/>
                <a:cs typeface="Arial"/>
                <a:sym typeface="IBM Plex Mono"/>
              </a:rPr>
              <a:t> vcount</a:t>
            </a:r>
            <a:endParaRPr sz="750">
              <a:solidFill>
                <a:schemeClr val="dk1"/>
              </a:solidFill>
              <a:latin typeface="Arial"/>
              <a:ea typeface="Arial"/>
              <a:cs typeface="Arial"/>
              <a:sym typeface="Arial"/>
            </a:endParaRPr>
          </a:p>
        </p:txBody>
      </p:sp>
      <p:sp>
        <p:nvSpPr>
          <p:cNvPr id="709" name="Google Shape;709;p32"/>
          <p:cNvSpPr txBox="1"/>
          <p:nvPr/>
        </p:nvSpPr>
        <p:spPr>
          <a:xfrm>
            <a:off x="1123798" y="1728673"/>
            <a:ext cx="6667805" cy="133503"/>
          </a:xfrm>
          <a:prstGeom prst="rect">
            <a:avLst/>
          </a:prstGeom>
          <a:noFill/>
          <a:ln>
            <a:noFill/>
          </a:ln>
        </p:spPr>
        <p:txBody>
          <a:bodyPr spcFirstLastPara="1" wrap="square" lIns="0" tIns="0" rIns="0" bIns="0" anchor="ctr" anchorCtr="0">
            <a:noAutofit/>
          </a:bodyPr>
          <a:lstStyle/>
          <a:p>
            <a:pPr>
              <a:buClr>
                <a:srgbClr val="555555"/>
              </a:buClr>
              <a:buSzPts val="1500"/>
            </a:pPr>
            <a:r>
              <a:rPr lang="en-US" sz="750">
                <a:solidFill>
                  <a:srgbClr val="EEEEEE"/>
                </a:solidFill>
                <a:latin typeface="Arial"/>
                <a:ea typeface="Arial"/>
                <a:cs typeface="Arial"/>
                <a:sym typeface="IBM Plex Mono"/>
              </a:rPr>
              <a:t>FROM</a:t>
            </a:r>
            <a:r>
              <a:rPr lang="en-US" sz="750">
                <a:solidFill>
                  <a:srgbClr val="EDEDEC"/>
                </a:solidFill>
                <a:latin typeface="Arial"/>
                <a:ea typeface="Arial"/>
                <a:cs typeface="Arial"/>
                <a:sym typeface="IBM Plex Mono"/>
              </a:rPr>
              <a:t> stories s </a:t>
            </a:r>
            <a:r>
              <a:rPr lang="en-US" sz="750">
                <a:solidFill>
                  <a:srgbClr val="EEEEEE"/>
                </a:solidFill>
                <a:latin typeface="Arial"/>
                <a:ea typeface="Arial"/>
                <a:cs typeface="Arial"/>
                <a:sym typeface="IBM Plex Mono"/>
              </a:rPr>
              <a:t>JOIN</a:t>
            </a:r>
            <a:r>
              <a:rPr lang="en-US" sz="750">
                <a:solidFill>
                  <a:srgbClr val="EDEDEC"/>
                </a:solidFill>
                <a:latin typeface="Arial"/>
                <a:ea typeface="Arial"/>
                <a:cs typeface="Arial"/>
                <a:sym typeface="IBM Plex Mono"/>
              </a:rPr>
              <a:t> votes v </a:t>
            </a:r>
            <a:r>
              <a:rPr lang="en-US" sz="750">
                <a:solidFill>
                  <a:srgbClr val="EEEEEE"/>
                </a:solidFill>
                <a:latin typeface="Arial"/>
                <a:ea typeface="Arial"/>
                <a:cs typeface="Arial"/>
                <a:sym typeface="IBM Plex Mono"/>
              </a:rPr>
              <a:t>ON</a:t>
            </a:r>
            <a:r>
              <a:rPr lang="en-US" sz="750">
                <a:solidFill>
                  <a:srgbClr val="EDEDEC"/>
                </a:solidFill>
                <a:latin typeface="Arial"/>
                <a:ea typeface="Arial"/>
                <a:cs typeface="Arial"/>
                <a:sym typeface="IBM Plex Mono"/>
              </a:rPr>
              <a:t> v.story_id </a:t>
            </a:r>
            <a:r>
              <a:rPr lang="en-US" sz="750">
                <a:solidFill>
                  <a:srgbClr val="EEEEEE"/>
                </a:solidFill>
                <a:latin typeface="Arial"/>
                <a:ea typeface="Arial"/>
                <a:cs typeface="Arial"/>
                <a:sym typeface="IBM Plex Mono"/>
              </a:rPr>
              <a:t>=</a:t>
            </a:r>
            <a:r>
              <a:rPr lang="en-US" sz="750">
                <a:solidFill>
                  <a:srgbClr val="EDEDEC"/>
                </a:solidFill>
                <a:latin typeface="Arial"/>
                <a:ea typeface="Arial"/>
                <a:cs typeface="Arial"/>
                <a:sym typeface="IBM Plex Mono"/>
              </a:rPr>
              <a:t> s.id </a:t>
            </a:r>
            <a:r>
              <a:rPr lang="en-US" sz="750">
                <a:solidFill>
                  <a:srgbClr val="EEEEEE"/>
                </a:solidFill>
                <a:latin typeface="Arial"/>
                <a:ea typeface="Arial"/>
                <a:cs typeface="Arial"/>
                <a:sym typeface="IBM Plex Mono"/>
              </a:rPr>
              <a:t>WHERE</a:t>
            </a:r>
            <a:r>
              <a:rPr lang="en-US" sz="750">
                <a:solidFill>
                  <a:srgbClr val="EDEDEC"/>
                </a:solidFill>
                <a:latin typeface="Arial"/>
                <a:ea typeface="Arial"/>
                <a:cs typeface="Arial"/>
                <a:sym typeface="IBM Plex Mono"/>
              </a:rPr>
              <a:t> s.id </a:t>
            </a:r>
            <a:r>
              <a:rPr lang="en-US" sz="750">
                <a:solidFill>
                  <a:srgbClr val="EEEEEE"/>
                </a:solidFill>
                <a:latin typeface="Arial"/>
                <a:ea typeface="Arial"/>
                <a:cs typeface="Arial"/>
                <a:sym typeface="IBM Plex Mono"/>
              </a:rPr>
              <a:t>=</a:t>
            </a:r>
            <a:r>
              <a:rPr lang="en-US" sz="750">
                <a:solidFill>
                  <a:srgbClr val="EDEDEC"/>
                </a:solidFill>
                <a:latin typeface="Arial"/>
                <a:ea typeface="Arial"/>
                <a:cs typeface="Arial"/>
                <a:sym typeface="IBM Plex Mono"/>
              </a:rPr>
              <a:t> ? </a:t>
            </a:r>
            <a:r>
              <a:rPr lang="en-US" sz="750">
                <a:solidFill>
                  <a:srgbClr val="EEEEEE"/>
                </a:solidFill>
                <a:latin typeface="Arial"/>
                <a:ea typeface="Arial"/>
                <a:cs typeface="Arial"/>
                <a:sym typeface="IBM Plex Mono"/>
              </a:rPr>
              <a:t>GROUP BY</a:t>
            </a:r>
            <a:r>
              <a:rPr lang="en-US" sz="750">
                <a:solidFill>
                  <a:srgbClr val="EDEDEC"/>
                </a:solidFill>
                <a:latin typeface="Arial"/>
                <a:ea typeface="Arial"/>
                <a:cs typeface="Arial"/>
                <a:sym typeface="IBM Plex Mono"/>
              </a:rPr>
              <a:t> s.id;</a:t>
            </a:r>
            <a:endParaRPr sz="750">
              <a:solidFill>
                <a:schemeClr val="dk1"/>
              </a:solidFill>
              <a:latin typeface="Arial"/>
              <a:ea typeface="Arial"/>
              <a:cs typeface="Arial"/>
              <a:sym typeface="Arial"/>
            </a:endParaRPr>
          </a:p>
        </p:txBody>
      </p:sp>
      <p:pic>
        <p:nvPicPr>
          <p:cNvPr id="710" name="Google Shape;710;p32" descr="gen-dedup-23e2dbd5d8512cbde4cf7636293ba37f.jpg"/>
          <p:cNvPicPr preferRelativeResize="0"/>
          <p:nvPr/>
        </p:nvPicPr>
        <p:blipFill rotWithShape="1">
          <a:blip r:embed="rId3">
            <a:alphaModFix/>
          </a:blip>
          <a:srcRect l="-19992" r="-19992"/>
          <a:stretch/>
        </p:blipFill>
        <p:spPr>
          <a:xfrm>
            <a:off x="933603" y="2143354"/>
            <a:ext cx="7048653" cy="2571750"/>
          </a:xfrm>
          <a:prstGeom prst="rect">
            <a:avLst/>
          </a:prstGeom>
          <a:noFill/>
          <a:ln>
            <a:noFill/>
          </a:ln>
        </p:spPr>
      </p:pic>
      <p:pic>
        <p:nvPicPr>
          <p:cNvPr id="9028" name="Readyset standard logo 28"/>
          <p:cNvPicPr>
            <a:picLocks noChangeAspect="1"/>
          </p:cNvPicPr>
          <p:nvPr/>
        </p:nvPicPr>
        <p:blipFill>
          <a:blip r:embed="rId4"/>
          <a:stretch/>
        </p:blipFill>
        <p:spPr>
          <a:xfrm>
            <a:off x="457200" y="239275"/>
            <a:ext cx="952500" cy="216776"/>
          </a:xfrm>
          <a:prstGeom prst="rect">
            <a:avLst/>
          </a:prstGeom>
        </p:spPr>
      </p:pic>
      <p:sp>
        <p:nvSpPr>
          <p:cNvPr id="952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17"/>
        <p:cNvGrpSpPr/>
        <p:nvPr/>
      </p:nvGrpSpPr>
      <p:grpSpPr>
        <a:xfrm>
          <a:off x="0" y="0"/>
          <a:ext cx="0" cy="0"/>
          <a:chOff x="0" y="0"/>
          <a:chExt cx="0" cy="0"/>
        </a:xfrm>
      </p:grpSpPr>
      <p:sp>
        <p:nvSpPr>
          <p:cNvPr id="718" name="Google Shape;718;p33"/>
          <p:cNvSpPr/>
          <p:nvPr/>
        </p:nvSpPr>
        <p:spPr>
          <a:xfrm>
            <a:off x="4362603" y="1523848"/>
            <a:ext cx="4105199" cy="3057754"/>
          </a:xfrm>
          <a:prstGeom prst="roundRect">
            <a:avLst>
              <a:gd name="adj" fmla="val 186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0" name="Google Shape;720;p33"/>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step 1/3</a:t>
            </a:r>
            <a:endParaRPr sz="900" b="0">
              <a:solidFill>
                <a:srgbClr val="666666"/>
              </a:solidFill>
              <a:latin typeface="Arial"/>
              <a:ea typeface="Arial"/>
              <a:cs typeface="Arial"/>
              <a:sym typeface="Arial"/>
            </a:endParaRPr>
          </a:p>
        </p:txBody>
      </p:sp>
      <p:sp>
        <p:nvSpPr>
          <p:cNvPr id="721" name="Google Shape;721;p33"/>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Partial materialization</a:t>
            </a:r>
            <a:endParaRPr sz="2700" b="1">
              <a:solidFill>
                <a:srgbClr val="171717"/>
              </a:solidFill>
              <a:latin typeface="Arial"/>
              <a:ea typeface="Arial"/>
              <a:cs typeface="Arial"/>
              <a:sym typeface="Arial"/>
            </a:endParaRPr>
          </a:p>
        </p:txBody>
      </p:sp>
      <p:sp>
        <p:nvSpPr>
          <p:cNvPr id="722" name="Google Shape;722;p33"/>
          <p:cNvSpPr txBox="1"/>
          <p:nvPr/>
        </p:nvSpPr>
        <p:spPr>
          <a:xfrm>
            <a:off x="457200" y="1523848"/>
            <a:ext cx="3714750" cy="85954"/>
          </a:xfrm>
          <a:prstGeom prst="rect">
            <a:avLst/>
          </a:prstGeom>
          <a:noFill/>
          <a:ln>
            <a:noFill/>
          </a:ln>
        </p:spPr>
        <p:txBody>
          <a:bodyPr spcFirstLastPara="1" wrap="square" lIns="0" tIns="0" rIns="0" bIns="0" anchor="ctr" anchorCtr="0">
            <a:noAutofit/>
          </a:bodyPr>
          <a:lstStyle/>
          <a:p>
            <a:pPr>
              <a:buClr>
                <a:srgbClr val="706E6C"/>
              </a:buClr>
              <a:buSzPts val="1050"/>
            </a:pPr>
            <a:r>
              <a:rPr lang="en-US" sz="525">
                <a:solidFill>
                  <a:srgbClr val="706E6C"/>
                </a:solidFill>
                <a:latin typeface="Arial"/>
                <a:ea typeface="Arial"/>
                <a:cs typeface="Arial"/>
                <a:sym typeface="IBM Plex Mono"/>
              </a:rPr>
              <a:t>building the graph</a:t>
            </a:r>
            <a:endParaRPr sz="525">
              <a:solidFill>
                <a:schemeClr val="dk1"/>
              </a:solidFill>
              <a:latin typeface="Arial"/>
              <a:ea typeface="Arial"/>
              <a:cs typeface="Arial"/>
              <a:sym typeface="Arial"/>
            </a:endParaRPr>
          </a:p>
        </p:txBody>
      </p:sp>
      <p:sp>
        <p:nvSpPr>
          <p:cNvPr id="723" name="Google Shape;723;p33"/>
          <p:cNvSpPr txBox="1"/>
          <p:nvPr/>
        </p:nvSpPr>
        <p:spPr>
          <a:xfrm>
            <a:off x="457200" y="1657350"/>
            <a:ext cx="3714750" cy="367132"/>
          </a:xfrm>
          <a:prstGeom prst="rect">
            <a:avLst/>
          </a:prstGeom>
          <a:noFill/>
          <a:ln>
            <a:noFill/>
          </a:ln>
        </p:spPr>
        <p:txBody>
          <a:bodyPr spcFirstLastPara="1" wrap="square" lIns="0" tIns="0" rIns="0" bIns="0" anchor="ctr" anchorCtr="0">
            <a:noAutofit/>
          </a:bodyPr>
          <a:lstStyle/>
          <a:p>
            <a:pPr>
              <a:lnSpc>
                <a:spcPct val="120000"/>
              </a:lnSpc>
              <a:buClr>
                <a:srgbClr val="161615"/>
              </a:buClr>
              <a:buSzPts val="2400"/>
            </a:pPr>
            <a:r>
              <a:rPr lang="en-US" sz="1200" b="1">
                <a:solidFill>
                  <a:srgbClr val="161615"/>
                </a:solidFill>
                <a:latin typeface="Arial"/>
                <a:ea typeface="Arial"/>
                <a:cs typeface="Arial"/>
                <a:sym typeface="Arial"/>
              </a:rPr>
              <a:t>The operator graph materializes </a:t>
            </a:r>
            <a:r>
              <a:rPr lang="en-US" sz="1200" b="1">
                <a:solidFill>
                  <a:srgbClr val="555555"/>
                </a:solidFill>
                <a:latin typeface="Arial"/>
                <a:ea typeface="Arial"/>
                <a:cs typeface="Arial"/>
                <a:sym typeface="Arial"/>
              </a:rPr>
              <a:t>only what was queried</a:t>
            </a:r>
            <a:r>
              <a:rPr lang="en-US" sz="1200" b="1">
                <a:solidFill>
                  <a:srgbClr val="161615"/>
                </a:solidFill>
                <a:latin typeface="Arial"/>
                <a:ea typeface="Arial"/>
                <a:cs typeface="Arial"/>
                <a:sym typeface="Arial"/>
              </a:rPr>
              <a:t>.</a:t>
            </a:r>
            <a:endParaRPr sz="1200">
              <a:solidFill>
                <a:schemeClr val="dk1"/>
              </a:solidFill>
              <a:latin typeface="Arial"/>
              <a:ea typeface="Arial"/>
              <a:cs typeface="Arial"/>
              <a:sym typeface="Arial"/>
            </a:endParaRPr>
          </a:p>
        </p:txBody>
      </p:sp>
      <p:sp>
        <p:nvSpPr>
          <p:cNvPr id="724" name="Google Shape;724;p33"/>
          <p:cNvSpPr/>
          <p:nvPr/>
        </p:nvSpPr>
        <p:spPr>
          <a:xfrm>
            <a:off x="457200" y="221924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5" name="Google Shape;725;p33"/>
          <p:cNvSpPr txBox="1"/>
          <p:nvPr/>
        </p:nvSpPr>
        <p:spPr>
          <a:xfrm>
            <a:off x="657454" y="2143354"/>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Base Tables. </a:t>
            </a:r>
            <a:r>
              <a:rPr lang="en-US" sz="825">
                <a:solidFill>
                  <a:srgbClr val="2A2A29"/>
                </a:solidFill>
                <a:latin typeface="Arial"/>
                <a:ea typeface="Arial"/>
                <a:cs typeface="Arial"/>
                <a:sym typeface="Arial"/>
              </a:rPr>
              <a:t>In-memory copies of PostgreSQL tables — hydrated by the initial Snapshot and updated by the Replicator.</a:t>
            </a:r>
            <a:endParaRPr sz="825">
              <a:solidFill>
                <a:schemeClr val="dk1"/>
              </a:solidFill>
              <a:latin typeface="Arial"/>
              <a:ea typeface="Arial"/>
              <a:cs typeface="Arial"/>
              <a:sym typeface="Arial"/>
            </a:endParaRPr>
          </a:p>
        </p:txBody>
      </p:sp>
      <p:sp>
        <p:nvSpPr>
          <p:cNvPr id="726" name="Google Shape;726;p33"/>
          <p:cNvSpPr/>
          <p:nvPr/>
        </p:nvSpPr>
        <p:spPr>
          <a:xfrm>
            <a:off x="457200" y="2645817"/>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7" name="Google Shape;727;p33"/>
          <p:cNvSpPr txBox="1"/>
          <p:nvPr/>
        </p:nvSpPr>
        <p:spPr>
          <a:xfrm>
            <a:off x="657454" y="2569921"/>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Intermediate operators. </a:t>
            </a:r>
            <a:r>
              <a:rPr lang="en-US" sz="825">
                <a:solidFill>
                  <a:srgbClr val="2A2A29"/>
                </a:solidFill>
                <a:latin typeface="Arial"/>
                <a:ea typeface="Arial"/>
                <a:cs typeface="Arial"/>
                <a:sym typeface="Arial"/>
              </a:rPr>
              <a:t>The query parser becomes a graph: </a:t>
            </a:r>
            <a:r>
              <a:rPr lang="en-US" sz="825">
                <a:solidFill>
                  <a:srgbClr val="161615"/>
                </a:solidFill>
                <a:latin typeface="Arial"/>
                <a:ea typeface="Arial"/>
                <a:cs typeface="Arial"/>
                <a:sym typeface="IBM Plex Mono"/>
              </a:rPr>
              <a:t>GROUP BY</a:t>
            </a:r>
            <a:r>
              <a:rPr lang="en-US" sz="825">
                <a:solidFill>
                  <a:srgbClr val="2A2A29"/>
                </a:solidFill>
                <a:latin typeface="Arial"/>
                <a:ea typeface="Arial"/>
                <a:cs typeface="Arial"/>
                <a:sym typeface="Arial"/>
              </a:rPr>
              <a:t>, </a:t>
            </a:r>
            <a:r>
              <a:rPr lang="en-US" sz="825">
                <a:solidFill>
                  <a:srgbClr val="161615"/>
                </a:solidFill>
                <a:latin typeface="Arial"/>
                <a:ea typeface="Arial"/>
                <a:cs typeface="Arial"/>
                <a:sym typeface="IBM Plex Mono"/>
              </a:rPr>
              <a:t>JOIN</a:t>
            </a:r>
            <a:r>
              <a:rPr lang="en-US" sz="825">
                <a:solidFill>
                  <a:srgbClr val="2A2A29"/>
                </a:solidFill>
                <a:latin typeface="Arial"/>
                <a:ea typeface="Arial"/>
                <a:cs typeface="Arial"/>
                <a:sym typeface="Arial"/>
              </a:rPr>
              <a:t>, </a:t>
            </a:r>
            <a:r>
              <a:rPr lang="en-US" sz="825">
                <a:solidFill>
                  <a:srgbClr val="161615"/>
                </a:solidFill>
                <a:latin typeface="Arial"/>
                <a:ea typeface="Arial"/>
                <a:cs typeface="Arial"/>
                <a:sym typeface="IBM Plex Mono"/>
              </a:rPr>
              <a:t>FILTER</a:t>
            </a:r>
            <a:r>
              <a:rPr lang="en-US" sz="825">
                <a:solidFill>
                  <a:srgbClr val="2A2A29"/>
                </a:solidFill>
                <a:latin typeface="Arial"/>
                <a:ea typeface="Arial"/>
                <a:cs typeface="Arial"/>
                <a:sym typeface="Arial"/>
              </a:rPr>
              <a:t>, </a:t>
            </a:r>
            <a:r>
              <a:rPr lang="en-US" sz="825">
                <a:solidFill>
                  <a:srgbClr val="161615"/>
                </a:solidFill>
                <a:latin typeface="Arial"/>
                <a:ea typeface="Arial"/>
                <a:cs typeface="Arial"/>
                <a:sym typeface="IBM Plex Mono"/>
              </a:rPr>
              <a:t>COUNT</a:t>
            </a:r>
            <a:r>
              <a:rPr lang="en-US" sz="825">
                <a:solidFill>
                  <a:srgbClr val="2A2A29"/>
                </a:solidFill>
                <a:latin typeface="Arial"/>
                <a:ea typeface="Arial"/>
                <a:cs typeface="Arial"/>
                <a:sym typeface="Arial"/>
              </a:rPr>
              <a:t> — each one a node.</a:t>
            </a:r>
            <a:endParaRPr sz="825">
              <a:solidFill>
                <a:schemeClr val="dk1"/>
              </a:solidFill>
              <a:latin typeface="Arial"/>
              <a:ea typeface="Arial"/>
              <a:cs typeface="Arial"/>
              <a:sym typeface="Arial"/>
            </a:endParaRPr>
          </a:p>
        </p:txBody>
      </p:sp>
      <p:sp>
        <p:nvSpPr>
          <p:cNvPr id="728" name="Google Shape;728;p33"/>
          <p:cNvSpPr/>
          <p:nvPr/>
        </p:nvSpPr>
        <p:spPr>
          <a:xfrm>
            <a:off x="457200" y="3072841"/>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29" name="Google Shape;729;p33"/>
          <p:cNvSpPr txBox="1"/>
          <p:nvPr/>
        </p:nvSpPr>
        <p:spPr>
          <a:xfrm>
            <a:off x="657454" y="2996489"/>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Reader. </a:t>
            </a:r>
            <a:r>
              <a:rPr lang="en-US" sz="825">
                <a:solidFill>
                  <a:srgbClr val="2A2A29"/>
                </a:solidFill>
                <a:latin typeface="Arial"/>
                <a:ea typeface="Arial"/>
                <a:cs typeface="Arial"/>
                <a:sym typeface="Arial"/>
              </a:rPr>
              <a:t>The terminal node — stores the final result set handed to the client, keyed for lookup.</a:t>
            </a:r>
            <a:endParaRPr sz="825">
              <a:solidFill>
                <a:schemeClr val="dk1"/>
              </a:solidFill>
              <a:latin typeface="Arial"/>
              <a:ea typeface="Arial"/>
              <a:cs typeface="Arial"/>
              <a:sym typeface="Arial"/>
            </a:endParaRPr>
          </a:p>
        </p:txBody>
      </p:sp>
      <p:sp>
        <p:nvSpPr>
          <p:cNvPr id="730" name="Google Shape;730;p33"/>
          <p:cNvSpPr/>
          <p:nvPr/>
        </p:nvSpPr>
        <p:spPr>
          <a:xfrm>
            <a:off x="457200" y="349940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31" name="Google Shape;731;p33"/>
          <p:cNvSpPr txBox="1"/>
          <p:nvPr/>
        </p:nvSpPr>
        <p:spPr>
          <a:xfrm>
            <a:off x="657454" y="3423057"/>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Partial materialization. </a:t>
            </a:r>
            <a:r>
              <a:rPr lang="en-US" sz="825">
                <a:solidFill>
                  <a:srgbClr val="2A2A29"/>
                </a:solidFill>
                <a:latin typeface="Arial"/>
                <a:ea typeface="Arial"/>
                <a:cs typeface="Arial"/>
                <a:sym typeface="Arial"/>
              </a:rPr>
              <a:t>Each node holds only the rows actually queried — no eager materialization of whole views.</a:t>
            </a:r>
            <a:endParaRPr sz="825">
              <a:solidFill>
                <a:schemeClr val="dk1"/>
              </a:solidFill>
              <a:latin typeface="Arial"/>
              <a:ea typeface="Arial"/>
              <a:cs typeface="Arial"/>
              <a:sym typeface="Arial"/>
            </a:endParaRPr>
          </a:p>
        </p:txBody>
      </p:sp>
      <p:pic>
        <p:nvPicPr>
          <p:cNvPr id="732" name="Google Shape;732;p33" descr="gen-dedup-23e2dbd5d8512cbde4cf7636293ba37f.jpg"/>
          <p:cNvPicPr preferRelativeResize="0"/>
          <p:nvPr/>
        </p:nvPicPr>
        <p:blipFill rotWithShape="1">
          <a:blip r:embed="rId3">
            <a:alphaModFix/>
          </a:blip>
          <a:srcRect t="-19245" b="-19245"/>
          <a:stretch/>
        </p:blipFill>
        <p:spPr>
          <a:xfrm>
            <a:off x="4457700" y="1657350"/>
            <a:ext cx="3905403" cy="2762403"/>
          </a:xfrm>
          <a:prstGeom prst="rect">
            <a:avLst/>
          </a:prstGeom>
          <a:noFill/>
          <a:ln>
            <a:noFill/>
          </a:ln>
        </p:spPr>
      </p:pic>
      <p:pic>
        <p:nvPicPr>
          <p:cNvPr id="9029" name="Readyset standard logo 29"/>
          <p:cNvPicPr>
            <a:picLocks noChangeAspect="1"/>
          </p:cNvPicPr>
          <p:nvPr/>
        </p:nvPicPr>
        <p:blipFill>
          <a:blip r:embed="rId4"/>
          <a:stretch/>
        </p:blipFill>
        <p:spPr>
          <a:xfrm>
            <a:off x="457200" y="239275"/>
            <a:ext cx="952500" cy="216776"/>
          </a:xfrm>
          <a:prstGeom prst="rect">
            <a:avLst/>
          </a:prstGeom>
        </p:spPr>
      </p:pic>
      <p:sp>
        <p:nvSpPr>
          <p:cNvPr id="952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39"/>
        <p:cNvGrpSpPr/>
        <p:nvPr/>
      </p:nvGrpSpPr>
      <p:grpSpPr>
        <a:xfrm>
          <a:off x="0" y="0"/>
          <a:ext cx="0" cy="0"/>
          <a:chOff x="0" y="0"/>
          <a:chExt cx="0" cy="0"/>
        </a:xfrm>
      </p:grpSpPr>
      <p:sp>
        <p:nvSpPr>
          <p:cNvPr id="740" name="Google Shape;740;p34"/>
          <p:cNvSpPr/>
          <p:nvPr/>
        </p:nvSpPr>
        <p:spPr>
          <a:xfrm>
            <a:off x="4362603" y="1523848"/>
            <a:ext cx="4105199" cy="3057754"/>
          </a:xfrm>
          <a:prstGeom prst="roundRect">
            <a:avLst>
              <a:gd name="adj" fmla="val 186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42" name="Google Shape;742;p34"/>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step 2/3</a:t>
            </a:r>
            <a:endParaRPr sz="900" b="0">
              <a:solidFill>
                <a:srgbClr val="666666"/>
              </a:solidFill>
              <a:latin typeface="Arial"/>
              <a:ea typeface="Arial"/>
              <a:cs typeface="Arial"/>
              <a:sym typeface="Arial"/>
            </a:endParaRPr>
          </a:p>
        </p:txBody>
      </p:sp>
      <p:sp>
        <p:nvSpPr>
          <p:cNvPr id="743" name="Google Shape;743;p34"/>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Cache miss — compute on demand</a:t>
            </a:r>
            <a:endParaRPr sz="2700" b="1">
              <a:solidFill>
                <a:srgbClr val="171717"/>
              </a:solidFill>
              <a:latin typeface="Arial"/>
              <a:ea typeface="Arial"/>
              <a:cs typeface="Arial"/>
              <a:sym typeface="Arial"/>
            </a:endParaRPr>
          </a:p>
        </p:txBody>
      </p:sp>
      <p:sp>
        <p:nvSpPr>
          <p:cNvPr id="744" name="Google Shape;744;p34"/>
          <p:cNvSpPr txBox="1"/>
          <p:nvPr/>
        </p:nvSpPr>
        <p:spPr>
          <a:xfrm>
            <a:off x="457200" y="1523848"/>
            <a:ext cx="3714750" cy="85954"/>
          </a:xfrm>
          <a:prstGeom prst="rect">
            <a:avLst/>
          </a:prstGeom>
          <a:noFill/>
          <a:ln>
            <a:noFill/>
          </a:ln>
        </p:spPr>
        <p:txBody>
          <a:bodyPr spcFirstLastPara="1" wrap="square" lIns="0" tIns="0" rIns="0" bIns="0" anchor="ctr" anchorCtr="0">
            <a:noAutofit/>
          </a:bodyPr>
          <a:lstStyle/>
          <a:p>
            <a:pPr>
              <a:buClr>
                <a:srgbClr val="706E6C"/>
              </a:buClr>
              <a:buSzPts val="1050"/>
            </a:pPr>
            <a:r>
              <a:rPr lang="en-US" sz="525">
                <a:solidFill>
                  <a:srgbClr val="706E6C"/>
                </a:solidFill>
                <a:latin typeface="Arial"/>
                <a:ea typeface="Arial"/>
                <a:cs typeface="Arial"/>
                <a:sym typeface="IBM Plex Mono"/>
              </a:rPr>
              <a:t>a new key arrives</a:t>
            </a:r>
            <a:endParaRPr sz="525">
              <a:solidFill>
                <a:schemeClr val="dk1"/>
              </a:solidFill>
              <a:latin typeface="Arial"/>
              <a:ea typeface="Arial"/>
              <a:cs typeface="Arial"/>
              <a:sym typeface="Arial"/>
            </a:endParaRPr>
          </a:p>
        </p:txBody>
      </p:sp>
      <p:sp>
        <p:nvSpPr>
          <p:cNvPr id="745" name="Google Shape;745;p34"/>
          <p:cNvSpPr txBox="1"/>
          <p:nvPr/>
        </p:nvSpPr>
        <p:spPr>
          <a:xfrm>
            <a:off x="457200" y="1657350"/>
            <a:ext cx="3714750" cy="371704"/>
          </a:xfrm>
          <a:prstGeom prst="rect">
            <a:avLst/>
          </a:prstGeom>
          <a:noFill/>
          <a:ln>
            <a:noFill/>
          </a:ln>
        </p:spPr>
        <p:txBody>
          <a:bodyPr spcFirstLastPara="1" wrap="square" lIns="0" tIns="0" rIns="0" bIns="0" anchor="ctr" anchorCtr="0">
            <a:noAutofit/>
          </a:bodyPr>
          <a:lstStyle/>
          <a:p>
            <a:pPr>
              <a:lnSpc>
                <a:spcPct val="120000"/>
              </a:lnSpc>
              <a:buClr>
                <a:srgbClr val="161615"/>
              </a:buClr>
              <a:buSzPts val="2400"/>
            </a:pPr>
            <a:r>
              <a:rPr lang="en-US" sz="1200" b="1">
                <a:solidFill>
                  <a:srgbClr val="161615"/>
                </a:solidFill>
                <a:latin typeface="Arial"/>
                <a:ea typeface="Arial"/>
                <a:cs typeface="Arial"/>
                <a:sym typeface="Arial"/>
              </a:rPr>
              <a:t>A user requests </a:t>
            </a:r>
            <a:r>
              <a:rPr lang="en-US" sz="1200" b="1">
                <a:solidFill>
                  <a:srgbClr val="555555"/>
                </a:solidFill>
                <a:latin typeface="Arial"/>
                <a:ea typeface="Arial"/>
                <a:cs typeface="Arial"/>
                <a:sym typeface="IBM Plex Mono"/>
              </a:rPr>
              <a:t>id = 3</a:t>
            </a:r>
            <a:r>
              <a:rPr lang="en-US" sz="1200" b="1">
                <a:solidFill>
                  <a:srgbClr val="161615"/>
                </a:solidFill>
                <a:latin typeface="Arial"/>
                <a:ea typeface="Arial"/>
                <a:cs typeface="Arial"/>
                <a:sym typeface="Arial"/>
              </a:rPr>
              <a:t> — but it isn't materialized yet.</a:t>
            </a:r>
            <a:endParaRPr sz="1200">
              <a:solidFill>
                <a:schemeClr val="dk1"/>
              </a:solidFill>
              <a:latin typeface="Arial"/>
              <a:ea typeface="Arial"/>
              <a:cs typeface="Arial"/>
              <a:sym typeface="Arial"/>
            </a:endParaRPr>
          </a:p>
        </p:txBody>
      </p:sp>
      <p:sp>
        <p:nvSpPr>
          <p:cNvPr id="746" name="Google Shape;746;p34"/>
          <p:cNvSpPr/>
          <p:nvPr/>
        </p:nvSpPr>
        <p:spPr>
          <a:xfrm>
            <a:off x="457200" y="221924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47" name="Google Shape;747;p34"/>
          <p:cNvSpPr txBox="1"/>
          <p:nvPr/>
        </p:nvSpPr>
        <p:spPr>
          <a:xfrm>
            <a:off x="657454" y="2143354"/>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Miss at the Reader. </a:t>
            </a:r>
            <a:r>
              <a:rPr lang="en-US" sz="825">
                <a:solidFill>
                  <a:srgbClr val="2A2A29"/>
                </a:solidFill>
                <a:latin typeface="Arial"/>
                <a:ea typeface="Arial"/>
                <a:cs typeface="Arial"/>
                <a:sym typeface="Arial"/>
              </a:rPr>
              <a:t>The key </a:t>
            </a:r>
            <a:r>
              <a:rPr lang="en-US" sz="825">
                <a:solidFill>
                  <a:srgbClr val="161615"/>
                </a:solidFill>
                <a:latin typeface="Arial"/>
                <a:ea typeface="Arial"/>
                <a:cs typeface="Arial"/>
                <a:sym typeface="IBM Plex Mono"/>
              </a:rPr>
              <a:t>id=3</a:t>
            </a:r>
            <a:r>
              <a:rPr lang="en-US" sz="825">
                <a:solidFill>
                  <a:srgbClr val="2A2A29"/>
                </a:solidFill>
                <a:latin typeface="Arial"/>
                <a:ea typeface="Arial"/>
                <a:cs typeface="Arial"/>
                <a:sym typeface="Arial"/>
              </a:rPr>
              <a:t> isn't available in the materialized result.</a:t>
            </a:r>
            <a:endParaRPr sz="825">
              <a:solidFill>
                <a:schemeClr val="dk1"/>
              </a:solidFill>
              <a:latin typeface="Arial"/>
              <a:ea typeface="Arial"/>
              <a:cs typeface="Arial"/>
              <a:sym typeface="Arial"/>
            </a:endParaRPr>
          </a:p>
        </p:txBody>
      </p:sp>
      <p:sp>
        <p:nvSpPr>
          <p:cNvPr id="748" name="Google Shape;748;p34"/>
          <p:cNvSpPr/>
          <p:nvPr/>
        </p:nvSpPr>
        <p:spPr>
          <a:xfrm>
            <a:off x="457200" y="2645817"/>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49" name="Google Shape;749;p34"/>
          <p:cNvSpPr txBox="1"/>
          <p:nvPr/>
        </p:nvSpPr>
        <p:spPr>
          <a:xfrm>
            <a:off x="657454" y="2569921"/>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Upquery. </a:t>
            </a:r>
            <a:r>
              <a:rPr lang="en-US" sz="825">
                <a:solidFill>
                  <a:srgbClr val="2A2A29"/>
                </a:solidFill>
                <a:latin typeface="Arial"/>
                <a:ea typeface="Arial"/>
                <a:cs typeface="Arial"/>
                <a:sym typeface="Arial"/>
              </a:rPr>
              <a:t>The Reader fires a reverse query — walks up the graph asking only for the rows relevant to </a:t>
            </a:r>
            <a:r>
              <a:rPr lang="en-US" sz="825">
                <a:solidFill>
                  <a:srgbClr val="161615"/>
                </a:solidFill>
                <a:latin typeface="Arial"/>
                <a:ea typeface="Arial"/>
                <a:cs typeface="Arial"/>
                <a:sym typeface="IBM Plex Mono"/>
              </a:rPr>
              <a:t>story_id=3</a:t>
            </a:r>
            <a:r>
              <a:rPr lang="en-US" sz="825">
                <a:solidFill>
                  <a:srgbClr val="2A2A29"/>
                </a:solidFill>
                <a:latin typeface="Arial"/>
                <a:ea typeface="Arial"/>
                <a:cs typeface="Arial"/>
                <a:sym typeface="Arial"/>
              </a:rPr>
              <a:t>.</a:t>
            </a:r>
            <a:endParaRPr sz="825">
              <a:solidFill>
                <a:schemeClr val="dk1"/>
              </a:solidFill>
              <a:latin typeface="Arial"/>
              <a:ea typeface="Arial"/>
              <a:cs typeface="Arial"/>
              <a:sym typeface="Arial"/>
            </a:endParaRPr>
          </a:p>
        </p:txBody>
      </p:sp>
      <p:sp>
        <p:nvSpPr>
          <p:cNvPr id="750" name="Google Shape;750;p34"/>
          <p:cNvSpPr/>
          <p:nvPr/>
        </p:nvSpPr>
        <p:spPr>
          <a:xfrm>
            <a:off x="457200" y="3072841"/>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51" name="Google Shape;751;p34"/>
          <p:cNvSpPr txBox="1"/>
          <p:nvPr/>
        </p:nvSpPr>
        <p:spPr>
          <a:xfrm>
            <a:off x="657454" y="2996489"/>
            <a:ext cx="3514954" cy="443027"/>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On-demand computation. </a:t>
            </a:r>
            <a:r>
              <a:rPr lang="en-US" sz="825">
                <a:solidFill>
                  <a:srgbClr val="2A2A29"/>
                </a:solidFill>
                <a:latin typeface="Arial"/>
                <a:ea typeface="Arial"/>
                <a:cs typeface="Arial"/>
                <a:sym typeface="Arial"/>
              </a:rPr>
              <a:t>Base Tables filter and return only what's needed → the aggregator recomputes </a:t>
            </a:r>
            <a:r>
              <a:rPr lang="en-US" sz="825">
                <a:solidFill>
                  <a:srgbClr val="161615"/>
                </a:solidFill>
                <a:latin typeface="Arial"/>
                <a:ea typeface="Arial"/>
                <a:cs typeface="Arial"/>
                <a:sym typeface="IBM Plex Mono"/>
              </a:rPr>
              <a:t>vcount=26</a:t>
            </a:r>
            <a:r>
              <a:rPr lang="en-US" sz="825">
                <a:solidFill>
                  <a:srgbClr val="2A2A29"/>
                </a:solidFill>
                <a:latin typeface="Arial"/>
                <a:ea typeface="Arial"/>
                <a:cs typeface="Arial"/>
                <a:sym typeface="Arial"/>
              </a:rPr>
              <a:t> → the JOIN completes with the </a:t>
            </a:r>
            <a:r>
              <a:rPr lang="en-US" sz="825">
                <a:solidFill>
                  <a:srgbClr val="161615"/>
                </a:solidFill>
                <a:latin typeface="Arial"/>
                <a:ea typeface="Arial"/>
                <a:cs typeface="Arial"/>
                <a:sym typeface="IBM Plex Mono"/>
              </a:rPr>
              <a:t>stories</a:t>
            </a:r>
            <a:r>
              <a:rPr lang="en-US" sz="825">
                <a:solidFill>
                  <a:srgbClr val="2A2A29"/>
                </a:solidFill>
                <a:latin typeface="Arial"/>
                <a:ea typeface="Arial"/>
                <a:cs typeface="Arial"/>
                <a:sym typeface="Arial"/>
              </a:rPr>
              <a:t> row.</a:t>
            </a:r>
            <a:endParaRPr sz="825">
              <a:solidFill>
                <a:schemeClr val="dk1"/>
              </a:solidFill>
              <a:latin typeface="Arial"/>
              <a:ea typeface="Arial"/>
              <a:cs typeface="Arial"/>
              <a:sym typeface="Arial"/>
            </a:endParaRPr>
          </a:p>
        </p:txBody>
      </p:sp>
      <p:sp>
        <p:nvSpPr>
          <p:cNvPr id="752" name="Google Shape;752;p34"/>
          <p:cNvSpPr/>
          <p:nvPr/>
        </p:nvSpPr>
        <p:spPr>
          <a:xfrm>
            <a:off x="457200" y="364617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53" name="Google Shape;753;p34"/>
          <p:cNvSpPr txBox="1"/>
          <p:nvPr/>
        </p:nvSpPr>
        <p:spPr>
          <a:xfrm>
            <a:off x="657454" y="3569818"/>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A new row is materialized. </a:t>
            </a:r>
            <a:r>
              <a:rPr lang="en-US" sz="825">
                <a:solidFill>
                  <a:srgbClr val="2A2A29"/>
                </a:solidFill>
                <a:latin typeface="Arial"/>
                <a:ea typeface="Arial"/>
                <a:cs typeface="Arial"/>
                <a:sym typeface="Arial"/>
              </a:rPr>
              <a:t>The Reader now holds </a:t>
            </a:r>
            <a:r>
              <a:rPr lang="en-US" sz="825">
                <a:solidFill>
                  <a:srgbClr val="161615"/>
                </a:solidFill>
                <a:latin typeface="Arial"/>
                <a:ea typeface="Arial"/>
                <a:cs typeface="Arial"/>
                <a:sym typeface="IBM Plex Mono"/>
              </a:rPr>
              <a:t>id=2</a:t>
            </a:r>
            <a:r>
              <a:rPr lang="en-US" sz="825">
                <a:solidFill>
                  <a:srgbClr val="2A2A29"/>
                </a:solidFill>
                <a:latin typeface="Arial"/>
                <a:ea typeface="Arial"/>
                <a:cs typeface="Arial"/>
                <a:sym typeface="Arial"/>
              </a:rPr>
              <a:t> and </a:t>
            </a:r>
            <a:r>
              <a:rPr lang="en-US" sz="825">
                <a:solidFill>
                  <a:srgbClr val="161615"/>
                </a:solidFill>
                <a:latin typeface="Arial"/>
                <a:ea typeface="Arial"/>
                <a:cs typeface="Arial"/>
                <a:sym typeface="IBM Plex Mono"/>
              </a:rPr>
              <a:t>id=3</a:t>
            </a:r>
            <a:r>
              <a:rPr lang="en-US" sz="825">
                <a:solidFill>
                  <a:srgbClr val="2A2A29"/>
                </a:solidFill>
                <a:latin typeface="Arial"/>
                <a:ea typeface="Arial"/>
                <a:cs typeface="Arial"/>
                <a:sym typeface="Arial"/>
              </a:rPr>
              <a:t> — future requests for those keys hit instantly.</a:t>
            </a:r>
            <a:endParaRPr sz="825">
              <a:solidFill>
                <a:schemeClr val="dk1"/>
              </a:solidFill>
              <a:latin typeface="Arial"/>
              <a:ea typeface="Arial"/>
              <a:cs typeface="Arial"/>
              <a:sym typeface="Arial"/>
            </a:endParaRPr>
          </a:p>
        </p:txBody>
      </p:sp>
      <p:sp>
        <p:nvSpPr>
          <p:cNvPr id="754" name="Google Shape;754;p34"/>
          <p:cNvSpPr/>
          <p:nvPr/>
        </p:nvSpPr>
        <p:spPr>
          <a:xfrm>
            <a:off x="457200" y="4072738"/>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55" name="Google Shape;755;p34"/>
          <p:cNvSpPr txBox="1"/>
          <p:nvPr/>
        </p:nvSpPr>
        <p:spPr>
          <a:xfrm>
            <a:off x="657454" y="3996385"/>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No manual coalescing. </a:t>
            </a:r>
            <a:r>
              <a:rPr lang="en-US" sz="825">
                <a:solidFill>
                  <a:srgbClr val="2A2A29"/>
                </a:solidFill>
                <a:latin typeface="Arial"/>
                <a:ea typeface="Arial"/>
                <a:cs typeface="Arial"/>
                <a:sym typeface="Arial"/>
              </a:rPr>
              <a:t>Readyset guarantees that concurrent misses for the same key collapse to a single upquery.</a:t>
            </a:r>
            <a:endParaRPr sz="825">
              <a:solidFill>
                <a:schemeClr val="dk1"/>
              </a:solidFill>
              <a:latin typeface="Arial"/>
              <a:ea typeface="Arial"/>
              <a:cs typeface="Arial"/>
              <a:sym typeface="Arial"/>
            </a:endParaRPr>
          </a:p>
        </p:txBody>
      </p:sp>
      <p:pic>
        <p:nvPicPr>
          <p:cNvPr id="756" name="Google Shape;756;p34" descr="gen-dedup-994fa2dd3a9e6979c828d530f0fd6fda.jpg"/>
          <p:cNvPicPr preferRelativeResize="0"/>
          <p:nvPr/>
        </p:nvPicPr>
        <p:blipFill rotWithShape="1">
          <a:blip r:embed="rId3">
            <a:alphaModFix/>
          </a:blip>
          <a:srcRect t="-19245" b="-19245"/>
          <a:stretch/>
        </p:blipFill>
        <p:spPr>
          <a:xfrm>
            <a:off x="4457700" y="1657350"/>
            <a:ext cx="3905403" cy="2762403"/>
          </a:xfrm>
          <a:prstGeom prst="rect">
            <a:avLst/>
          </a:prstGeom>
          <a:noFill/>
          <a:ln>
            <a:noFill/>
          </a:ln>
        </p:spPr>
      </p:pic>
      <p:pic>
        <p:nvPicPr>
          <p:cNvPr id="9030" name="Readyset standard logo 30"/>
          <p:cNvPicPr>
            <a:picLocks noChangeAspect="1"/>
          </p:cNvPicPr>
          <p:nvPr/>
        </p:nvPicPr>
        <p:blipFill>
          <a:blip r:embed="rId4"/>
          <a:stretch/>
        </p:blipFill>
        <p:spPr>
          <a:xfrm>
            <a:off x="457200" y="239275"/>
            <a:ext cx="952500" cy="216776"/>
          </a:xfrm>
          <a:prstGeom prst="rect">
            <a:avLst/>
          </a:prstGeom>
        </p:spPr>
      </p:pic>
      <p:sp>
        <p:nvSpPr>
          <p:cNvPr id="953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62"/>
        <p:cNvGrpSpPr/>
        <p:nvPr/>
      </p:nvGrpSpPr>
      <p:grpSpPr>
        <a:xfrm>
          <a:off x="0" y="0"/>
          <a:ext cx="0" cy="0"/>
          <a:chOff x="0" y="0"/>
          <a:chExt cx="0" cy="0"/>
        </a:xfrm>
      </p:grpSpPr>
      <p:sp>
        <p:nvSpPr>
          <p:cNvPr id="763" name="Google Shape;763;p35"/>
          <p:cNvSpPr/>
          <p:nvPr/>
        </p:nvSpPr>
        <p:spPr>
          <a:xfrm>
            <a:off x="457200" y="4286250"/>
            <a:ext cx="3714750" cy="285750"/>
          </a:xfrm>
          <a:prstGeom prst="roundRect">
            <a:avLst>
              <a:gd name="adj" fmla="val 10080"/>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64" name="Google Shape;764;p35"/>
          <p:cNvSpPr/>
          <p:nvPr/>
        </p:nvSpPr>
        <p:spPr>
          <a:xfrm>
            <a:off x="4362603" y="1523848"/>
            <a:ext cx="4105199" cy="3057754"/>
          </a:xfrm>
          <a:prstGeom prst="roundRect">
            <a:avLst>
              <a:gd name="adj" fmla="val 1869"/>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66" name="Google Shape;766;p35"/>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dataflow · step 3/3</a:t>
            </a:r>
            <a:endParaRPr sz="900" b="0">
              <a:solidFill>
                <a:srgbClr val="666666"/>
              </a:solidFill>
              <a:latin typeface="Arial"/>
              <a:ea typeface="Arial"/>
              <a:cs typeface="Arial"/>
              <a:sym typeface="Arial"/>
            </a:endParaRPr>
          </a:p>
        </p:txBody>
      </p:sp>
      <p:sp>
        <p:nvSpPr>
          <p:cNvPr id="767" name="Google Shape;767;p35"/>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Incremental view maintenance</a:t>
            </a:r>
            <a:endParaRPr sz="2700" b="1">
              <a:solidFill>
                <a:srgbClr val="171717"/>
              </a:solidFill>
              <a:latin typeface="Arial"/>
              <a:ea typeface="Arial"/>
              <a:cs typeface="Arial"/>
              <a:sym typeface="Arial"/>
            </a:endParaRPr>
          </a:p>
        </p:txBody>
      </p:sp>
      <p:sp>
        <p:nvSpPr>
          <p:cNvPr id="768" name="Google Shape;768;p35"/>
          <p:cNvSpPr txBox="1"/>
          <p:nvPr/>
        </p:nvSpPr>
        <p:spPr>
          <a:xfrm>
            <a:off x="457200" y="1523848"/>
            <a:ext cx="3714750" cy="85954"/>
          </a:xfrm>
          <a:prstGeom prst="rect">
            <a:avLst/>
          </a:prstGeom>
          <a:noFill/>
          <a:ln>
            <a:noFill/>
          </a:ln>
        </p:spPr>
        <p:txBody>
          <a:bodyPr spcFirstLastPara="1" wrap="square" lIns="0" tIns="0" rIns="0" bIns="0" anchor="ctr" anchorCtr="0">
            <a:noAutofit/>
          </a:bodyPr>
          <a:lstStyle/>
          <a:p>
            <a:pPr>
              <a:buClr>
                <a:srgbClr val="706E6C"/>
              </a:buClr>
              <a:buSzPts val="1050"/>
            </a:pPr>
            <a:r>
              <a:rPr lang="en-US" sz="525">
                <a:solidFill>
                  <a:srgbClr val="706E6C"/>
                </a:solidFill>
                <a:latin typeface="Arial"/>
                <a:ea typeface="Arial"/>
                <a:cs typeface="Arial"/>
                <a:sym typeface="IBM Plex Mono"/>
              </a:rPr>
              <a:t>a write arrives — what now?</a:t>
            </a:r>
            <a:endParaRPr sz="525">
              <a:solidFill>
                <a:schemeClr val="dk1"/>
              </a:solidFill>
              <a:latin typeface="Arial"/>
              <a:ea typeface="Arial"/>
              <a:cs typeface="Arial"/>
              <a:sym typeface="Arial"/>
            </a:endParaRPr>
          </a:p>
        </p:txBody>
      </p:sp>
      <p:sp>
        <p:nvSpPr>
          <p:cNvPr id="769" name="Google Shape;769;p35"/>
          <p:cNvSpPr txBox="1"/>
          <p:nvPr/>
        </p:nvSpPr>
        <p:spPr>
          <a:xfrm>
            <a:off x="457200" y="1657350"/>
            <a:ext cx="3714750" cy="371704"/>
          </a:xfrm>
          <a:prstGeom prst="rect">
            <a:avLst/>
          </a:prstGeom>
          <a:noFill/>
          <a:ln>
            <a:noFill/>
          </a:ln>
        </p:spPr>
        <p:txBody>
          <a:bodyPr spcFirstLastPara="1" wrap="square" lIns="0" tIns="0" rIns="0" bIns="0" anchor="ctr" anchorCtr="0">
            <a:noAutofit/>
          </a:bodyPr>
          <a:lstStyle/>
          <a:p>
            <a:pPr>
              <a:lnSpc>
                <a:spcPct val="120000"/>
              </a:lnSpc>
              <a:buClr>
                <a:srgbClr val="161615"/>
              </a:buClr>
              <a:buSzPts val="2400"/>
            </a:pPr>
            <a:r>
              <a:rPr lang="en-US" sz="1200" b="1">
                <a:solidFill>
                  <a:srgbClr val="161615"/>
                </a:solidFill>
                <a:latin typeface="Arial"/>
                <a:ea typeface="Arial"/>
                <a:cs typeface="Arial"/>
                <a:sym typeface="Arial"/>
              </a:rPr>
              <a:t>A new vote from </a:t>
            </a:r>
            <a:r>
              <a:rPr lang="en-US" sz="1200" b="1">
                <a:solidFill>
                  <a:srgbClr val="555555"/>
                </a:solidFill>
                <a:latin typeface="Arial"/>
                <a:ea typeface="Arial"/>
                <a:cs typeface="Arial"/>
                <a:sym typeface="IBM Plex Mono"/>
              </a:rPr>
              <a:t>Marcelo</a:t>
            </a:r>
            <a:r>
              <a:rPr lang="en-US" sz="1200" b="1">
                <a:solidFill>
                  <a:srgbClr val="161615"/>
                </a:solidFill>
                <a:latin typeface="Arial"/>
                <a:ea typeface="Arial"/>
                <a:cs typeface="Arial"/>
                <a:sym typeface="Arial"/>
              </a:rPr>
              <a:t> on </a:t>
            </a:r>
            <a:r>
              <a:rPr lang="en-US" sz="1200" b="1">
                <a:solidFill>
                  <a:srgbClr val="555555"/>
                </a:solidFill>
                <a:latin typeface="Arial"/>
                <a:ea typeface="Arial"/>
                <a:cs typeface="Arial"/>
                <a:sym typeface="IBM Plex Mono"/>
              </a:rPr>
              <a:t>story 2</a:t>
            </a:r>
            <a:r>
              <a:rPr lang="en-US" sz="1200" b="1">
                <a:solidFill>
                  <a:srgbClr val="161615"/>
                </a:solidFill>
                <a:latin typeface="Arial"/>
                <a:ea typeface="Arial"/>
                <a:cs typeface="Arial"/>
                <a:sym typeface="Arial"/>
              </a:rPr>
              <a:t>. The delta propagates.</a:t>
            </a:r>
            <a:endParaRPr sz="1200">
              <a:solidFill>
                <a:schemeClr val="dk1"/>
              </a:solidFill>
              <a:latin typeface="Arial"/>
              <a:ea typeface="Arial"/>
              <a:cs typeface="Arial"/>
              <a:sym typeface="Arial"/>
            </a:endParaRPr>
          </a:p>
        </p:txBody>
      </p:sp>
      <p:sp>
        <p:nvSpPr>
          <p:cNvPr id="770" name="Google Shape;770;p35"/>
          <p:cNvSpPr/>
          <p:nvPr/>
        </p:nvSpPr>
        <p:spPr>
          <a:xfrm>
            <a:off x="457200" y="2219249"/>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1" name="Google Shape;771;p35"/>
          <p:cNvSpPr txBox="1"/>
          <p:nvPr/>
        </p:nvSpPr>
        <p:spPr>
          <a:xfrm>
            <a:off x="657454" y="2143354"/>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CDC delivers the delta. </a:t>
            </a:r>
            <a:r>
              <a:rPr lang="en-US" sz="825">
                <a:solidFill>
                  <a:srgbClr val="2A2A29"/>
                </a:solidFill>
                <a:latin typeface="Arial"/>
                <a:ea typeface="Arial"/>
                <a:cs typeface="Arial"/>
                <a:sym typeface="Arial"/>
              </a:rPr>
              <a:t>The Replicator captures the </a:t>
            </a:r>
            <a:r>
              <a:rPr lang="en-US" sz="825">
                <a:solidFill>
                  <a:srgbClr val="161615"/>
                </a:solidFill>
                <a:latin typeface="Arial"/>
                <a:ea typeface="Arial"/>
                <a:cs typeface="Arial"/>
                <a:sym typeface="IBM Plex Mono"/>
              </a:rPr>
              <a:t>INSERT</a:t>
            </a:r>
            <a:r>
              <a:rPr lang="en-US" sz="825">
                <a:solidFill>
                  <a:srgbClr val="2A2A29"/>
                </a:solidFill>
                <a:latin typeface="Arial"/>
                <a:ea typeface="Arial"/>
                <a:cs typeface="Arial"/>
                <a:sym typeface="Arial"/>
              </a:rPr>
              <a:t> on </a:t>
            </a:r>
            <a:r>
              <a:rPr lang="en-US" sz="825">
                <a:solidFill>
                  <a:srgbClr val="161615"/>
                </a:solidFill>
                <a:latin typeface="Arial"/>
                <a:ea typeface="Arial"/>
                <a:cs typeface="Arial"/>
                <a:sym typeface="IBM Plex Mono"/>
              </a:rPr>
              <a:t>votes</a:t>
            </a:r>
            <a:r>
              <a:rPr lang="en-US" sz="825">
                <a:solidFill>
                  <a:srgbClr val="2A2A29"/>
                </a:solidFill>
                <a:latin typeface="Arial"/>
                <a:ea typeface="Arial"/>
                <a:cs typeface="Arial"/>
                <a:sym typeface="Arial"/>
              </a:rPr>
              <a:t> and feeds the Base Table.</a:t>
            </a:r>
            <a:endParaRPr sz="825">
              <a:solidFill>
                <a:schemeClr val="dk1"/>
              </a:solidFill>
              <a:latin typeface="Arial"/>
              <a:ea typeface="Arial"/>
              <a:cs typeface="Arial"/>
              <a:sym typeface="Arial"/>
            </a:endParaRPr>
          </a:p>
        </p:txBody>
      </p:sp>
      <p:sp>
        <p:nvSpPr>
          <p:cNvPr id="772" name="Google Shape;772;p35"/>
          <p:cNvSpPr/>
          <p:nvPr/>
        </p:nvSpPr>
        <p:spPr>
          <a:xfrm>
            <a:off x="457200" y="2645817"/>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3" name="Google Shape;773;p35"/>
          <p:cNvSpPr txBox="1"/>
          <p:nvPr/>
        </p:nvSpPr>
        <p:spPr>
          <a:xfrm>
            <a:off x="657454" y="2569921"/>
            <a:ext cx="3514954" cy="443027"/>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Incremental propagation. </a:t>
            </a:r>
            <a:r>
              <a:rPr lang="en-US" sz="825">
                <a:solidFill>
                  <a:srgbClr val="2A2A29"/>
                </a:solidFill>
                <a:latin typeface="Arial"/>
                <a:ea typeface="Arial"/>
                <a:cs typeface="Arial"/>
                <a:sym typeface="Arial"/>
              </a:rPr>
              <a:t>The aggregator receives the delta and increments: </a:t>
            </a:r>
            <a:r>
              <a:rPr lang="en-US" sz="825">
                <a:solidFill>
                  <a:srgbClr val="161615"/>
                </a:solidFill>
                <a:latin typeface="Arial"/>
                <a:ea typeface="Arial"/>
                <a:cs typeface="Arial"/>
                <a:sym typeface="IBM Plex Mono"/>
              </a:rPr>
              <a:t>vcount 20 → 21</a:t>
            </a:r>
            <a:r>
              <a:rPr lang="en-US" sz="825">
                <a:solidFill>
                  <a:srgbClr val="2A2A29"/>
                </a:solidFill>
                <a:latin typeface="Arial"/>
                <a:ea typeface="Arial"/>
                <a:cs typeface="Arial"/>
                <a:sym typeface="Arial"/>
              </a:rPr>
              <a:t>. It does not recompute the COUNT over every vote — only the cached value is adjusted.</a:t>
            </a:r>
            <a:endParaRPr sz="825">
              <a:solidFill>
                <a:schemeClr val="dk1"/>
              </a:solidFill>
              <a:latin typeface="Arial"/>
              <a:ea typeface="Arial"/>
              <a:cs typeface="Arial"/>
              <a:sym typeface="Arial"/>
            </a:endParaRPr>
          </a:p>
        </p:txBody>
      </p:sp>
      <p:sp>
        <p:nvSpPr>
          <p:cNvPr id="774" name="Google Shape;774;p35"/>
          <p:cNvSpPr/>
          <p:nvPr/>
        </p:nvSpPr>
        <p:spPr>
          <a:xfrm>
            <a:off x="457200" y="3219603"/>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5" name="Google Shape;775;p35"/>
          <p:cNvSpPr txBox="1"/>
          <p:nvPr/>
        </p:nvSpPr>
        <p:spPr>
          <a:xfrm>
            <a:off x="657454" y="3143250"/>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JOIN refreshed. </a:t>
            </a:r>
            <a:r>
              <a:rPr lang="en-US" sz="825">
                <a:solidFill>
                  <a:srgbClr val="2A2A29"/>
                </a:solidFill>
                <a:latin typeface="Arial"/>
                <a:ea typeface="Arial"/>
                <a:cs typeface="Arial"/>
                <a:sym typeface="Arial"/>
              </a:rPr>
              <a:t>The new </a:t>
            </a:r>
            <a:r>
              <a:rPr lang="en-US" sz="825">
                <a:solidFill>
                  <a:srgbClr val="161615"/>
                </a:solidFill>
                <a:latin typeface="Arial"/>
                <a:ea typeface="Arial"/>
                <a:cs typeface="Arial"/>
                <a:sym typeface="IBM Plex Mono"/>
              </a:rPr>
              <a:t>vcount=21</a:t>
            </a:r>
            <a:r>
              <a:rPr lang="en-US" sz="825">
                <a:solidFill>
                  <a:srgbClr val="2A2A29"/>
                </a:solidFill>
                <a:latin typeface="Arial"/>
                <a:ea typeface="Arial"/>
                <a:cs typeface="Arial"/>
                <a:sym typeface="Arial"/>
              </a:rPr>
              <a:t> reaches the JOIN node, which replaces the row for </a:t>
            </a:r>
            <a:r>
              <a:rPr lang="en-US" sz="825">
                <a:solidFill>
                  <a:srgbClr val="161615"/>
                </a:solidFill>
                <a:latin typeface="Arial"/>
                <a:ea typeface="Arial"/>
                <a:cs typeface="Arial"/>
                <a:sym typeface="IBM Plex Mono"/>
              </a:rPr>
              <a:t>id=2</a:t>
            </a:r>
            <a:r>
              <a:rPr lang="en-US" sz="825">
                <a:solidFill>
                  <a:srgbClr val="2A2A29"/>
                </a:solidFill>
                <a:latin typeface="Arial"/>
                <a:ea typeface="Arial"/>
                <a:cs typeface="Arial"/>
                <a:sym typeface="Arial"/>
              </a:rPr>
              <a:t>.</a:t>
            </a:r>
            <a:endParaRPr sz="825">
              <a:solidFill>
                <a:schemeClr val="dk1"/>
              </a:solidFill>
              <a:latin typeface="Arial"/>
              <a:ea typeface="Arial"/>
              <a:cs typeface="Arial"/>
              <a:sym typeface="Arial"/>
            </a:endParaRPr>
          </a:p>
        </p:txBody>
      </p:sp>
      <p:sp>
        <p:nvSpPr>
          <p:cNvPr id="776" name="Google Shape;776;p35"/>
          <p:cNvSpPr/>
          <p:nvPr/>
        </p:nvSpPr>
        <p:spPr>
          <a:xfrm>
            <a:off x="457200" y="3646170"/>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7" name="Google Shape;777;p35"/>
          <p:cNvSpPr txBox="1"/>
          <p:nvPr/>
        </p:nvSpPr>
        <p:spPr>
          <a:xfrm>
            <a:off x="657454" y="3569818"/>
            <a:ext cx="3514954" cy="295351"/>
          </a:xfrm>
          <a:prstGeom prst="rect">
            <a:avLst/>
          </a:prstGeom>
          <a:noFill/>
          <a:ln>
            <a:noFill/>
          </a:ln>
        </p:spPr>
        <p:txBody>
          <a:bodyPr spcFirstLastPara="1" wrap="square" lIns="0" tIns="0" rIns="0" bIns="0" anchor="ctr" anchorCtr="0">
            <a:noAutofit/>
          </a:bodyPr>
          <a:lstStyle/>
          <a:p>
            <a:pPr>
              <a:lnSpc>
                <a:spcPct val="140000"/>
              </a:lnSpc>
              <a:buClr>
                <a:srgbClr val="1A1A1A"/>
              </a:buClr>
              <a:buSzPts val="1650"/>
            </a:pPr>
            <a:r>
              <a:rPr lang="en-US" sz="825" b="1">
                <a:solidFill>
                  <a:srgbClr val="1A1A1A"/>
                </a:solidFill>
                <a:latin typeface="Arial"/>
                <a:ea typeface="Arial"/>
                <a:cs typeface="Arial"/>
                <a:sym typeface="Arial"/>
              </a:rPr>
              <a:t>Reader converges. </a:t>
            </a:r>
            <a:r>
              <a:rPr lang="en-US" sz="825">
                <a:solidFill>
                  <a:srgbClr val="2A2A29"/>
                </a:solidFill>
                <a:latin typeface="Arial"/>
                <a:ea typeface="Arial"/>
                <a:cs typeface="Arial"/>
                <a:sym typeface="Arial"/>
              </a:rPr>
              <a:t>The </a:t>
            </a:r>
            <a:r>
              <a:rPr lang="en-US" sz="825">
                <a:solidFill>
                  <a:srgbClr val="161615"/>
                </a:solidFill>
                <a:latin typeface="Arial"/>
                <a:ea typeface="Arial"/>
                <a:cs typeface="Arial"/>
                <a:sym typeface="IBM Plex Mono"/>
              </a:rPr>
              <a:t>id=2</a:t>
            </a:r>
            <a:r>
              <a:rPr lang="en-US" sz="825">
                <a:solidFill>
                  <a:srgbClr val="2A2A29"/>
                </a:solidFill>
                <a:latin typeface="Arial"/>
                <a:ea typeface="Arial"/>
                <a:cs typeface="Arial"/>
                <a:sym typeface="Arial"/>
              </a:rPr>
              <a:t> entry in the final result set is swapped atomically — the next read already sees 21.</a:t>
            </a:r>
            <a:endParaRPr sz="825">
              <a:solidFill>
                <a:schemeClr val="dk1"/>
              </a:solidFill>
              <a:latin typeface="Arial"/>
              <a:ea typeface="Arial"/>
              <a:cs typeface="Arial"/>
              <a:sym typeface="Arial"/>
            </a:endParaRPr>
          </a:p>
        </p:txBody>
      </p:sp>
      <p:sp>
        <p:nvSpPr>
          <p:cNvPr id="778" name="Google Shape;778;p35"/>
          <p:cNvSpPr/>
          <p:nvPr/>
        </p:nvSpPr>
        <p:spPr>
          <a:xfrm>
            <a:off x="457200" y="4072738"/>
            <a:ext cx="47549" cy="47549"/>
          </a:xfrm>
          <a:prstGeom prst="ellipse">
            <a:avLst/>
          </a:prstGeom>
          <a:solidFill>
            <a:srgbClr val="55555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79" name="Google Shape;779;p35"/>
          <p:cNvSpPr txBox="1"/>
          <p:nvPr/>
        </p:nvSpPr>
        <p:spPr>
          <a:xfrm>
            <a:off x="657454" y="3996385"/>
            <a:ext cx="3857854" cy="147676"/>
          </a:xfrm>
          <a:prstGeom prst="rect">
            <a:avLst/>
          </a:prstGeom>
          <a:noFill/>
          <a:ln>
            <a:noFill/>
          </a:ln>
        </p:spPr>
        <p:txBody>
          <a:bodyPr spcFirstLastPara="1" wrap="square" lIns="0" tIns="0" rIns="0" bIns="0" anchor="ctr" anchorCtr="0">
            <a:noAutofit/>
          </a:bodyPr>
          <a:lstStyle/>
          <a:p>
            <a:pPr>
              <a:buClr>
                <a:srgbClr val="1A1A1A"/>
              </a:buClr>
              <a:buSzPts val="1650"/>
            </a:pPr>
            <a:r>
              <a:rPr lang="en-US" sz="825" b="1">
                <a:solidFill>
                  <a:srgbClr val="1A1A1A"/>
                </a:solidFill>
                <a:latin typeface="Arial"/>
                <a:ea typeface="Arial"/>
                <a:cs typeface="Arial"/>
                <a:sym typeface="Arial"/>
              </a:rPr>
              <a:t>Cost = O(delta). </a:t>
            </a:r>
            <a:r>
              <a:rPr lang="en-US" sz="825">
                <a:solidFill>
                  <a:srgbClr val="2A2A29"/>
                </a:solidFill>
                <a:latin typeface="Arial"/>
                <a:ea typeface="Arial"/>
                <a:cs typeface="Arial"/>
                <a:sym typeface="Arial"/>
              </a:rPr>
              <a:t>Work scales with what changed — not with table size.</a:t>
            </a:r>
            <a:endParaRPr sz="825">
              <a:solidFill>
                <a:schemeClr val="dk1"/>
              </a:solidFill>
              <a:latin typeface="Arial"/>
              <a:ea typeface="Arial"/>
              <a:cs typeface="Arial"/>
              <a:sym typeface="Arial"/>
            </a:endParaRPr>
          </a:p>
        </p:txBody>
      </p:sp>
      <p:sp>
        <p:nvSpPr>
          <p:cNvPr id="780" name="Google Shape;780;p35"/>
          <p:cNvSpPr txBox="1"/>
          <p:nvPr/>
        </p:nvSpPr>
        <p:spPr>
          <a:xfrm>
            <a:off x="600304" y="4343400"/>
            <a:ext cx="3429000" cy="119329"/>
          </a:xfrm>
          <a:prstGeom prst="rect">
            <a:avLst/>
          </a:prstGeom>
          <a:noFill/>
          <a:ln>
            <a:noFill/>
          </a:ln>
        </p:spPr>
        <p:txBody>
          <a:bodyPr spcFirstLastPara="1" wrap="square" lIns="0" tIns="0" rIns="0" bIns="0" anchor="ctr" anchorCtr="0">
            <a:noAutofit/>
          </a:bodyPr>
          <a:lstStyle/>
          <a:p>
            <a:pPr>
              <a:buClr>
                <a:srgbClr val="555555"/>
              </a:buClr>
              <a:buSzPts val="1350"/>
            </a:pPr>
            <a:r>
              <a:rPr lang="en-US" sz="675" b="1">
                <a:solidFill>
                  <a:srgbClr val="EEEEEE"/>
                </a:solidFill>
                <a:latin typeface="Arial"/>
                <a:ea typeface="Arial"/>
                <a:cs typeface="Arial"/>
                <a:sym typeface="Arial"/>
              </a:rPr>
              <a:t>No TTL.</a:t>
            </a:r>
            <a:r>
              <a:rPr lang="en-US" sz="675">
                <a:solidFill>
                  <a:srgbClr val="EDEDEC"/>
                </a:solidFill>
                <a:latin typeface="Arial"/>
                <a:ea typeface="Arial"/>
                <a:cs typeface="Arial"/>
                <a:sym typeface="Arial"/>
              </a:rPr>
              <a:t> Consistency is bound to </a:t>
            </a:r>
            <a:r>
              <a:rPr lang="en-US" sz="675" b="1">
                <a:solidFill>
                  <a:srgbClr val="EDEDEC"/>
                </a:solidFill>
                <a:latin typeface="Arial"/>
                <a:ea typeface="Arial"/>
                <a:cs typeface="Arial"/>
                <a:sym typeface="Arial"/>
              </a:rPr>
              <a:t>real changes</a:t>
            </a:r>
            <a:r>
              <a:rPr lang="en-US" sz="675">
                <a:solidFill>
                  <a:srgbClr val="EDEDEC"/>
                </a:solidFill>
                <a:latin typeface="Arial"/>
                <a:ea typeface="Arial"/>
                <a:cs typeface="Arial"/>
                <a:sym typeface="Arial"/>
              </a:rPr>
              <a:t> in the data.</a:t>
            </a:r>
            <a:endParaRPr sz="675">
              <a:solidFill>
                <a:schemeClr val="dk1"/>
              </a:solidFill>
              <a:latin typeface="Arial"/>
              <a:ea typeface="Arial"/>
              <a:cs typeface="Arial"/>
              <a:sym typeface="Arial"/>
            </a:endParaRPr>
          </a:p>
        </p:txBody>
      </p:sp>
      <p:pic>
        <p:nvPicPr>
          <p:cNvPr id="781" name="Google Shape;781;p35" descr="gen-dedup-087e8034ee60b80fafaecdee5216d8a5.jpg"/>
          <p:cNvPicPr preferRelativeResize="0"/>
          <p:nvPr/>
        </p:nvPicPr>
        <p:blipFill rotWithShape="1">
          <a:blip r:embed="rId3">
            <a:alphaModFix/>
          </a:blip>
          <a:srcRect t="-19245" b="-19245"/>
          <a:stretch/>
        </p:blipFill>
        <p:spPr>
          <a:xfrm>
            <a:off x="4457700" y="1657350"/>
            <a:ext cx="3905403" cy="2762403"/>
          </a:xfrm>
          <a:prstGeom prst="rect">
            <a:avLst/>
          </a:prstGeom>
          <a:noFill/>
          <a:ln>
            <a:noFill/>
          </a:ln>
        </p:spPr>
      </p:pic>
      <p:pic>
        <p:nvPicPr>
          <p:cNvPr id="9031" name="Readyset standard logo 31"/>
          <p:cNvPicPr>
            <a:picLocks noChangeAspect="1"/>
          </p:cNvPicPr>
          <p:nvPr/>
        </p:nvPicPr>
        <p:blipFill>
          <a:blip r:embed="rId4"/>
          <a:stretch/>
        </p:blipFill>
        <p:spPr>
          <a:xfrm>
            <a:off x="457200" y="239275"/>
            <a:ext cx="952500" cy="216776"/>
          </a:xfrm>
          <a:prstGeom prst="rect">
            <a:avLst/>
          </a:prstGeom>
        </p:spPr>
      </p:pic>
      <p:sp>
        <p:nvSpPr>
          <p:cNvPr id="953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3313616B-B559-4C4E-A660-F284AEEDAC26}"/>
              </a:ext>
            </a:extLst>
          </p:cNvPr>
          <p:cNvSpPr>
            <a:spLocks noGrp="1"/>
          </p:cNvSpPr>
          <p:nvPr/>
        </p:nvSpPr>
        <p:spPr>
          <a:xfrm>
            <a:off x="457200" y="1524000"/>
            <a:ext cx="8191500" cy="326898"/>
          </a:xfrm>
          <a:prstGeom prst="rect">
            <a:avLst/>
          </a:prstGeom>
          <a:noFill/>
          <a:ln w="0">
            <a:noFill/>
          </a:ln>
        </p:spPr>
        <p:txBody>
          <a:bodyPr wrap="none" lIns="0" tIns="0" rIns="0" bIns="0">
            <a:noAutofit/>
          </a:bodyPr>
          <a:lstStyle/>
          <a:p>
            <a:pPr>
              <a:defRPr sz="1800" b="0">
                <a:solidFill>
                  <a:srgbClr val="FFFFFF"/>
                </a:solidFill>
                <a:latin typeface="Arial"/>
                <a:ea typeface="Arial"/>
                <a:cs typeface="Arial"/>
              </a:defRPr>
            </a:pPr>
            <a:r>
              <a:rPr sz="1800" b="0">
                <a:solidFill>
                  <a:srgbClr val="FFFFFF"/>
                </a:solidFill>
                <a:latin typeface="Arial"/>
                <a:ea typeface="Arial"/>
                <a:cs typeface="Arial"/>
              </a:rPr>
              <a:t>THE FRESHNESS LAB</a:t>
            </a:r>
          </a:p>
        </p:txBody>
      </p:sp>
      <p:sp>
        <p:nvSpPr>
          <p:cNvPr id="3" name="Rectangle 2">
            <a:extLst>
              <a:ext uri="{FF2B5EF4-FFF2-40B4-BE49-F238E27FC236}">
                <a16:creationId xmlns:a16="http://schemas.microsoft.com/office/drawing/2014/main" id="{42070745-AC08-48D5-84B5-1542B6136651}"/>
              </a:ext>
            </a:extLst>
          </p:cNvPr>
          <p:cNvSpPr>
            <a:spLocks noGrp="1"/>
          </p:cNvSpPr>
          <p:nvPr/>
        </p:nvSpPr>
        <p:spPr>
          <a:xfrm>
            <a:off x="457200" y="2171700"/>
            <a:ext cx="8191500" cy="630365"/>
          </a:xfrm>
          <a:prstGeom prst="rect">
            <a:avLst/>
          </a:prstGeom>
          <a:noFill/>
          <a:ln w="0">
            <a:noFill/>
          </a:ln>
        </p:spPr>
        <p:txBody>
          <a:bodyPr wrap="none" lIns="0" tIns="0" rIns="0" bIns="0">
            <a:noAutofit/>
          </a:bodyPr>
          <a:lstStyle/>
          <a:p>
            <a:pPr>
              <a:defRPr sz="3825" b="1">
                <a:solidFill>
                  <a:srgbClr val="FFFFFF"/>
                </a:solidFill>
                <a:latin typeface="Arial"/>
                <a:ea typeface="Arial"/>
                <a:cs typeface="Arial"/>
              </a:defRPr>
            </a:pPr>
            <a:r>
              <a:rPr sz="3825" b="1">
                <a:solidFill>
                  <a:srgbClr val="FFFFFF"/>
                </a:solidFill>
                <a:latin typeface="Arial"/>
                <a:ea typeface="Arial"/>
                <a:cs typeface="Arial"/>
              </a:rPr>
              <a:t>“Read from the source.</a:t>
            </a:r>
          </a:p>
        </p:txBody>
      </p:sp>
      <p:sp>
        <p:nvSpPr>
          <p:cNvPr id="4" name="Rectangle 3">
            <a:extLst>
              <a:ext uri="{FF2B5EF4-FFF2-40B4-BE49-F238E27FC236}">
                <a16:creationId xmlns:a16="http://schemas.microsoft.com/office/drawing/2014/main" id="{2B9AE430-83BA-4191-BF6A-3F4B5C29EBCD}"/>
              </a:ext>
            </a:extLst>
          </p:cNvPr>
          <p:cNvSpPr>
            <a:spLocks noGrp="1"/>
          </p:cNvSpPr>
          <p:nvPr/>
        </p:nvSpPr>
        <p:spPr>
          <a:xfrm>
            <a:off x="457200" y="2857500"/>
            <a:ext cx="8191500" cy="630365"/>
          </a:xfrm>
          <a:prstGeom prst="rect">
            <a:avLst/>
          </a:prstGeom>
          <a:noFill/>
          <a:ln w="0">
            <a:noFill/>
          </a:ln>
        </p:spPr>
        <p:txBody>
          <a:bodyPr wrap="none" lIns="0" tIns="0" rIns="0" bIns="0">
            <a:noAutofit/>
          </a:bodyPr>
          <a:lstStyle/>
          <a:p>
            <a:pPr>
              <a:defRPr sz="3825" b="1">
                <a:solidFill>
                  <a:srgbClr val="FFFFFF"/>
                </a:solidFill>
                <a:latin typeface="Arial"/>
                <a:ea typeface="Arial"/>
                <a:cs typeface="Arial"/>
              </a:defRPr>
            </a:pPr>
            <a:r>
              <a:rPr sz="3825" b="1" dirty="0">
                <a:solidFill>
                  <a:srgbClr val="FFFFFF"/>
                </a:solidFill>
                <a:latin typeface="Arial"/>
                <a:ea typeface="Arial"/>
                <a:cs typeface="Arial"/>
              </a:rPr>
              <a:t>It is always fresh.”</a:t>
            </a:r>
          </a:p>
        </p:txBody>
      </p:sp>
      <p:sp>
        <p:nvSpPr>
          <p:cNvPr id="5" name="Rectangle 4">
            <a:extLst>
              <a:ext uri="{FF2B5EF4-FFF2-40B4-BE49-F238E27FC236}">
                <a16:creationId xmlns:a16="http://schemas.microsoft.com/office/drawing/2014/main" id="{6405A5C3-1488-43AC-B2D2-D4EBA9EEE865}"/>
              </a:ext>
            </a:extLst>
          </p:cNvPr>
          <p:cNvSpPr>
            <a:spLocks noGrp="1"/>
          </p:cNvSpPr>
          <p:nvPr/>
        </p:nvSpPr>
        <p:spPr>
          <a:xfrm>
            <a:off x="457200" y="4010025"/>
            <a:ext cx="8191500" cy="371856"/>
          </a:xfrm>
          <a:prstGeom prst="rect">
            <a:avLst/>
          </a:prstGeom>
          <a:noFill/>
          <a:ln w="0">
            <a:noFill/>
          </a:ln>
        </p:spPr>
        <p:txBody>
          <a:bodyPr wrap="none" lIns="0" tIns="0" rIns="0" bIns="0">
            <a:noAutofit/>
          </a:bodyPr>
          <a:lstStyle/>
          <a:p>
            <a:pPr>
              <a:defRPr sz="2100" b="0">
                <a:solidFill>
                  <a:srgbClr val="FFFFFF"/>
                </a:solidFill>
                <a:latin typeface="Arial"/>
                <a:ea typeface="Arial"/>
                <a:cs typeface="Arial"/>
              </a:defRPr>
            </a:pPr>
            <a:r>
              <a:rPr sz="2100" b="0">
                <a:solidFill>
                  <a:srgbClr val="FFFFFF"/>
                </a:solidFill>
                <a:latin typeface="Arial"/>
                <a:ea typeface="Arial"/>
                <a:cs typeface="Arial"/>
              </a:rPr>
              <a:t>Is it still fresh when the answer arrives?</a:t>
            </a:r>
          </a:p>
        </p:txBody>
      </p:sp>
      <p:sp>
        <p:nvSpPr>
          <p:cNvPr id="9532"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32</a:t>
            </a:r>
          </a:p>
        </p:txBody>
      </p:sp>
    </p:spTree>
    <p:extLst>
      <p:ext uri="{BB962C8B-B14F-4D97-AF65-F5344CB8AC3E}">
        <p14:creationId xmlns:p14="http://schemas.microsoft.com/office/powerpoint/2010/main" val="758032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FADBB731-F727-4CA9-A191-0BA7FDE213E7}"/>
              </a:ext>
            </a:extLst>
          </p:cNvPr>
          <p:cNvSpPr>
            <a:spLocks noGrp="1"/>
          </p:cNvSpPr>
          <p:nvPr/>
        </p:nvSpPr>
        <p:spPr>
          <a:xfrm>
            <a:off x="457200" y="809625"/>
            <a:ext cx="8286750" cy="461772"/>
          </a:xfrm>
          <a:prstGeom prst="rect">
            <a:avLst/>
          </a:prstGeom>
          <a:noFill/>
          <a:ln w="0">
            <a:noFill/>
          </a:ln>
        </p:spPr>
        <p:txBody>
          <a:bodyPr wrap="none" lIns="0" tIns="0" rIns="0" bIns="0">
            <a:noAutofit/>
          </a:bodyPr>
          <a:lstStyle/>
          <a:p>
            <a:pPr>
              <a:defRPr sz="2700" b="1">
                <a:solidFill>
                  <a:srgbClr val="1A1A1A"/>
                </a:solidFill>
                <a:latin typeface="Arial"/>
                <a:ea typeface="Arial"/>
                <a:cs typeface="Arial"/>
              </a:defRPr>
            </a:pPr>
            <a:r>
              <a:rPr sz="2700" b="1">
                <a:solidFill>
                  <a:srgbClr val="1A1A1A"/>
                </a:solidFill>
                <a:latin typeface="Arial"/>
                <a:ea typeface="Arial"/>
                <a:cs typeface="Arial"/>
              </a:rPr>
              <a:t>The source is current. Your snapshot may not be.</a:t>
            </a:r>
          </a:p>
        </p:txBody>
      </p:sp>
      <p:pic>
        <p:nvPicPr>
          <p:cNvPr id="12" name="Picture 11"/>
          <p:cNvPicPr>
            <a:picLocks noChangeAspect="1"/>
          </p:cNvPicPr>
          <p:nvPr/>
        </p:nvPicPr>
        <p:blipFill>
          <a:blip r:embed="rId4"/>
          <a:stretch/>
        </p:blipFill>
        <p:spPr>
          <a:xfrm>
            <a:off x="809625" y="1866900"/>
            <a:ext cx="1666875" cy="2000250"/>
          </a:xfrm>
          <a:prstGeom prst="rect">
            <a:avLst/>
          </a:prstGeom>
        </p:spPr>
      </p:pic>
      <p:sp>
        <p:nvSpPr>
          <p:cNvPr id="4" name="Rectangle 3">
            <a:extLst>
              <a:ext uri="{FF2B5EF4-FFF2-40B4-BE49-F238E27FC236}">
                <a16:creationId xmlns:a16="http://schemas.microsoft.com/office/drawing/2014/main" id="{7E11652E-5CA3-4CBF-85DE-B29A883AB269}"/>
              </a:ext>
            </a:extLst>
          </p:cNvPr>
          <p:cNvSpPr>
            <a:spLocks noGrp="1"/>
          </p:cNvSpPr>
          <p:nvPr/>
        </p:nvSpPr>
        <p:spPr>
          <a:xfrm>
            <a:off x="476250" y="4019550"/>
            <a:ext cx="3381375" cy="360617"/>
          </a:xfrm>
          <a:prstGeom prst="rect">
            <a:avLst/>
          </a:prstGeom>
          <a:noFill/>
          <a:ln w="0">
            <a:noFill/>
          </a:ln>
        </p:spPr>
        <p:txBody>
          <a:bodyPr wrap="none" lIns="0" tIns="0" rIns="0" bIns="0">
            <a:noAutofit/>
          </a:bodyPr>
          <a:lstStyle/>
          <a:p>
            <a:pPr>
              <a:defRPr sz="2025" b="1">
                <a:solidFill>
                  <a:srgbClr val="228147"/>
                </a:solidFill>
                <a:latin typeface="Arial"/>
                <a:ea typeface="Arial"/>
                <a:cs typeface="Arial"/>
              </a:defRPr>
            </a:pPr>
            <a:r>
              <a:rPr sz="2025" b="1">
                <a:solidFill>
                  <a:srgbClr val="228147"/>
                </a:solidFill>
                <a:latin typeface="Arial"/>
                <a:ea typeface="Arial"/>
                <a:cs typeface="Arial"/>
              </a:rPr>
              <a:t>Source keeps changing</a:t>
            </a:r>
          </a:p>
        </p:txBody>
      </p:sp>
      <p:sp>
        <p:nvSpPr>
          <p:cNvPr id="5" name="Rectangle 4">
            <a:extLst>
              <a:ext uri="{FF2B5EF4-FFF2-40B4-BE49-F238E27FC236}">
                <a16:creationId xmlns:a16="http://schemas.microsoft.com/office/drawing/2014/main" id="{F634D28E-8537-494C-900A-8B874D8AD741}"/>
              </a:ext>
            </a:extLst>
          </p:cNvPr>
          <p:cNvSpPr>
            <a:spLocks noGrp="1"/>
          </p:cNvSpPr>
          <p:nvPr/>
        </p:nvSpPr>
        <p:spPr>
          <a:xfrm>
            <a:off x="3143250" y="2581275"/>
            <a:ext cx="762000" cy="596646"/>
          </a:xfrm>
          <a:prstGeom prst="rect">
            <a:avLst/>
          </a:prstGeom>
          <a:noFill/>
          <a:ln w="0">
            <a:noFill/>
          </a:ln>
        </p:spPr>
        <p:txBody>
          <a:bodyPr wrap="none" lIns="0" tIns="0" rIns="0" bIns="0">
            <a:noAutofit/>
          </a:bodyPr>
          <a:lstStyle/>
          <a:p>
            <a:pPr>
              <a:defRPr sz="3600" b="1">
                <a:solidFill>
                  <a:srgbClr val="171717"/>
                </a:solidFill>
                <a:latin typeface="Arial"/>
                <a:ea typeface="Arial"/>
                <a:cs typeface="Arial"/>
              </a:defRPr>
            </a:pPr>
            <a:r>
              <a:rPr sz="3600" b="1">
                <a:solidFill>
                  <a:srgbClr val="171717"/>
                </a:solidFill>
                <a:latin typeface="Arial"/>
                <a:ea typeface="Arial"/>
                <a:cs typeface="Arial"/>
              </a:rPr>
              <a:t>→</a:t>
            </a:r>
          </a:p>
        </p:txBody>
      </p:sp>
      <p:sp>
        <p:nvSpPr>
          <p:cNvPr id="6" name="Rectangle 5">
            <a:extLst>
              <a:ext uri="{FF2B5EF4-FFF2-40B4-BE49-F238E27FC236}">
                <a16:creationId xmlns:a16="http://schemas.microsoft.com/office/drawing/2014/main" id="{54C608B4-8FFB-4FBD-995F-644479DBE404}"/>
              </a:ext>
            </a:extLst>
          </p:cNvPr>
          <p:cNvSpPr>
            <a:spLocks noGrp="1"/>
          </p:cNvSpPr>
          <p:nvPr/>
        </p:nvSpPr>
        <p:spPr>
          <a:xfrm>
            <a:off x="4238625" y="1981200"/>
            <a:ext cx="4191000" cy="495490"/>
          </a:xfrm>
          <a:prstGeom prst="rect">
            <a:avLst/>
          </a:prstGeom>
          <a:noFill/>
          <a:ln w="0">
            <a:noFill/>
          </a:ln>
        </p:spPr>
        <p:txBody>
          <a:bodyPr wrap="none" lIns="0" tIns="0" rIns="0" bIns="0">
            <a:noAutofit/>
          </a:bodyPr>
          <a:lstStyle/>
          <a:p>
            <a:pPr>
              <a:defRPr sz="2925" b="1">
                <a:solidFill>
                  <a:srgbClr val="171717"/>
                </a:solidFill>
                <a:latin typeface="Arial"/>
                <a:ea typeface="Arial"/>
                <a:cs typeface="Arial"/>
              </a:defRPr>
            </a:pPr>
            <a:r>
              <a:rPr sz="2925" b="1">
                <a:solidFill>
                  <a:srgbClr val="171717"/>
                </a:solidFill>
                <a:latin typeface="Arial"/>
                <a:ea typeface="Arial"/>
                <a:cs typeface="Arial"/>
              </a:rPr>
              <a:t>Snapshot at 0 s</a:t>
            </a:r>
          </a:p>
        </p:txBody>
      </p:sp>
      <p:sp>
        <p:nvSpPr>
          <p:cNvPr id="7" name="Rectangle 6">
            <a:extLst>
              <a:ext uri="{FF2B5EF4-FFF2-40B4-BE49-F238E27FC236}">
                <a16:creationId xmlns:a16="http://schemas.microsoft.com/office/drawing/2014/main" id="{DC959BFE-B1DC-4DA8-997B-F5D0932341DC}"/>
              </a:ext>
            </a:extLst>
          </p:cNvPr>
          <p:cNvSpPr>
            <a:spLocks noGrp="1"/>
          </p:cNvSpPr>
          <p:nvPr/>
        </p:nvSpPr>
        <p:spPr>
          <a:xfrm>
            <a:off x="4238625" y="2628900"/>
            <a:ext cx="4191000" cy="360617"/>
          </a:xfrm>
          <a:prstGeom prst="rect">
            <a:avLst/>
          </a:prstGeom>
          <a:noFill/>
          <a:ln w="0">
            <a:noFill/>
          </a:ln>
        </p:spPr>
        <p:txBody>
          <a:bodyPr wrap="none" lIns="0" tIns="0" rIns="0" bIns="0">
            <a:noAutofit/>
          </a:bodyPr>
          <a:lstStyle/>
          <a:p>
            <a:pPr>
              <a:defRPr sz="2025" b="0">
                <a:solidFill>
                  <a:srgbClr val="1A1A1A"/>
                </a:solidFill>
                <a:latin typeface="Arial"/>
                <a:ea typeface="Arial"/>
                <a:cs typeface="Arial"/>
              </a:defRPr>
            </a:pPr>
            <a:r>
              <a:rPr sz="2025" b="0">
                <a:solidFill>
                  <a:srgbClr val="1A1A1A"/>
                </a:solidFill>
                <a:latin typeface="Arial"/>
                <a:ea typeface="Arial"/>
                <a:cs typeface="Arial"/>
              </a:rPr>
              <a:t>The query keeps this view</a:t>
            </a:r>
          </a:p>
        </p:txBody>
      </p:sp>
      <p:sp>
        <p:nvSpPr>
          <p:cNvPr id="8" name="Rectangle 7">
            <a:extLst>
              <a:ext uri="{FF2B5EF4-FFF2-40B4-BE49-F238E27FC236}">
                <a16:creationId xmlns:a16="http://schemas.microsoft.com/office/drawing/2014/main" id="{FB637F29-D97C-4870-A2B5-3C8BB05FF202}"/>
              </a:ext>
            </a:extLst>
          </p:cNvPr>
          <p:cNvSpPr>
            <a:spLocks noGrp="1"/>
          </p:cNvSpPr>
          <p:nvPr/>
        </p:nvSpPr>
        <p:spPr>
          <a:xfrm>
            <a:off x="4238625" y="3124200"/>
            <a:ext cx="4191000" cy="360617"/>
          </a:xfrm>
          <a:prstGeom prst="rect">
            <a:avLst/>
          </a:prstGeom>
          <a:noFill/>
          <a:ln w="0">
            <a:noFill/>
          </a:ln>
        </p:spPr>
        <p:txBody>
          <a:bodyPr wrap="none" lIns="0" tIns="0" rIns="0" bIns="0">
            <a:noAutofit/>
          </a:bodyPr>
          <a:lstStyle/>
          <a:p>
            <a:pPr>
              <a:defRPr sz="2025" b="0">
                <a:solidFill>
                  <a:srgbClr val="1A1A1A"/>
                </a:solidFill>
                <a:latin typeface="Arial"/>
                <a:ea typeface="Arial"/>
                <a:cs typeface="Arial"/>
              </a:defRPr>
            </a:pPr>
            <a:r>
              <a:rPr sz="2025" b="0">
                <a:solidFill>
                  <a:srgbClr val="1A1A1A"/>
                </a:solidFill>
                <a:latin typeface="Arial"/>
                <a:ea typeface="Arial"/>
                <a:cs typeface="Arial"/>
              </a:rPr>
              <a:t>New commits stay outside it</a:t>
            </a:r>
          </a:p>
        </p:txBody>
      </p:sp>
      <p:sp>
        <p:nvSpPr>
          <p:cNvPr id="9" name="Rectangle 8">
            <a:extLst>
              <a:ext uri="{FF2B5EF4-FFF2-40B4-BE49-F238E27FC236}">
                <a16:creationId xmlns:a16="http://schemas.microsoft.com/office/drawing/2014/main" id="{A19B5618-5EFA-4BBF-85D7-0EE18FDE60E7}"/>
              </a:ext>
            </a:extLst>
          </p:cNvPr>
          <p:cNvSpPr>
            <a:spLocks noGrp="1"/>
          </p:cNvSpPr>
          <p:nvPr/>
        </p:nvSpPr>
        <p:spPr>
          <a:xfrm>
            <a:off x="457200" y="4619625"/>
            <a:ext cx="8229600" cy="248222"/>
          </a:xfrm>
          <a:prstGeom prst="rect">
            <a:avLst/>
          </a:prstGeom>
          <a:noFill/>
          <a:ln w="0">
            <a:noFill/>
          </a:ln>
        </p:spPr>
        <p:txBody>
          <a:bodyPr wrap="none" lIns="0" tIns="0" rIns="0" bIns="0">
            <a:noAutofit/>
          </a:bodyPr>
          <a:lstStyle/>
          <a:p>
            <a:pPr>
              <a:defRPr sz="1275" b="0">
                <a:solidFill>
                  <a:srgbClr val="706E6C"/>
                </a:solidFill>
                <a:latin typeface="Arial"/>
                <a:ea typeface="Arial"/>
                <a:cs typeface="Arial"/>
              </a:defRPr>
            </a:pPr>
            <a:r>
              <a:rPr sz="1275" b="0">
                <a:solidFill>
                  <a:srgbClr val="706E6C"/>
                </a:solidFill>
                <a:latin typeface="Arial"/>
                <a:ea typeface="Arial"/>
                <a:cs typeface="Arial"/>
              </a:rPr>
              <a:t>REPEATABLE READ · ordinary consistent SELECT · writes continue during execution</a:t>
            </a:r>
          </a:p>
        </p:txBody>
      </p:sp>
      <p:sp>
        <p:nvSpPr>
          <p:cNvPr id="9533"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33</a:t>
            </a:r>
          </a:p>
        </p:txBody>
      </p:sp>
    </p:spTree>
    <p:extLst>
      <p:ext uri="{BB962C8B-B14F-4D97-AF65-F5344CB8AC3E}">
        <p14:creationId xmlns:p14="http://schemas.microsoft.com/office/powerpoint/2010/main" val="673839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B7B1964E-8264-4272-A1A2-11D7B155E8BB}"/>
              </a:ext>
            </a:extLst>
          </p:cNvPr>
          <p:cNvSpPr>
            <a:spLocks noGrp="1"/>
          </p:cNvSpPr>
          <p:nvPr/>
        </p:nvSpPr>
        <p:spPr>
          <a:xfrm>
            <a:off x="457200" y="809625"/>
            <a:ext cx="8286750" cy="461772"/>
          </a:xfrm>
          <a:prstGeom prst="rect">
            <a:avLst/>
          </a:prstGeom>
          <a:noFill/>
          <a:ln w="0">
            <a:noFill/>
          </a:ln>
        </p:spPr>
        <p:txBody>
          <a:bodyPr wrap="none" lIns="0" tIns="0" rIns="0" bIns="0">
            <a:noAutofit/>
          </a:bodyPr>
          <a:lstStyle/>
          <a:p>
            <a:pPr>
              <a:defRPr sz="2700" b="1">
                <a:solidFill>
                  <a:srgbClr val="1A1A1A"/>
                </a:solidFill>
                <a:latin typeface="Arial"/>
                <a:ea typeface="Arial"/>
                <a:cs typeface="Arial"/>
              </a:defRPr>
            </a:pPr>
            <a:r>
              <a:rPr sz="2700" b="1">
                <a:solidFill>
                  <a:srgbClr val="1A1A1A"/>
                </a:solidFill>
                <a:latin typeface="Arial"/>
                <a:ea typeface="Arial"/>
                <a:cs typeface="Arial"/>
              </a:rPr>
              <a:t>10 seconds. 30 seconds. One minute.</a:t>
            </a:r>
          </a:p>
        </p:txBody>
      </p:sp>
      <p:sp>
        <p:nvSpPr>
          <p:cNvPr id="3" name="Rectangle 2">
            <a:extLst>
              <a:ext uri="{FF2B5EF4-FFF2-40B4-BE49-F238E27FC236}">
                <a16:creationId xmlns:a16="http://schemas.microsoft.com/office/drawing/2014/main" id="{3C498CA7-A5BF-4580-AFF2-B4743AA89072}"/>
              </a:ext>
            </a:extLst>
          </p:cNvPr>
          <p:cNvSpPr>
            <a:spLocks noGrp="1"/>
          </p:cNvSpPr>
          <p:nvPr/>
        </p:nvSpPr>
        <p:spPr>
          <a:xfrm>
            <a:off x="457200" y="1914525"/>
            <a:ext cx="1952625"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10 seconds</a:t>
            </a:r>
          </a:p>
        </p:txBody>
      </p:sp>
      <p:sp>
        <p:nvSpPr>
          <p:cNvPr id="4" name="Rectangle 3">
            <a:extLst>
              <a:ext uri="{FF2B5EF4-FFF2-40B4-BE49-F238E27FC236}">
                <a16:creationId xmlns:a16="http://schemas.microsoft.com/office/drawing/2014/main" id="{EE38F5D1-D213-46B7-95A8-0CF431CD8756}"/>
              </a:ext>
            </a:extLst>
          </p:cNvPr>
          <p:cNvSpPr>
            <a:spLocks noGrp="1"/>
          </p:cNvSpPr>
          <p:nvPr/>
        </p:nvSpPr>
        <p:spPr>
          <a:xfrm>
            <a:off x="2714625" y="2114550"/>
            <a:ext cx="762000" cy="28575"/>
          </a:xfrm>
          <a:prstGeom prst="rect">
            <a:avLst/>
          </a:prstGeom>
          <a:solidFill>
            <a:srgbClr val="171717"/>
          </a:solidFill>
          <a:ln w="0">
            <a:noFill/>
          </a:ln>
        </p:spPr>
        <p:txBody>
          <a:bodyPr/>
          <a:lstStyle/>
          <a:p>
            <a:endParaRPr lang="pt-BR"/>
          </a:p>
        </p:txBody>
      </p:sp>
      <p:sp>
        <p:nvSpPr>
          <p:cNvPr id="5" name="Rectangle 4">
            <a:extLst>
              <a:ext uri="{FF2B5EF4-FFF2-40B4-BE49-F238E27FC236}">
                <a16:creationId xmlns:a16="http://schemas.microsoft.com/office/drawing/2014/main" id="{E81792CC-F18D-48EF-BC79-A85D377ADA25}"/>
              </a:ext>
            </a:extLst>
          </p:cNvPr>
          <p:cNvSpPr>
            <a:spLocks noGrp="1"/>
          </p:cNvSpPr>
          <p:nvPr/>
        </p:nvSpPr>
        <p:spPr>
          <a:xfrm>
            <a:off x="7524750" y="1914525"/>
            <a:ext cx="1333500"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10 s old</a:t>
            </a:r>
          </a:p>
        </p:txBody>
      </p:sp>
      <p:sp>
        <p:nvSpPr>
          <p:cNvPr id="6" name="Rectangle 5">
            <a:extLst>
              <a:ext uri="{FF2B5EF4-FFF2-40B4-BE49-F238E27FC236}">
                <a16:creationId xmlns:a16="http://schemas.microsoft.com/office/drawing/2014/main" id="{51A97975-4FDD-4089-91EC-AFD105A4C3B9}"/>
              </a:ext>
            </a:extLst>
          </p:cNvPr>
          <p:cNvSpPr>
            <a:spLocks noGrp="1"/>
          </p:cNvSpPr>
          <p:nvPr/>
        </p:nvSpPr>
        <p:spPr>
          <a:xfrm>
            <a:off x="457200" y="2705100"/>
            <a:ext cx="1952625"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30 seconds</a:t>
            </a:r>
          </a:p>
        </p:txBody>
      </p:sp>
      <p:sp>
        <p:nvSpPr>
          <p:cNvPr id="7" name="Rectangle 6">
            <a:extLst>
              <a:ext uri="{FF2B5EF4-FFF2-40B4-BE49-F238E27FC236}">
                <a16:creationId xmlns:a16="http://schemas.microsoft.com/office/drawing/2014/main" id="{9221FECD-BE87-45D1-9426-3E560391D9B7}"/>
              </a:ext>
            </a:extLst>
          </p:cNvPr>
          <p:cNvSpPr>
            <a:spLocks noGrp="1"/>
          </p:cNvSpPr>
          <p:nvPr/>
        </p:nvSpPr>
        <p:spPr>
          <a:xfrm>
            <a:off x="2714625" y="2905125"/>
            <a:ext cx="2286000" cy="28575"/>
          </a:xfrm>
          <a:prstGeom prst="rect">
            <a:avLst/>
          </a:prstGeom>
          <a:solidFill>
            <a:srgbClr val="171717"/>
          </a:solidFill>
          <a:ln w="0">
            <a:noFill/>
          </a:ln>
        </p:spPr>
        <p:txBody>
          <a:bodyPr/>
          <a:lstStyle/>
          <a:p>
            <a:endParaRPr lang="pt-BR"/>
          </a:p>
        </p:txBody>
      </p:sp>
      <p:sp>
        <p:nvSpPr>
          <p:cNvPr id="8" name="Rectangle 7">
            <a:extLst>
              <a:ext uri="{FF2B5EF4-FFF2-40B4-BE49-F238E27FC236}">
                <a16:creationId xmlns:a16="http://schemas.microsoft.com/office/drawing/2014/main" id="{82626305-858C-48A5-BB8D-3E2D7B4BC68D}"/>
              </a:ext>
            </a:extLst>
          </p:cNvPr>
          <p:cNvSpPr>
            <a:spLocks noGrp="1"/>
          </p:cNvSpPr>
          <p:nvPr/>
        </p:nvSpPr>
        <p:spPr>
          <a:xfrm>
            <a:off x="7524750" y="2705100"/>
            <a:ext cx="1333500"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30 s old</a:t>
            </a:r>
          </a:p>
        </p:txBody>
      </p:sp>
      <p:sp>
        <p:nvSpPr>
          <p:cNvPr id="9" name="Rectangle 8">
            <a:extLst>
              <a:ext uri="{FF2B5EF4-FFF2-40B4-BE49-F238E27FC236}">
                <a16:creationId xmlns:a16="http://schemas.microsoft.com/office/drawing/2014/main" id="{0854D8DC-2332-4285-8CEE-71C4A7837E04}"/>
              </a:ext>
            </a:extLst>
          </p:cNvPr>
          <p:cNvSpPr>
            <a:spLocks noGrp="1"/>
          </p:cNvSpPr>
          <p:nvPr/>
        </p:nvSpPr>
        <p:spPr>
          <a:xfrm>
            <a:off x="457200" y="3495675"/>
            <a:ext cx="1952625"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1 minute</a:t>
            </a:r>
          </a:p>
        </p:txBody>
      </p:sp>
      <p:sp>
        <p:nvSpPr>
          <p:cNvPr id="10" name="Rectangle 9">
            <a:extLst>
              <a:ext uri="{FF2B5EF4-FFF2-40B4-BE49-F238E27FC236}">
                <a16:creationId xmlns:a16="http://schemas.microsoft.com/office/drawing/2014/main" id="{34BF9EA4-7535-4A90-8108-04384697DBA3}"/>
              </a:ext>
            </a:extLst>
          </p:cNvPr>
          <p:cNvSpPr>
            <a:spLocks noGrp="1"/>
          </p:cNvSpPr>
          <p:nvPr/>
        </p:nvSpPr>
        <p:spPr>
          <a:xfrm>
            <a:off x="2714625" y="3695700"/>
            <a:ext cx="4572000" cy="28575"/>
          </a:xfrm>
          <a:prstGeom prst="rect">
            <a:avLst/>
          </a:prstGeom>
          <a:solidFill>
            <a:srgbClr val="171717"/>
          </a:solidFill>
          <a:ln w="0">
            <a:noFill/>
          </a:ln>
        </p:spPr>
        <p:txBody>
          <a:bodyPr/>
          <a:lstStyle/>
          <a:p>
            <a:endParaRPr lang="pt-BR"/>
          </a:p>
        </p:txBody>
      </p:sp>
      <p:sp>
        <p:nvSpPr>
          <p:cNvPr id="11" name="Rectangle 10">
            <a:extLst>
              <a:ext uri="{FF2B5EF4-FFF2-40B4-BE49-F238E27FC236}">
                <a16:creationId xmlns:a16="http://schemas.microsoft.com/office/drawing/2014/main" id="{F3B1D7E7-91B0-4BBC-A022-084DC80024F4}"/>
              </a:ext>
            </a:extLst>
          </p:cNvPr>
          <p:cNvSpPr>
            <a:spLocks noGrp="1"/>
          </p:cNvSpPr>
          <p:nvPr/>
        </p:nvSpPr>
        <p:spPr>
          <a:xfrm>
            <a:off x="7524750" y="3495675"/>
            <a:ext cx="1333500" cy="394335"/>
          </a:xfrm>
          <a:prstGeom prst="rect">
            <a:avLst/>
          </a:prstGeom>
          <a:noFill/>
          <a:ln w="0">
            <a:noFill/>
          </a:ln>
        </p:spPr>
        <p:txBody>
          <a:bodyPr wrap="none" lIns="0" tIns="0" rIns="0" bIns="0">
            <a:noAutofit/>
          </a:bodyPr>
          <a:lstStyle/>
          <a:p>
            <a:pPr>
              <a:defRPr sz="2250" b="1">
                <a:solidFill>
                  <a:srgbClr val="171717"/>
                </a:solidFill>
                <a:latin typeface="Arial"/>
                <a:ea typeface="Arial"/>
                <a:cs typeface="Arial"/>
              </a:defRPr>
            </a:pPr>
            <a:r>
              <a:rPr sz="2250" b="1">
                <a:solidFill>
                  <a:srgbClr val="171717"/>
                </a:solidFill>
                <a:latin typeface="Arial"/>
                <a:ea typeface="Arial"/>
                <a:cs typeface="Arial"/>
              </a:rPr>
              <a:t>60 s old</a:t>
            </a:r>
          </a:p>
        </p:txBody>
      </p:sp>
      <p:sp>
        <p:nvSpPr>
          <p:cNvPr id="12" name="Rectangle 11">
            <a:extLst>
              <a:ext uri="{FF2B5EF4-FFF2-40B4-BE49-F238E27FC236}">
                <a16:creationId xmlns:a16="http://schemas.microsoft.com/office/drawing/2014/main" id="{A82CCF65-A2A0-49AC-AD47-F9F19798F276}"/>
              </a:ext>
            </a:extLst>
          </p:cNvPr>
          <p:cNvSpPr>
            <a:spLocks noGrp="1"/>
          </p:cNvSpPr>
          <p:nvPr/>
        </p:nvSpPr>
        <p:spPr>
          <a:xfrm>
            <a:off x="2667000" y="1438275"/>
            <a:ext cx="6096000" cy="304419"/>
          </a:xfrm>
          <a:prstGeom prst="rect">
            <a:avLst/>
          </a:prstGeom>
          <a:noFill/>
          <a:ln w="0">
            <a:noFill/>
          </a:ln>
        </p:spPr>
        <p:txBody>
          <a:bodyPr wrap="none" lIns="0" tIns="0" rIns="0" bIns="0">
            <a:noAutofit/>
          </a:bodyPr>
          <a:lstStyle/>
          <a:p>
            <a:pPr>
              <a:defRPr sz="1650" b="0">
                <a:solidFill>
                  <a:srgbClr val="706E6C"/>
                </a:solidFill>
                <a:latin typeface="Arial"/>
                <a:ea typeface="Arial"/>
                <a:cs typeface="Arial"/>
              </a:defRPr>
            </a:pPr>
            <a:r>
              <a:rPr sz="1650" b="0">
                <a:solidFill>
                  <a:srgbClr val="706E6C"/>
                </a:solidFill>
                <a:latin typeface="Arial"/>
                <a:ea typeface="Arial"/>
                <a:cs typeface="Arial"/>
              </a:rPr>
              <a:t>Snapshot at 0 s → answer arrives later</a:t>
            </a:r>
          </a:p>
        </p:txBody>
      </p:sp>
      <p:sp>
        <p:nvSpPr>
          <p:cNvPr id="13" name="Rectangle 12">
            <a:extLst>
              <a:ext uri="{FF2B5EF4-FFF2-40B4-BE49-F238E27FC236}">
                <a16:creationId xmlns:a16="http://schemas.microsoft.com/office/drawing/2014/main" id="{5A8EED76-AC70-4F4C-9916-9BD1AC31A348}"/>
              </a:ext>
            </a:extLst>
          </p:cNvPr>
          <p:cNvSpPr>
            <a:spLocks noGrp="1"/>
          </p:cNvSpPr>
          <p:nvPr/>
        </p:nvSpPr>
        <p:spPr>
          <a:xfrm>
            <a:off x="457200" y="4619625"/>
            <a:ext cx="8229600" cy="248222"/>
          </a:xfrm>
          <a:prstGeom prst="rect">
            <a:avLst/>
          </a:prstGeom>
          <a:noFill/>
          <a:ln w="0">
            <a:noFill/>
          </a:ln>
        </p:spPr>
        <p:txBody>
          <a:bodyPr wrap="none" lIns="0" tIns="0" rIns="0" bIns="0">
            <a:noAutofit/>
          </a:bodyPr>
          <a:lstStyle/>
          <a:p>
            <a:pPr>
              <a:defRPr sz="1275" b="0">
                <a:solidFill>
                  <a:srgbClr val="706E6C"/>
                </a:solidFill>
                <a:latin typeface="Arial"/>
                <a:ea typeface="Arial"/>
                <a:cs typeface="Arial"/>
              </a:defRPr>
            </a:pPr>
            <a:r>
              <a:rPr sz="1275" b="0">
                <a:solidFill>
                  <a:srgbClr val="706E6C"/>
                </a:solidFill>
                <a:latin typeface="Arial"/>
                <a:ea typeface="Arial"/>
                <a:cs typeface="Arial"/>
              </a:rPr>
              <a:t>Illustration: age of the snapshot at response arrival, while new commits keep happening.</a:t>
            </a:r>
          </a:p>
        </p:txBody>
      </p:sp>
      <p:sp>
        <p:nvSpPr>
          <p:cNvPr id="9534"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34</a:t>
            </a:r>
          </a:p>
        </p:txBody>
      </p:sp>
    </p:spTree>
    <p:extLst>
      <p:ext uri="{BB962C8B-B14F-4D97-AF65-F5344CB8AC3E}">
        <p14:creationId xmlns:p14="http://schemas.microsoft.com/office/powerpoint/2010/main" val="351441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491A563C-28B1-4E08-9776-BA685B8E354B}"/>
              </a:ext>
            </a:extLst>
          </p:cNvPr>
          <p:cNvSpPr>
            <a:spLocks noGrp="1"/>
          </p:cNvSpPr>
          <p:nvPr/>
        </p:nvSpPr>
        <p:spPr>
          <a:xfrm>
            <a:off x="457200" y="1476375"/>
            <a:ext cx="8191500" cy="326898"/>
          </a:xfrm>
          <a:prstGeom prst="rect">
            <a:avLst/>
          </a:prstGeom>
          <a:noFill/>
          <a:ln w="0">
            <a:noFill/>
          </a:ln>
        </p:spPr>
        <p:txBody>
          <a:bodyPr wrap="none" lIns="0" tIns="0" rIns="0" bIns="0">
            <a:noAutofit/>
          </a:bodyPr>
          <a:lstStyle/>
          <a:p>
            <a:pPr>
              <a:defRPr sz="1800" b="0">
                <a:solidFill>
                  <a:srgbClr val="FFFFFF"/>
                </a:solidFill>
                <a:latin typeface="Arial"/>
                <a:ea typeface="Arial"/>
                <a:cs typeface="Arial"/>
              </a:defRPr>
            </a:pPr>
            <a:r>
              <a:rPr sz="1800" b="0">
                <a:solidFill>
                  <a:srgbClr val="FFFFFF"/>
                </a:solidFill>
                <a:latin typeface="Arial"/>
                <a:ea typeface="Arial"/>
                <a:cs typeface="Arial"/>
              </a:rPr>
              <a:t>READYSET / DEEP CACHE</a:t>
            </a:r>
          </a:p>
        </p:txBody>
      </p:sp>
      <p:sp>
        <p:nvSpPr>
          <p:cNvPr id="3" name="Rectangle 2">
            <a:extLst>
              <a:ext uri="{FF2B5EF4-FFF2-40B4-BE49-F238E27FC236}">
                <a16:creationId xmlns:a16="http://schemas.microsoft.com/office/drawing/2014/main" id="{866A8C1E-FCF4-49C9-A02E-A085889B5DEC}"/>
              </a:ext>
            </a:extLst>
          </p:cNvPr>
          <p:cNvSpPr>
            <a:spLocks noGrp="1"/>
          </p:cNvSpPr>
          <p:nvPr/>
        </p:nvSpPr>
        <p:spPr>
          <a:xfrm>
            <a:off x="457200" y="2124075"/>
            <a:ext cx="8191500" cy="607886"/>
          </a:xfrm>
          <a:prstGeom prst="rect">
            <a:avLst/>
          </a:prstGeom>
          <a:noFill/>
          <a:ln w="0">
            <a:noFill/>
          </a:ln>
        </p:spPr>
        <p:txBody>
          <a:bodyPr wrap="none" lIns="0" tIns="0" rIns="0" bIns="0">
            <a:noAutofit/>
          </a:bodyPr>
          <a:lstStyle/>
          <a:p>
            <a:pPr>
              <a:defRPr sz="3675" b="1">
                <a:solidFill>
                  <a:srgbClr val="FFFFFF"/>
                </a:solidFill>
                <a:latin typeface="Arial"/>
                <a:ea typeface="Arial"/>
                <a:cs typeface="Arial"/>
              </a:defRPr>
            </a:pPr>
            <a:r>
              <a:rPr sz="3675" b="1">
                <a:solidFill>
                  <a:srgbClr val="FFFFFF"/>
                </a:solidFill>
                <a:latin typeface="Arial"/>
                <a:ea typeface="Arial"/>
                <a:cs typeface="Arial"/>
              </a:rPr>
              <a:t>Keep the answer updated.</a:t>
            </a:r>
          </a:p>
        </p:txBody>
      </p:sp>
      <p:sp>
        <p:nvSpPr>
          <p:cNvPr id="4" name="Rectangle 3">
            <a:extLst>
              <a:ext uri="{FF2B5EF4-FFF2-40B4-BE49-F238E27FC236}">
                <a16:creationId xmlns:a16="http://schemas.microsoft.com/office/drawing/2014/main" id="{1FBF755F-1C34-4DC3-9D87-CD204B3339D1}"/>
              </a:ext>
            </a:extLst>
          </p:cNvPr>
          <p:cNvSpPr>
            <a:spLocks noGrp="1"/>
          </p:cNvSpPr>
          <p:nvPr/>
        </p:nvSpPr>
        <p:spPr>
          <a:xfrm>
            <a:off x="457200" y="2857500"/>
            <a:ext cx="8191500" cy="607886"/>
          </a:xfrm>
          <a:prstGeom prst="rect">
            <a:avLst/>
          </a:prstGeom>
          <a:noFill/>
          <a:ln w="0">
            <a:noFill/>
          </a:ln>
        </p:spPr>
        <p:txBody>
          <a:bodyPr wrap="none" lIns="0" tIns="0" rIns="0" bIns="0">
            <a:noAutofit/>
          </a:bodyPr>
          <a:lstStyle/>
          <a:p>
            <a:pPr>
              <a:defRPr sz="3675" b="1">
                <a:solidFill>
                  <a:srgbClr val="FFFFFF"/>
                </a:solidFill>
                <a:latin typeface="Arial"/>
                <a:ea typeface="Arial"/>
                <a:cs typeface="Arial"/>
              </a:defRPr>
            </a:pPr>
            <a:r>
              <a:rPr sz="3675" b="1">
                <a:solidFill>
                  <a:srgbClr val="FFFFFF"/>
                </a:solidFill>
                <a:latin typeface="Arial"/>
                <a:ea typeface="Arial"/>
                <a:cs typeface="Arial"/>
              </a:rPr>
              <a:t>Read it quickly.</a:t>
            </a:r>
          </a:p>
        </p:txBody>
      </p:sp>
      <p:sp>
        <p:nvSpPr>
          <p:cNvPr id="5" name="Rectangle 4">
            <a:extLst>
              <a:ext uri="{FF2B5EF4-FFF2-40B4-BE49-F238E27FC236}">
                <a16:creationId xmlns:a16="http://schemas.microsoft.com/office/drawing/2014/main" id="{AC1465EE-B233-4403-92A6-5B6AE93E7549}"/>
              </a:ext>
            </a:extLst>
          </p:cNvPr>
          <p:cNvSpPr>
            <a:spLocks noGrp="1"/>
          </p:cNvSpPr>
          <p:nvPr/>
        </p:nvSpPr>
        <p:spPr>
          <a:xfrm>
            <a:off x="457200" y="3981450"/>
            <a:ext cx="8191500" cy="360617"/>
          </a:xfrm>
          <a:prstGeom prst="rect">
            <a:avLst/>
          </a:prstGeom>
          <a:noFill/>
          <a:ln w="0">
            <a:noFill/>
          </a:ln>
        </p:spPr>
        <p:txBody>
          <a:bodyPr wrap="none" lIns="0" tIns="0" rIns="0" bIns="0">
            <a:noAutofit/>
          </a:bodyPr>
          <a:lstStyle/>
          <a:p>
            <a:pPr>
              <a:defRPr sz="2025" b="0">
                <a:solidFill>
                  <a:srgbClr val="FFFFFF"/>
                </a:solidFill>
                <a:latin typeface="Arial"/>
                <a:ea typeface="Arial"/>
                <a:cs typeface="Arial"/>
              </a:defRPr>
            </a:pPr>
            <a:r>
              <a:rPr sz="2025" b="0">
                <a:solidFill>
                  <a:srgbClr val="FFFFFF"/>
                </a:solidFill>
                <a:latin typeface="Arial"/>
                <a:ea typeface="Arial"/>
                <a:cs typeface="Arial"/>
              </a:rPr>
              <a:t>Source changes → maintained result → lookup</a:t>
            </a:r>
          </a:p>
        </p:txBody>
      </p:sp>
      <p:sp>
        <p:nvSpPr>
          <p:cNvPr id="9535"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35</a:t>
            </a:r>
          </a:p>
        </p:txBody>
      </p:sp>
    </p:spTree>
    <p:extLst>
      <p:ext uri="{BB962C8B-B14F-4D97-AF65-F5344CB8AC3E}">
        <p14:creationId xmlns:p14="http://schemas.microsoft.com/office/powerpoint/2010/main" val="1004526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5"/>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7C74E3BB-B739-4622-9201-3A08F5B78056}"/>
              </a:ext>
            </a:extLst>
          </p:cNvPr>
          <p:cNvSpPr>
            <a:spLocks noGrp="1"/>
          </p:cNvSpPr>
          <p:nvPr/>
        </p:nvSpPr>
        <p:spPr>
          <a:xfrm>
            <a:off x="457200" y="809625"/>
            <a:ext cx="8286750" cy="461772"/>
          </a:xfrm>
          <a:prstGeom prst="rect">
            <a:avLst/>
          </a:prstGeom>
          <a:noFill/>
          <a:ln w="0">
            <a:noFill/>
          </a:ln>
        </p:spPr>
        <p:txBody>
          <a:bodyPr wrap="none" lIns="0" tIns="0" rIns="0" bIns="0">
            <a:noAutofit/>
          </a:bodyPr>
          <a:lstStyle/>
          <a:p>
            <a:pPr>
              <a:defRPr sz="2700" b="1">
                <a:solidFill>
                  <a:srgbClr val="1A1A1A"/>
                </a:solidFill>
                <a:latin typeface="Arial"/>
                <a:ea typeface="Arial"/>
                <a:cs typeface="Arial"/>
              </a:defRPr>
            </a:pPr>
            <a:r>
              <a:rPr sz="2700" b="1">
                <a:solidFill>
                  <a:srgbClr val="1A1A1A"/>
                </a:solidFill>
                <a:latin typeface="Arial"/>
                <a:ea typeface="Arial"/>
                <a:cs typeface="Arial"/>
              </a:rPr>
              <a:t>Watch the snapshot fall behind</a:t>
            </a:r>
          </a:p>
        </p:txBody>
      </p:sp>
      <p:pic>
        <p:nvPicPr>
          <p:cNvPr id="7" name="Source snapshot and deep-cache timelin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228600" y="1438275"/>
            <a:ext cx="8686800" cy="3257550"/>
          </a:xfrm>
          <a:prstGeom prst="rect">
            <a:avLst/>
          </a:prstGeom>
        </p:spPr>
      </p:pic>
      <p:sp>
        <p:nvSpPr>
          <p:cNvPr id="4" name="Rectangle 3">
            <a:extLst>
              <a:ext uri="{FF2B5EF4-FFF2-40B4-BE49-F238E27FC236}">
                <a16:creationId xmlns:a16="http://schemas.microsoft.com/office/drawing/2014/main" id="{14A936D3-00C3-4EFD-A4B1-7E7DB53BCA65}"/>
              </a:ext>
            </a:extLst>
          </p:cNvPr>
          <p:cNvSpPr>
            <a:spLocks noGrp="1"/>
          </p:cNvSpPr>
          <p:nvPr/>
        </p:nvSpPr>
        <p:spPr>
          <a:xfrm>
            <a:off x="457200" y="4619625"/>
            <a:ext cx="8229600" cy="248222"/>
          </a:xfrm>
          <a:prstGeom prst="rect">
            <a:avLst/>
          </a:prstGeom>
          <a:noFill/>
          <a:ln w="0">
            <a:noFill/>
          </a:ln>
        </p:spPr>
        <p:txBody>
          <a:bodyPr wrap="none" lIns="0" tIns="0" rIns="0" bIns="0">
            <a:noAutofit/>
          </a:bodyPr>
          <a:lstStyle/>
          <a:p>
            <a:pPr>
              <a:defRPr sz="1275" b="0">
                <a:solidFill>
                  <a:srgbClr val="706E6C"/>
                </a:solidFill>
                <a:latin typeface="Arial"/>
                <a:ea typeface="Arial"/>
                <a:cs typeface="Arial"/>
              </a:defRPr>
            </a:pPr>
            <a:r>
              <a:rPr sz="1275" b="0">
                <a:solidFill>
                  <a:srgbClr val="706E6C"/>
                </a:solidFill>
                <a:latin typeface="Arial"/>
                <a:ea typeface="Arial"/>
                <a:cs typeface="Arial"/>
              </a:rPr>
              <a:t>Illustration · time compressed · cache lookup at the end · click scene to play</a:t>
            </a:r>
          </a:p>
        </p:txBody>
      </p:sp>
      <p:sp>
        <p:nvSpPr>
          <p:cNvPr id="9536"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36</a:t>
            </a:r>
          </a:p>
        </p:txBody>
      </p:sp>
    </p:spTree>
    <p:extLst>
      <p:ext uri="{BB962C8B-B14F-4D97-AF65-F5344CB8AC3E}">
        <p14:creationId xmlns:p14="http://schemas.microsoft.com/office/powerpoint/2010/main" val="1074633681"/>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p:blipFill>
        <p:spPr>
          <a:xfrm>
            <a:off x="457200" y="239275"/>
            <a:ext cx="952500" cy="216776"/>
          </a:xfrm>
          <a:prstGeom prst="rect">
            <a:avLst/>
          </a:prstGeom>
        </p:spPr>
      </p:pic>
      <p:sp>
        <p:nvSpPr>
          <p:cNvPr id="2" name="Rectangle 1">
            <a:extLst>
              <a:ext uri="{FF2B5EF4-FFF2-40B4-BE49-F238E27FC236}">
                <a16:creationId xmlns:a16="http://schemas.microsoft.com/office/drawing/2014/main" id="{17D60A16-0635-489F-8EA5-713751ACF196}"/>
              </a:ext>
            </a:extLst>
          </p:cNvPr>
          <p:cNvSpPr>
            <a:spLocks noGrp="1"/>
          </p:cNvSpPr>
          <p:nvPr/>
        </p:nvSpPr>
        <p:spPr>
          <a:xfrm>
            <a:off x="457200" y="809625"/>
            <a:ext cx="8286750" cy="461772"/>
          </a:xfrm>
          <a:prstGeom prst="rect">
            <a:avLst/>
          </a:prstGeom>
          <a:noFill/>
          <a:ln w="0">
            <a:noFill/>
          </a:ln>
        </p:spPr>
        <p:txBody>
          <a:bodyPr wrap="none" lIns="0" tIns="0" rIns="0" bIns="0">
            <a:noAutofit/>
          </a:bodyPr>
          <a:lstStyle/>
          <a:p>
            <a:pPr>
              <a:defRPr sz="2700" b="1">
                <a:solidFill>
                  <a:srgbClr val="1A1A1A"/>
                </a:solidFill>
                <a:latin typeface="Arial"/>
                <a:ea typeface="Arial"/>
                <a:cs typeface="Arial"/>
              </a:defRPr>
            </a:pPr>
            <a:r>
              <a:rPr sz="2700" b="1">
                <a:solidFill>
                  <a:srgbClr val="1A1A1A"/>
                </a:solidFill>
                <a:latin typeface="Arial"/>
                <a:ea typeface="Arial"/>
                <a:cs typeface="Arial"/>
              </a:rPr>
              <a:t>Reading the source does not guarantee freshness</a:t>
            </a:r>
          </a:p>
        </p:txBody>
      </p:sp>
      <p:sp>
        <p:nvSpPr>
          <p:cNvPr id="3" name="Rectangle 2">
            <a:extLst>
              <a:ext uri="{FF2B5EF4-FFF2-40B4-BE49-F238E27FC236}">
                <a16:creationId xmlns:a16="http://schemas.microsoft.com/office/drawing/2014/main" id="{B7E40876-7256-44BD-AE24-74D46F36B9F6}"/>
              </a:ext>
            </a:extLst>
          </p:cNvPr>
          <p:cNvSpPr>
            <a:spLocks noGrp="1"/>
          </p:cNvSpPr>
          <p:nvPr/>
        </p:nvSpPr>
        <p:spPr>
          <a:xfrm>
            <a:off x="457200" y="1876425"/>
            <a:ext cx="8096250" cy="562928"/>
          </a:xfrm>
          <a:prstGeom prst="rect">
            <a:avLst/>
          </a:prstGeom>
          <a:noFill/>
          <a:ln w="0">
            <a:noFill/>
          </a:ln>
        </p:spPr>
        <p:txBody>
          <a:bodyPr wrap="none" lIns="0" tIns="0" rIns="0" bIns="0">
            <a:noAutofit/>
          </a:bodyPr>
          <a:lstStyle/>
          <a:p>
            <a:pPr>
              <a:defRPr sz="3375" b="1">
                <a:solidFill>
                  <a:srgbClr val="171717"/>
                </a:solidFill>
                <a:latin typeface="Arial"/>
                <a:ea typeface="Arial"/>
                <a:cs typeface="Arial"/>
              </a:defRPr>
            </a:pPr>
            <a:r>
              <a:rPr sz="3375" b="1">
                <a:solidFill>
                  <a:srgbClr val="171717"/>
                </a:solidFill>
                <a:latin typeface="Arial"/>
                <a:ea typeface="Arial"/>
                <a:cs typeface="Arial"/>
              </a:rPr>
              <a:t>Ask how old the answer is</a:t>
            </a:r>
          </a:p>
        </p:txBody>
      </p:sp>
      <p:sp>
        <p:nvSpPr>
          <p:cNvPr id="4" name="Rectangle 3">
            <a:extLst>
              <a:ext uri="{FF2B5EF4-FFF2-40B4-BE49-F238E27FC236}">
                <a16:creationId xmlns:a16="http://schemas.microsoft.com/office/drawing/2014/main" id="{410151C8-8E41-4A66-834B-89B017F600E6}"/>
              </a:ext>
            </a:extLst>
          </p:cNvPr>
          <p:cNvSpPr>
            <a:spLocks noGrp="1"/>
          </p:cNvSpPr>
          <p:nvPr/>
        </p:nvSpPr>
        <p:spPr>
          <a:xfrm>
            <a:off x="457200" y="2457450"/>
            <a:ext cx="8096250" cy="562928"/>
          </a:xfrm>
          <a:prstGeom prst="rect">
            <a:avLst/>
          </a:prstGeom>
          <a:noFill/>
          <a:ln w="0">
            <a:noFill/>
          </a:ln>
        </p:spPr>
        <p:txBody>
          <a:bodyPr wrap="none" lIns="0" tIns="0" rIns="0" bIns="0">
            <a:noAutofit/>
          </a:bodyPr>
          <a:lstStyle/>
          <a:p>
            <a:pPr>
              <a:defRPr sz="3375" b="1">
                <a:solidFill>
                  <a:srgbClr val="171717"/>
                </a:solidFill>
                <a:latin typeface="Arial"/>
                <a:ea typeface="Arial"/>
                <a:cs typeface="Arial"/>
              </a:defRPr>
            </a:pPr>
            <a:r>
              <a:rPr sz="3375" b="1">
                <a:solidFill>
                  <a:srgbClr val="171717"/>
                </a:solidFill>
                <a:latin typeface="Arial"/>
                <a:ea typeface="Arial"/>
                <a:cs typeface="Arial"/>
              </a:rPr>
              <a:t>when it reaches you.</a:t>
            </a:r>
          </a:p>
        </p:txBody>
      </p:sp>
      <p:sp>
        <p:nvSpPr>
          <p:cNvPr id="5" name="Rectangle 4">
            <a:extLst>
              <a:ext uri="{FF2B5EF4-FFF2-40B4-BE49-F238E27FC236}">
                <a16:creationId xmlns:a16="http://schemas.microsoft.com/office/drawing/2014/main" id="{4AD995CF-4103-426B-84B3-3D71617D590E}"/>
              </a:ext>
            </a:extLst>
          </p:cNvPr>
          <p:cNvSpPr>
            <a:spLocks noGrp="1"/>
          </p:cNvSpPr>
          <p:nvPr/>
        </p:nvSpPr>
        <p:spPr>
          <a:xfrm>
            <a:off x="457200" y="3552825"/>
            <a:ext cx="8096250" cy="394335"/>
          </a:xfrm>
          <a:prstGeom prst="rect">
            <a:avLst/>
          </a:prstGeom>
          <a:noFill/>
          <a:ln w="0">
            <a:noFill/>
          </a:ln>
        </p:spPr>
        <p:txBody>
          <a:bodyPr wrap="none" lIns="0" tIns="0" rIns="0" bIns="0">
            <a:noAutofit/>
          </a:bodyPr>
          <a:lstStyle/>
          <a:p>
            <a:pPr>
              <a:defRPr sz="2250" b="1">
                <a:solidFill>
                  <a:srgbClr val="1A1A1A"/>
                </a:solidFill>
                <a:latin typeface="Arial"/>
                <a:ea typeface="Arial"/>
                <a:cs typeface="Arial"/>
              </a:defRPr>
            </a:pPr>
            <a:r>
              <a:rPr sz="2250" b="1">
                <a:solidFill>
                  <a:srgbClr val="1A1A1A"/>
                </a:solidFill>
                <a:latin typeface="Arial"/>
                <a:ea typeface="Arial"/>
                <a:cs typeface="Arial"/>
              </a:rPr>
              <a:t>Deep cache can return sooner with newer data.</a:t>
            </a:r>
          </a:p>
        </p:txBody>
      </p:sp>
      <p:sp>
        <p:nvSpPr>
          <p:cNvPr id="6" name="Rectangle 5">
            <a:extLst>
              <a:ext uri="{FF2B5EF4-FFF2-40B4-BE49-F238E27FC236}">
                <a16:creationId xmlns:a16="http://schemas.microsoft.com/office/drawing/2014/main" id="{70AC979F-BFA8-4C89-96B1-F3F359BC6E21}"/>
              </a:ext>
            </a:extLst>
          </p:cNvPr>
          <p:cNvSpPr>
            <a:spLocks noGrp="1"/>
          </p:cNvSpPr>
          <p:nvPr/>
        </p:nvSpPr>
        <p:spPr>
          <a:xfrm>
            <a:off x="457200" y="4619625"/>
            <a:ext cx="8229600" cy="248222"/>
          </a:xfrm>
          <a:prstGeom prst="rect">
            <a:avLst/>
          </a:prstGeom>
          <a:noFill/>
          <a:ln w="0">
            <a:noFill/>
          </a:ln>
        </p:spPr>
        <p:txBody>
          <a:bodyPr wrap="none" lIns="0" tIns="0" rIns="0" bIns="0">
            <a:noAutofit/>
          </a:bodyPr>
          <a:lstStyle/>
          <a:p>
            <a:pPr>
              <a:defRPr sz="1275" b="0">
                <a:solidFill>
                  <a:srgbClr val="706E6C"/>
                </a:solidFill>
                <a:latin typeface="Arial"/>
                <a:ea typeface="Arial"/>
                <a:cs typeface="Arial"/>
              </a:defRPr>
            </a:pPr>
            <a:r>
              <a:rPr sz="1275" b="0">
                <a:solidFill>
                  <a:srgbClr val="706E6C"/>
                </a:solidFill>
                <a:latin typeface="Arial"/>
                <a:ea typeface="Arial"/>
                <a:cs typeface="Arial"/>
              </a:rPr>
              <a:t>It can win when update delay + lookup time &lt; the long query’s snapshot age.</a:t>
            </a:r>
          </a:p>
        </p:txBody>
      </p:sp>
      <p:sp>
        <p:nvSpPr>
          <p:cNvPr id="9537"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37</a:t>
            </a:r>
          </a:p>
        </p:txBody>
      </p:sp>
    </p:spTree>
    <p:extLst>
      <p:ext uri="{BB962C8B-B14F-4D97-AF65-F5344CB8AC3E}">
        <p14:creationId xmlns:p14="http://schemas.microsoft.com/office/powerpoint/2010/main" val="1040377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a:extLst>
            <a:ext uri="{FF2B5EF4-FFF2-40B4-BE49-F238E27FC236}">
              <a16:creationId xmlns:a16="http://schemas.microsoft.com/office/drawing/2014/main" id="{7F1904AC-F84E-F854-D5FE-EFA0D1A7D6BF}"/>
            </a:ext>
          </a:extLst>
        </p:cNvPr>
        <p:cNvGrpSpPr/>
        <p:nvPr/>
      </p:nvGrpSpPr>
      <p:grpSpPr>
        <a:xfrm>
          <a:off x="0" y="0"/>
          <a:ext cx="0" cy="0"/>
          <a:chOff x="0" y="0"/>
          <a:chExt cx="0" cy="0"/>
        </a:xfrm>
      </p:grpSpPr>
      <p:pic>
        <p:nvPicPr>
          <p:cNvPr id="7" name="Readyset logo" descr="Readyset logo">
            <a:extLst>
              <a:ext uri="{FF2B5EF4-FFF2-40B4-BE49-F238E27FC236}">
                <a16:creationId xmlns:a16="http://schemas.microsoft.com/office/drawing/2014/main" id="{8E9E7D6C-FD23-226A-BEAC-9055C60A10CA}"/>
              </a:ext>
            </a:extLst>
          </p:cNvPr>
          <p:cNvPicPr>
            <a:picLocks noChangeAspect="1"/>
          </p:cNvPicPr>
          <p:nvPr/>
        </p:nvPicPr>
        <p:blipFill>
          <a:blip r:embed="rId3"/>
          <a:stretch/>
        </p:blipFill>
        <p:spPr>
          <a:xfrm>
            <a:off x="457200" y="238132"/>
            <a:ext cx="952500" cy="216776"/>
          </a:xfrm>
          <a:prstGeom prst="rect">
            <a:avLst/>
          </a:prstGeom>
        </p:spPr>
      </p:pic>
      <p:sp>
        <p:nvSpPr>
          <p:cNvPr id="4" name="Slide title">
            <a:extLst>
              <a:ext uri="{FF2B5EF4-FFF2-40B4-BE49-F238E27FC236}">
                <a16:creationId xmlns:a16="http://schemas.microsoft.com/office/drawing/2014/main" id="{EFA8A03B-4250-10AD-C31A-251782E49B58}"/>
              </a:ext>
            </a:extLst>
          </p:cNvPr>
          <p:cNvSpPr>
            <a:spLocks noGrp="1"/>
          </p:cNvSpPr>
          <p:nvPr/>
        </p:nvSpPr>
        <p:spPr>
          <a:xfrm>
            <a:off x="457200" y="2038350"/>
            <a:ext cx="5905500" cy="1476375"/>
          </a:xfrm>
          <a:prstGeom prst="rect">
            <a:avLst/>
          </a:prstGeom>
          <a:noFill/>
          <a:ln w="0">
            <a:noFill/>
          </a:ln>
        </p:spPr>
        <p:txBody>
          <a:bodyPr wrap="none" lIns="0" tIns="0" rIns="0" bIns="0">
            <a:noAutofit/>
          </a:bodyPr>
          <a:lstStyle/>
          <a:p>
            <a:pPr>
              <a:lnSpc>
                <a:spcPct val="110000"/>
              </a:lnSpc>
              <a:buNone/>
              <a:defRPr sz="4275" b="1">
                <a:solidFill>
                  <a:srgbClr val="EDEDEC"/>
                </a:solidFill>
                <a:latin typeface="Arial"/>
                <a:ea typeface="Arial"/>
                <a:cs typeface="Arial"/>
              </a:defRPr>
            </a:pPr>
            <a:r>
              <a:rPr lang="pt-BR" sz="4275" b="1" dirty="0">
                <a:solidFill>
                  <a:srgbClr val="EDEDEC"/>
                </a:solidFill>
                <a:latin typeface="Arial"/>
                <a:ea typeface="Arial"/>
                <a:cs typeface="Arial"/>
              </a:rPr>
              <a:t>4.3 </a:t>
            </a:r>
            <a:r>
              <a:rPr lang="pt-BR" sz="4275" b="1" dirty="0" err="1">
                <a:solidFill>
                  <a:srgbClr val="EDEDEC"/>
                </a:solidFill>
                <a:latin typeface="Arial"/>
                <a:ea typeface="Arial"/>
                <a:cs typeface="Arial"/>
              </a:rPr>
              <a:t>Million</a:t>
            </a:r>
            <a:r>
              <a:rPr lang="pt-BR" sz="4275" b="1" dirty="0">
                <a:solidFill>
                  <a:srgbClr val="EDEDEC"/>
                </a:solidFill>
                <a:latin typeface="Arial"/>
                <a:ea typeface="Arial"/>
                <a:cs typeface="Arial"/>
              </a:rPr>
              <a:t> QPS </a:t>
            </a:r>
            <a:r>
              <a:rPr lang="pt-BR" sz="4275" b="1" dirty="0" err="1">
                <a:solidFill>
                  <a:srgbClr val="EDEDEC"/>
                </a:solidFill>
                <a:latin typeface="Arial"/>
                <a:ea typeface="Arial"/>
                <a:cs typeface="Arial"/>
              </a:rPr>
              <a:t>Paper</a:t>
            </a:r>
            <a:endParaRPr lang="en-BR" sz="4275" b="1" dirty="0">
              <a:solidFill>
                <a:srgbClr val="EDEDEC"/>
              </a:solidFill>
              <a:latin typeface="Arial"/>
              <a:ea typeface="Arial"/>
              <a:cs typeface="Arial"/>
            </a:endParaRPr>
          </a:p>
        </p:txBody>
      </p:sp>
      <p:pic>
        <p:nvPicPr>
          <p:cNvPr id="12" name="Section glyph" descr="Section glyph">
            <a:extLst>
              <a:ext uri="{FF2B5EF4-FFF2-40B4-BE49-F238E27FC236}">
                <a16:creationId xmlns:a16="http://schemas.microsoft.com/office/drawing/2014/main" id="{26EB36D2-7CB0-C83E-3185-CEE100CF371E}"/>
              </a:ext>
            </a:extLst>
          </p:cNvPr>
          <p:cNvPicPr>
            <a:picLocks noChangeAspect="1"/>
          </p:cNvPicPr>
          <p:nvPr/>
        </p:nvPicPr>
        <p:blipFill>
          <a:blip r:embed="rId4"/>
          <a:stretch/>
        </p:blipFill>
        <p:spPr>
          <a:xfrm>
            <a:off x="6905625" y="1823085"/>
            <a:ext cx="1619250" cy="1554480"/>
          </a:xfrm>
          <a:prstGeom prst="rect">
            <a:avLst/>
          </a:prstGeom>
        </p:spPr>
      </p:pic>
      <p:sp>
        <p:nvSpPr>
          <p:cNvPr id="9538"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38</a:t>
            </a:r>
          </a:p>
        </p:txBody>
      </p:sp>
    </p:spTree>
    <p:extLst>
      <p:ext uri="{BB962C8B-B14F-4D97-AF65-F5344CB8AC3E}">
        <p14:creationId xmlns:p14="http://schemas.microsoft.com/office/powerpoint/2010/main" val="215654157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7"/>
        <p:cNvGrpSpPr/>
        <p:nvPr/>
      </p:nvGrpSpPr>
      <p:grpSpPr>
        <a:xfrm>
          <a:off x="0" y="0"/>
          <a:ext cx="0" cy="0"/>
          <a:chOff x="0" y="0"/>
          <a:chExt cx="0" cy="0"/>
        </a:xfrm>
      </p:grpSpPr>
      <p:sp>
        <p:nvSpPr>
          <p:cNvPr id="798" name="Google Shape;798;p37"/>
          <p:cNvSpPr/>
          <p:nvPr/>
        </p:nvSpPr>
        <p:spPr>
          <a:xfrm>
            <a:off x="457200" y="1485900"/>
            <a:ext cx="5629504" cy="3238348"/>
          </a:xfrm>
          <a:prstGeom prst="roundRect">
            <a:avLst>
              <a:gd name="adj" fmla="val 1765"/>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799" name="Google Shape;799;p37"/>
          <p:cNvSpPr/>
          <p:nvPr/>
        </p:nvSpPr>
        <p:spPr>
          <a:xfrm>
            <a:off x="6172200" y="1485900"/>
            <a:ext cx="2286000" cy="1333653"/>
          </a:xfrm>
          <a:prstGeom prst="roundRect">
            <a:avLst>
              <a:gd name="adj" fmla="val 4285"/>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00" name="Google Shape;800;p37"/>
          <p:cNvSpPr/>
          <p:nvPr/>
        </p:nvSpPr>
        <p:spPr>
          <a:xfrm>
            <a:off x="6172200" y="2914650"/>
            <a:ext cx="2295601" cy="819303"/>
          </a:xfrm>
          <a:prstGeom prst="roundRect">
            <a:avLst>
              <a:gd name="adj" fmla="val 6975"/>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01" name="Google Shape;801;p37"/>
          <p:cNvSpPr/>
          <p:nvPr/>
        </p:nvSpPr>
        <p:spPr>
          <a:xfrm>
            <a:off x="6172200" y="3819449"/>
            <a:ext cx="2295601" cy="904799"/>
          </a:xfrm>
          <a:prstGeom prst="roundRect">
            <a:avLst>
              <a:gd name="adj" fmla="val 6316"/>
            </a:avLst>
          </a:prstGeom>
          <a:solidFill>
            <a:srgbClr val="FFFFFF"/>
          </a:solidFill>
          <a:ln w="12700" cap="flat" cmpd="sng">
            <a:solidFill>
              <a:srgbClr val="555555"/>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03" name="Google Shape;803;p37"/>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 benchmark · readyset in isolation</a:t>
            </a:r>
            <a:endParaRPr sz="900" b="0">
              <a:solidFill>
                <a:srgbClr val="666666"/>
              </a:solidFill>
              <a:latin typeface="Arial"/>
              <a:ea typeface="Arial"/>
              <a:cs typeface="Arial"/>
              <a:sym typeface="Arial"/>
            </a:endParaRPr>
          </a:p>
        </p:txBody>
      </p:sp>
      <p:sp>
        <p:nvSpPr>
          <p:cNvPr id="804" name="Google Shape;804;p37"/>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4,379,212 queries per second. From a single node.</a:t>
            </a:r>
            <a:endParaRPr sz="2700" b="1">
              <a:solidFill>
                <a:srgbClr val="171717"/>
              </a:solidFill>
              <a:latin typeface="Arial"/>
              <a:ea typeface="Arial"/>
              <a:cs typeface="Arial"/>
              <a:sym typeface="Arial"/>
            </a:endParaRPr>
          </a:p>
        </p:txBody>
      </p:sp>
      <p:sp>
        <p:nvSpPr>
          <p:cNvPr id="805" name="Google Shape;805;p37"/>
          <p:cNvSpPr txBox="1"/>
          <p:nvPr/>
        </p:nvSpPr>
        <p:spPr>
          <a:xfrm>
            <a:off x="457200" y="1180948"/>
            <a:ext cx="8001000" cy="114300"/>
          </a:xfrm>
          <a:prstGeom prst="rect">
            <a:avLst/>
          </a:prstGeom>
          <a:noFill/>
          <a:ln>
            <a:noFill/>
          </a:ln>
        </p:spPr>
        <p:txBody>
          <a:bodyPr spcFirstLastPara="1" wrap="square" lIns="0" tIns="0" rIns="0" bIns="0" anchor="ctr" anchorCtr="0">
            <a:noAutofit/>
          </a:bodyPr>
          <a:lstStyle/>
          <a:p>
            <a:pPr>
              <a:buClr>
                <a:srgbClr val="706E6C"/>
              </a:buClr>
              <a:buSzPts val="1425"/>
            </a:pPr>
            <a:r>
              <a:rPr lang="en-US" sz="713">
                <a:solidFill>
                  <a:srgbClr val="706E6C"/>
                </a:solidFill>
                <a:latin typeface="Arial"/>
                <a:ea typeface="Arial"/>
                <a:cs typeface="Arial"/>
                <a:sym typeface="IBM Plex Mono"/>
              </a:rPr>
              <a:t>Measured 14 August 2026 · MySQL wire protocol · deep cache · 1 M-row table · 10 K hot keys · serving from Readyset only.</a:t>
            </a:r>
            <a:endParaRPr sz="713">
              <a:solidFill>
                <a:schemeClr val="dk1"/>
              </a:solidFill>
              <a:latin typeface="Arial"/>
              <a:ea typeface="Arial"/>
              <a:cs typeface="Arial"/>
              <a:sym typeface="Arial"/>
            </a:endParaRPr>
          </a:p>
        </p:txBody>
      </p:sp>
      <p:pic>
        <p:nvPicPr>
          <p:cNvPr id="806" name="Google Shape;806;p37" descr="gen-dedup-d4a58e36ab50322fde2686f031fa2bfc.jpg"/>
          <p:cNvPicPr preferRelativeResize="0"/>
          <p:nvPr/>
        </p:nvPicPr>
        <p:blipFill rotWithShape="1">
          <a:blip r:embed="rId3">
            <a:alphaModFix/>
          </a:blip>
          <a:srcRect t="-34279" b="-34279"/>
          <a:stretch/>
        </p:blipFill>
        <p:spPr>
          <a:xfrm>
            <a:off x="552298" y="1580998"/>
            <a:ext cx="5429250" cy="3038551"/>
          </a:xfrm>
          <a:prstGeom prst="rect">
            <a:avLst/>
          </a:prstGeom>
          <a:noFill/>
          <a:ln>
            <a:noFill/>
          </a:ln>
        </p:spPr>
      </p:pic>
      <p:sp>
        <p:nvSpPr>
          <p:cNvPr id="807" name="Google Shape;807;p37"/>
          <p:cNvSpPr txBox="1"/>
          <p:nvPr/>
        </p:nvSpPr>
        <p:spPr>
          <a:xfrm>
            <a:off x="6362853" y="1619403"/>
            <a:ext cx="190515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peak throughput</a:t>
            </a:r>
            <a:endParaRPr sz="488">
              <a:solidFill>
                <a:schemeClr val="dk1"/>
              </a:solidFill>
              <a:latin typeface="Arial"/>
              <a:ea typeface="Arial"/>
              <a:cs typeface="Arial"/>
              <a:sym typeface="Arial"/>
            </a:endParaRPr>
          </a:p>
        </p:txBody>
      </p:sp>
      <p:sp>
        <p:nvSpPr>
          <p:cNvPr id="808" name="Google Shape;808;p37"/>
          <p:cNvSpPr txBox="1"/>
          <p:nvPr/>
        </p:nvSpPr>
        <p:spPr>
          <a:xfrm>
            <a:off x="6362853" y="1767078"/>
            <a:ext cx="1905153" cy="438455"/>
          </a:xfrm>
          <a:prstGeom prst="rect">
            <a:avLst/>
          </a:prstGeom>
          <a:noFill/>
          <a:ln>
            <a:noFill/>
          </a:ln>
        </p:spPr>
        <p:txBody>
          <a:bodyPr spcFirstLastPara="1" wrap="square" lIns="0" tIns="0" rIns="0" bIns="0" anchor="ctr" anchorCtr="0">
            <a:noAutofit/>
          </a:bodyPr>
          <a:lstStyle/>
          <a:p>
            <a:pPr>
              <a:buClr>
                <a:srgbClr val="EDEDEC"/>
              </a:buClr>
              <a:buSzPts val="7200"/>
            </a:pPr>
            <a:r>
              <a:rPr lang="en-US" sz="3600" b="1">
                <a:solidFill>
                  <a:srgbClr val="EDEDEC"/>
                </a:solidFill>
                <a:latin typeface="Arial"/>
                <a:ea typeface="Arial"/>
                <a:cs typeface="Arial"/>
                <a:sym typeface="Arial"/>
              </a:rPr>
              <a:t>4.38</a:t>
            </a:r>
            <a:r>
              <a:rPr lang="en-US" b="1">
                <a:solidFill>
                  <a:srgbClr val="EEEEEE"/>
                </a:solidFill>
                <a:latin typeface="Arial"/>
                <a:ea typeface="Arial"/>
                <a:cs typeface="Arial"/>
                <a:sym typeface="Arial"/>
              </a:rPr>
              <a:t>M</a:t>
            </a:r>
            <a:endParaRPr sz="3600">
              <a:solidFill>
                <a:schemeClr val="dk1"/>
              </a:solidFill>
              <a:latin typeface="Arial"/>
              <a:ea typeface="Arial"/>
              <a:cs typeface="Arial"/>
              <a:sym typeface="Arial"/>
            </a:endParaRPr>
          </a:p>
        </p:txBody>
      </p:sp>
      <p:sp>
        <p:nvSpPr>
          <p:cNvPr id="809" name="Google Shape;809;p37"/>
          <p:cNvSpPr txBox="1"/>
          <p:nvPr/>
        </p:nvSpPr>
        <p:spPr>
          <a:xfrm>
            <a:off x="6362853" y="2248967"/>
            <a:ext cx="1905153" cy="233629"/>
          </a:xfrm>
          <a:prstGeom prst="rect">
            <a:avLst/>
          </a:prstGeom>
          <a:noFill/>
          <a:ln>
            <a:noFill/>
          </a:ln>
        </p:spPr>
        <p:txBody>
          <a:bodyPr spcFirstLastPara="1" wrap="square" lIns="0" tIns="0" rIns="0" bIns="0" anchor="ctr" anchorCtr="0">
            <a:noAutofit/>
          </a:bodyPr>
          <a:lstStyle/>
          <a:p>
            <a:pPr>
              <a:lnSpc>
                <a:spcPct val="135000"/>
              </a:lnSpc>
              <a:buClr>
                <a:srgbClr val="A1A09A"/>
              </a:buClr>
              <a:buSzPts val="1350"/>
            </a:pPr>
            <a:r>
              <a:rPr lang="en-US" sz="675">
                <a:solidFill>
                  <a:srgbClr val="EEEEEE"/>
                </a:solidFill>
                <a:latin typeface="Arial"/>
                <a:ea typeface="Arial"/>
                <a:cs typeface="Arial"/>
                <a:sym typeface="Arial"/>
              </a:rPr>
              <a:t>queries / second, served from cache with zero misses across 2.9 B requests.</a:t>
            </a:r>
            <a:endParaRPr sz="675">
              <a:solidFill>
                <a:schemeClr val="dk1"/>
              </a:solidFill>
              <a:latin typeface="Arial"/>
              <a:ea typeface="Arial"/>
              <a:cs typeface="Arial"/>
              <a:sym typeface="Arial"/>
            </a:endParaRPr>
          </a:p>
        </p:txBody>
      </p:sp>
      <p:sp>
        <p:nvSpPr>
          <p:cNvPr id="810" name="Google Shape;810;p37"/>
          <p:cNvSpPr txBox="1"/>
          <p:nvPr/>
        </p:nvSpPr>
        <p:spPr>
          <a:xfrm>
            <a:off x="6362853" y="3028950"/>
            <a:ext cx="190515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p95 latency at peak</a:t>
            </a:r>
            <a:endParaRPr sz="488">
              <a:solidFill>
                <a:schemeClr val="dk1"/>
              </a:solidFill>
              <a:latin typeface="Arial"/>
              <a:ea typeface="Arial"/>
              <a:cs typeface="Arial"/>
              <a:sym typeface="Arial"/>
            </a:endParaRPr>
          </a:p>
        </p:txBody>
      </p:sp>
      <p:sp>
        <p:nvSpPr>
          <p:cNvPr id="811" name="Google Shape;811;p37"/>
          <p:cNvSpPr txBox="1"/>
          <p:nvPr/>
        </p:nvSpPr>
        <p:spPr>
          <a:xfrm>
            <a:off x="6362853" y="3147822"/>
            <a:ext cx="1905153" cy="304953"/>
          </a:xfrm>
          <a:prstGeom prst="rect">
            <a:avLst/>
          </a:prstGeom>
          <a:noFill/>
          <a:ln>
            <a:noFill/>
          </a:ln>
        </p:spPr>
        <p:txBody>
          <a:bodyPr spcFirstLastPara="1" wrap="square" lIns="0" tIns="0" rIns="0" bIns="0" anchor="ctr" anchorCtr="0">
            <a:noAutofit/>
          </a:bodyPr>
          <a:lstStyle/>
          <a:p>
            <a:pPr>
              <a:buClr>
                <a:srgbClr val="161615"/>
              </a:buClr>
              <a:buSzPts val="4800"/>
            </a:pPr>
            <a:r>
              <a:rPr lang="en-US" sz="2400" b="1">
                <a:solidFill>
                  <a:srgbClr val="161615"/>
                </a:solidFill>
                <a:latin typeface="Arial"/>
                <a:ea typeface="Arial"/>
                <a:cs typeface="Arial"/>
                <a:sym typeface="Arial"/>
              </a:rPr>
              <a:t>2.26</a:t>
            </a:r>
            <a:r>
              <a:rPr lang="en-US" sz="1200" b="1">
                <a:solidFill>
                  <a:srgbClr val="706E6C"/>
                </a:solidFill>
                <a:latin typeface="Arial"/>
                <a:ea typeface="Arial"/>
                <a:cs typeface="Arial"/>
                <a:sym typeface="Arial"/>
              </a:rPr>
              <a:t>ms</a:t>
            </a:r>
            <a:endParaRPr sz="2400">
              <a:solidFill>
                <a:schemeClr val="dk1"/>
              </a:solidFill>
              <a:latin typeface="Arial"/>
              <a:ea typeface="Arial"/>
              <a:cs typeface="Arial"/>
              <a:sym typeface="Arial"/>
            </a:endParaRPr>
          </a:p>
        </p:txBody>
      </p:sp>
      <p:sp>
        <p:nvSpPr>
          <p:cNvPr id="812" name="Google Shape;812;p37"/>
          <p:cNvSpPr txBox="1"/>
          <p:nvPr/>
        </p:nvSpPr>
        <p:spPr>
          <a:xfrm>
            <a:off x="6362853" y="3519526"/>
            <a:ext cx="1905153" cy="171450"/>
          </a:xfrm>
          <a:prstGeom prst="rect">
            <a:avLst/>
          </a:prstGeom>
          <a:noFill/>
          <a:ln>
            <a:noFill/>
          </a:ln>
        </p:spPr>
        <p:txBody>
          <a:bodyPr spcFirstLastPara="1" wrap="square" lIns="0" tIns="0" rIns="0" bIns="0" anchor="ctr" anchorCtr="0">
            <a:noAutofit/>
          </a:bodyPr>
          <a:lstStyle/>
          <a:p>
            <a:pPr>
              <a:buClr>
                <a:srgbClr val="706E6C"/>
              </a:buClr>
              <a:buSzPts val="1050"/>
            </a:pPr>
            <a:r>
              <a:rPr lang="en-US" sz="525">
                <a:solidFill>
                  <a:srgbClr val="706E6C"/>
                </a:solidFill>
                <a:latin typeface="Arial"/>
                <a:ea typeface="Arial"/>
                <a:cs typeface="Arial"/>
                <a:sym typeface="IBM Plex Mono"/>
              </a:rPr>
              <a:t>3.49 ms at 8,960 connections, after the machine has saturated.</a:t>
            </a:r>
            <a:endParaRPr sz="525">
              <a:solidFill>
                <a:schemeClr val="dk1"/>
              </a:solidFill>
              <a:latin typeface="Arial"/>
              <a:ea typeface="Arial"/>
              <a:cs typeface="Arial"/>
              <a:sym typeface="Arial"/>
            </a:endParaRPr>
          </a:p>
        </p:txBody>
      </p:sp>
      <p:sp>
        <p:nvSpPr>
          <p:cNvPr id="813" name="Google Shape;813;p37"/>
          <p:cNvSpPr txBox="1"/>
          <p:nvPr/>
        </p:nvSpPr>
        <p:spPr>
          <a:xfrm>
            <a:off x="6362853" y="3933749"/>
            <a:ext cx="190515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where the cycles go</a:t>
            </a:r>
            <a:endParaRPr sz="488">
              <a:solidFill>
                <a:schemeClr val="dk1"/>
              </a:solidFill>
              <a:latin typeface="Arial"/>
              <a:ea typeface="Arial"/>
              <a:cs typeface="Arial"/>
              <a:sym typeface="Arial"/>
            </a:endParaRPr>
          </a:p>
        </p:txBody>
      </p:sp>
      <p:sp>
        <p:nvSpPr>
          <p:cNvPr id="814" name="Google Shape;814;p37"/>
          <p:cNvSpPr txBox="1"/>
          <p:nvPr/>
        </p:nvSpPr>
        <p:spPr>
          <a:xfrm>
            <a:off x="6362853" y="4048963"/>
            <a:ext cx="1905153" cy="370789"/>
          </a:xfrm>
          <a:prstGeom prst="rect">
            <a:avLst/>
          </a:prstGeom>
          <a:noFill/>
          <a:ln>
            <a:noFill/>
          </a:ln>
        </p:spPr>
        <p:txBody>
          <a:bodyPr spcFirstLastPara="1" wrap="square" lIns="0" tIns="0" rIns="0" bIns="0" anchor="t" anchorCtr="0">
            <a:noAutofit/>
          </a:bodyPr>
          <a:lstStyle/>
          <a:p>
            <a:pPr>
              <a:lnSpc>
                <a:spcPct val="155000"/>
              </a:lnSpc>
              <a:buClr>
                <a:srgbClr val="706E6C"/>
              </a:buClr>
              <a:buSzPts val="1200"/>
            </a:pPr>
            <a:r>
              <a:rPr lang="en-US" sz="600">
                <a:solidFill>
                  <a:srgbClr val="706E6C"/>
                </a:solidFill>
                <a:latin typeface="Arial"/>
                <a:ea typeface="Arial"/>
                <a:cs typeface="Arial"/>
                <a:sym typeface="IBM Plex Mono"/>
              </a:rPr>
              <a:t>kernel networking</a:t>
            </a:r>
            <a:r>
              <a:rPr lang="en-US" sz="600">
                <a:solidFill>
                  <a:srgbClr val="161615"/>
                </a:solidFill>
                <a:latin typeface="Arial"/>
                <a:ea typeface="Arial"/>
                <a:cs typeface="Arial"/>
                <a:sym typeface="IBM Plex Mono"/>
              </a:rPr>
              <a:t> 56.3%</a:t>
            </a:r>
            <a:endParaRPr sz="600">
              <a:solidFill>
                <a:schemeClr val="dk1"/>
              </a:solidFill>
              <a:latin typeface="Arial"/>
              <a:ea typeface="Arial"/>
              <a:cs typeface="Arial"/>
              <a:sym typeface="Arial"/>
            </a:endParaRPr>
          </a:p>
          <a:p>
            <a:pPr>
              <a:lnSpc>
                <a:spcPct val="155000"/>
              </a:lnSpc>
              <a:buClr>
                <a:srgbClr val="706E6C"/>
              </a:buClr>
              <a:buSzPts val="1200"/>
            </a:pPr>
            <a:r>
              <a:rPr lang="en-US" sz="600">
                <a:solidFill>
                  <a:srgbClr val="706E6C"/>
                </a:solidFill>
                <a:latin typeface="Arial"/>
                <a:ea typeface="Arial"/>
                <a:cs typeface="Arial"/>
                <a:sym typeface="IBM Plex Mono"/>
              </a:rPr>
              <a:t>Readyset userspace</a:t>
            </a:r>
            <a:r>
              <a:rPr lang="en-US" sz="600">
                <a:solidFill>
                  <a:srgbClr val="161615"/>
                </a:solidFill>
                <a:latin typeface="Arial"/>
                <a:ea typeface="Arial"/>
                <a:cs typeface="Arial"/>
                <a:sym typeface="IBM Plex Mono"/>
              </a:rPr>
              <a:t> 42.8%</a:t>
            </a:r>
            <a:endParaRPr sz="600">
              <a:solidFill>
                <a:schemeClr val="dk1"/>
              </a:solidFill>
              <a:latin typeface="Arial"/>
              <a:ea typeface="Arial"/>
              <a:cs typeface="Arial"/>
              <a:sym typeface="Arial"/>
            </a:endParaRPr>
          </a:p>
          <a:p>
            <a:pPr>
              <a:lnSpc>
                <a:spcPct val="155000"/>
              </a:lnSpc>
              <a:buClr>
                <a:srgbClr val="706E6C"/>
              </a:buClr>
              <a:buSzPts val="1200"/>
            </a:pPr>
            <a:r>
              <a:rPr lang="en-US" sz="600">
                <a:solidFill>
                  <a:srgbClr val="706E6C"/>
                </a:solidFill>
                <a:latin typeface="Arial"/>
                <a:ea typeface="Arial"/>
                <a:cs typeface="Arial"/>
                <a:sym typeface="IBM Plex Mono"/>
              </a:rPr>
              <a:t>cache read path itself</a:t>
            </a:r>
            <a:r>
              <a:rPr lang="en-US" sz="600">
                <a:solidFill>
                  <a:srgbClr val="161615"/>
                </a:solidFill>
                <a:latin typeface="Arial"/>
                <a:ea typeface="Arial"/>
                <a:cs typeface="Arial"/>
                <a:sym typeface="IBM Plex Mono"/>
              </a:rPr>
              <a:t> ~7%</a:t>
            </a:r>
            <a:endParaRPr sz="600">
              <a:solidFill>
                <a:schemeClr val="dk1"/>
              </a:solidFill>
              <a:latin typeface="Arial"/>
              <a:ea typeface="Arial"/>
              <a:cs typeface="Arial"/>
              <a:sym typeface="Arial"/>
            </a:endParaRPr>
          </a:p>
        </p:txBody>
      </p:sp>
      <p:pic>
        <p:nvPicPr>
          <p:cNvPr id="9039" name="Readyset standard logo 39"/>
          <p:cNvPicPr>
            <a:picLocks noChangeAspect="1"/>
          </p:cNvPicPr>
          <p:nvPr/>
        </p:nvPicPr>
        <p:blipFill>
          <a:blip r:embed="rId4"/>
          <a:stretch/>
        </p:blipFill>
        <p:spPr>
          <a:xfrm>
            <a:off x="457200" y="239275"/>
            <a:ext cx="952500" cy="216776"/>
          </a:xfrm>
          <a:prstGeom prst="rect">
            <a:avLst/>
          </a:prstGeom>
        </p:spPr>
      </p:pic>
      <p:sp>
        <p:nvSpPr>
          <p:cNvPr id="9539"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1"/>
        <p:cNvGrpSpPr/>
        <p:nvPr/>
      </p:nvGrpSpPr>
      <p:grpSpPr>
        <a:xfrm>
          <a:off x="0" y="0"/>
          <a:ext cx="0" cy="0"/>
          <a:chOff x="0" y="0"/>
          <a:chExt cx="0" cy="0"/>
        </a:xfrm>
      </p:grpSpPr>
      <p:sp>
        <p:nvSpPr>
          <p:cNvPr id="822" name="Google Shape;822;p38"/>
          <p:cNvSpPr/>
          <p:nvPr/>
        </p:nvSpPr>
        <p:spPr>
          <a:xfrm>
            <a:off x="457200" y="1523848"/>
            <a:ext cx="8010601" cy="2057400"/>
          </a:xfrm>
          <a:prstGeom prst="roundRect">
            <a:avLst>
              <a:gd name="adj" fmla="val 2778"/>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3" name="Google Shape;823;p38"/>
          <p:cNvSpPr/>
          <p:nvPr/>
        </p:nvSpPr>
        <p:spPr>
          <a:xfrm>
            <a:off x="457200" y="3686404"/>
            <a:ext cx="1905153" cy="1028700"/>
          </a:xfrm>
          <a:prstGeom prst="roundRect">
            <a:avLst>
              <a:gd name="adj" fmla="val 5556"/>
            </a:avLst>
          </a:prstGeom>
          <a:solidFill>
            <a:srgbClr val="161615"/>
          </a:solidFill>
          <a:ln w="12700" cap="flat" cmpd="sng">
            <a:solidFill>
              <a:srgbClr val="FFFFFF">
                <a:alpha val="0"/>
              </a:srgbClr>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4" name="Google Shape;824;p38"/>
          <p:cNvSpPr/>
          <p:nvPr/>
        </p:nvSpPr>
        <p:spPr>
          <a:xfrm>
            <a:off x="2457450" y="3686404"/>
            <a:ext cx="1914754" cy="1038301"/>
          </a:xfrm>
          <a:prstGeom prst="roundRect">
            <a:avLst>
              <a:gd name="adj" fmla="val 5504"/>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5" name="Google Shape;825;p38"/>
          <p:cNvSpPr/>
          <p:nvPr/>
        </p:nvSpPr>
        <p:spPr>
          <a:xfrm>
            <a:off x="4457700" y="3686404"/>
            <a:ext cx="1914754" cy="1038301"/>
          </a:xfrm>
          <a:prstGeom prst="roundRect">
            <a:avLst>
              <a:gd name="adj" fmla="val 5504"/>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6" name="Google Shape;826;p38"/>
          <p:cNvSpPr/>
          <p:nvPr/>
        </p:nvSpPr>
        <p:spPr>
          <a:xfrm>
            <a:off x="6457950" y="3686404"/>
            <a:ext cx="2009851" cy="1038301"/>
          </a:xfrm>
          <a:prstGeom prst="roundRect">
            <a:avLst>
              <a:gd name="adj" fmla="val 5504"/>
            </a:avLst>
          </a:prstGeom>
          <a:solidFill>
            <a:srgbClr val="FFFFFF"/>
          </a:solidFill>
          <a:ln w="12700" cap="flat" cmpd="sng">
            <a:solidFill>
              <a:srgbClr val="E3E2E0"/>
            </a:solidFill>
            <a:prstDash val="solid"/>
            <a:round/>
            <a:headEnd type="none" w="sm" len="sm"/>
            <a:tailEnd type="none" w="sm" len="sm"/>
          </a:ln>
        </p:spPr>
        <p:txBody>
          <a:bodyPr spcFirstLastPara="1" wrap="square" lIns="45713" tIns="45713" rIns="45713" bIns="45713" anchor="ctr" anchorCtr="0">
            <a:noAutofit/>
          </a:bodyPr>
          <a:lstStyle/>
          <a:p>
            <a:endParaRPr sz="900"/>
          </a:p>
        </p:txBody>
      </p:sp>
      <p:sp>
        <p:nvSpPr>
          <p:cNvPr id="828" name="Google Shape;828;p38"/>
          <p:cNvSpPr txBox="1"/>
          <p:nvPr/>
        </p:nvSpPr>
        <p:spPr>
          <a:xfrm>
            <a:off x="2000250" y="276225"/>
            <a:ext cx="6686550" cy="209550"/>
          </a:xfrm>
          <a:prstGeom prst="rect">
            <a:avLst/>
          </a:prstGeom>
          <a:noFill/>
          <a:ln>
            <a:noFill/>
          </a:ln>
        </p:spPr>
        <p:txBody>
          <a:bodyPr spcFirstLastPara="1" wrap="square" lIns="0" tIns="0" rIns="0" bIns="0" anchor="t" anchorCtr="0">
            <a:noAutofit/>
          </a:bodyPr>
          <a:lstStyle/>
          <a:p>
            <a:pPr algn="l">
              <a:buClr>
                <a:srgbClr val="555555"/>
              </a:buClr>
              <a:buSzPts val="1500"/>
            </a:pPr>
            <a:r>
              <a:rPr lang="en-US" sz="900" b="0">
                <a:solidFill>
                  <a:srgbClr val="666666"/>
                </a:solidFill>
                <a:latin typeface="Arial"/>
                <a:ea typeface="Arial"/>
                <a:cs typeface="Arial"/>
                <a:sym typeface="IBM Plex Mono"/>
              </a:rPr>
              <a:t>— benchmark · same workload, same hardware</a:t>
            </a:r>
            <a:endParaRPr sz="900" b="0">
              <a:solidFill>
                <a:srgbClr val="666666"/>
              </a:solidFill>
              <a:latin typeface="Arial"/>
              <a:ea typeface="Arial"/>
              <a:cs typeface="Arial"/>
              <a:sym typeface="Arial"/>
            </a:endParaRPr>
          </a:p>
        </p:txBody>
      </p:sp>
      <p:sp>
        <p:nvSpPr>
          <p:cNvPr id="829" name="Google Shape;829;p38"/>
          <p:cNvSpPr txBox="1"/>
          <p:nvPr/>
        </p:nvSpPr>
        <p:spPr>
          <a:xfrm>
            <a:off x="457200" y="790575"/>
            <a:ext cx="8229600" cy="457200"/>
          </a:xfrm>
          <a:prstGeom prst="rect">
            <a:avLst/>
          </a:prstGeom>
          <a:noFill/>
          <a:ln>
            <a:noFill/>
          </a:ln>
        </p:spPr>
        <p:txBody>
          <a:bodyPr spcFirstLastPara="1" wrap="square" lIns="0" tIns="0" rIns="0" bIns="0" anchor="t" anchorCtr="0">
            <a:noAutofit/>
          </a:bodyPr>
          <a:lstStyle/>
          <a:p>
            <a:pPr algn="l">
              <a:buClr>
                <a:srgbClr val="161615"/>
              </a:buClr>
              <a:buSzPts val="4650"/>
            </a:pPr>
            <a:r>
              <a:rPr lang="en-US" sz="2700" b="1">
                <a:solidFill>
                  <a:srgbClr val="171717"/>
                </a:solidFill>
                <a:latin typeface="Arial"/>
                <a:ea typeface="Arial"/>
                <a:cs typeface="Arial"/>
                <a:sym typeface="Arial"/>
              </a:rPr>
              <a:t>Readyset vs. PostgreSQL vs. MySQL.</a:t>
            </a:r>
            <a:endParaRPr sz="2700" b="1">
              <a:solidFill>
                <a:srgbClr val="171717"/>
              </a:solidFill>
              <a:latin typeface="Arial"/>
              <a:ea typeface="Arial"/>
              <a:cs typeface="Arial"/>
              <a:sym typeface="Arial"/>
            </a:endParaRPr>
          </a:p>
        </p:txBody>
      </p:sp>
      <p:sp>
        <p:nvSpPr>
          <p:cNvPr id="830" name="Google Shape;830;p38"/>
          <p:cNvSpPr txBox="1"/>
          <p:nvPr/>
        </p:nvSpPr>
        <p:spPr>
          <a:xfrm>
            <a:off x="457200" y="1180948"/>
            <a:ext cx="8001000" cy="114300"/>
          </a:xfrm>
          <a:prstGeom prst="rect">
            <a:avLst/>
          </a:prstGeom>
          <a:noFill/>
          <a:ln>
            <a:noFill/>
          </a:ln>
        </p:spPr>
        <p:txBody>
          <a:bodyPr spcFirstLastPara="1" wrap="square" lIns="0" tIns="0" rIns="0" bIns="0" anchor="ctr" anchorCtr="0">
            <a:noAutofit/>
          </a:bodyPr>
          <a:lstStyle/>
          <a:p>
            <a:pPr>
              <a:buClr>
                <a:srgbClr val="706E6C"/>
              </a:buClr>
              <a:buSzPts val="1425"/>
            </a:pPr>
            <a:r>
              <a:rPr lang="en-US" sz="713">
                <a:solidFill>
                  <a:srgbClr val="706E6C"/>
                </a:solidFill>
                <a:latin typeface="Arial"/>
                <a:ea typeface="Arial"/>
                <a:cs typeface="Arial"/>
                <a:sym typeface="IBM Plex Mono"/>
              </a:rPr>
              <a:t>AMD EPYC 9454, 48 cores / 96 threads, 251 GiB RAM, 10 GbE · same 1 M-row / 10 K-key workload, served by 35 client machines on the same day.</a:t>
            </a:r>
            <a:endParaRPr sz="713">
              <a:solidFill>
                <a:schemeClr val="dk1"/>
              </a:solidFill>
              <a:latin typeface="Arial"/>
              <a:ea typeface="Arial"/>
              <a:cs typeface="Arial"/>
              <a:sym typeface="Arial"/>
            </a:endParaRPr>
          </a:p>
        </p:txBody>
      </p:sp>
      <p:sp>
        <p:nvSpPr>
          <p:cNvPr id="831" name="Google Shape;831;p38"/>
          <p:cNvSpPr txBox="1"/>
          <p:nvPr/>
        </p:nvSpPr>
        <p:spPr>
          <a:xfrm>
            <a:off x="457200" y="1371600"/>
            <a:ext cx="8001000"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b="1">
                <a:solidFill>
                  <a:srgbClr val="555555"/>
                </a:solidFill>
                <a:latin typeface="Arial"/>
                <a:ea typeface="Arial"/>
                <a:cs typeface="Arial"/>
                <a:sym typeface="IBM Plex Mono"/>
              </a:rPr>
              <a:t>SOURCE</a:t>
            </a:r>
            <a:r>
              <a:rPr lang="en-US" sz="488">
                <a:solidFill>
                  <a:srgbClr val="706E6C"/>
                </a:solidFill>
                <a:latin typeface="Arial"/>
                <a:ea typeface="Arial"/>
                <a:cs typeface="Arial"/>
                <a:sym typeface="IBM Plex Mono"/>
              </a:rPr>
              <a:t> · Readyset Engineering · </a:t>
            </a:r>
            <a:r>
              <a:rPr lang="en-US" sz="488" i="1">
                <a:solidFill>
                  <a:srgbClr val="706E6C"/>
                </a:solidFill>
                <a:latin typeface="Arial"/>
                <a:ea typeface="Arial"/>
                <a:cs typeface="Arial"/>
                <a:sym typeface="IBM Plex Mono"/>
              </a:rPr>
              <a:t>Measuring the Maximum Query Throughput of a Single Readyset Node</a:t>
            </a:r>
            <a:r>
              <a:rPr lang="en-US" sz="488">
                <a:solidFill>
                  <a:srgbClr val="706E6C"/>
                </a:solidFill>
                <a:latin typeface="Arial"/>
                <a:ea typeface="Arial"/>
                <a:cs typeface="Arial"/>
                <a:sym typeface="IBM Plex Mono"/>
              </a:rPr>
              <a:t> · Table 3.</a:t>
            </a:r>
            <a:endParaRPr sz="488">
              <a:solidFill>
                <a:schemeClr val="dk1"/>
              </a:solidFill>
              <a:latin typeface="Arial"/>
              <a:ea typeface="Arial"/>
              <a:cs typeface="Arial"/>
              <a:sym typeface="Arial"/>
            </a:endParaRPr>
          </a:p>
        </p:txBody>
      </p:sp>
      <p:pic>
        <p:nvPicPr>
          <p:cNvPr id="832" name="Google Shape;832;p38" descr="gen-dedup-601b275666b2faa7df4fd1a3cd0047b2.jpg"/>
          <p:cNvPicPr preferRelativeResize="0"/>
          <p:nvPr/>
        </p:nvPicPr>
        <p:blipFill rotWithShape="1">
          <a:blip r:embed="rId3">
            <a:alphaModFix/>
          </a:blip>
          <a:srcRect l="-10769" r="-10769"/>
          <a:stretch/>
        </p:blipFill>
        <p:spPr>
          <a:xfrm>
            <a:off x="552298" y="1619403"/>
            <a:ext cx="7810348" cy="1857604"/>
          </a:xfrm>
          <a:prstGeom prst="rect">
            <a:avLst/>
          </a:prstGeom>
          <a:noFill/>
          <a:ln>
            <a:noFill/>
          </a:ln>
        </p:spPr>
      </p:pic>
      <p:sp>
        <p:nvSpPr>
          <p:cNvPr id="833" name="Google Shape;833;p38"/>
          <p:cNvSpPr txBox="1"/>
          <p:nvPr/>
        </p:nvSpPr>
        <p:spPr>
          <a:xfrm>
            <a:off x="600304" y="3800704"/>
            <a:ext cx="161940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EEEEEE"/>
                </a:solidFill>
                <a:latin typeface="Arial"/>
                <a:ea typeface="Arial"/>
                <a:cs typeface="Arial"/>
                <a:sym typeface="IBM Plex Mono"/>
              </a:rPr>
              <a:t>01 · Readyset</a:t>
            </a:r>
            <a:endParaRPr sz="488">
              <a:solidFill>
                <a:schemeClr val="dk1"/>
              </a:solidFill>
              <a:latin typeface="Arial"/>
              <a:ea typeface="Arial"/>
              <a:cs typeface="Arial"/>
              <a:sym typeface="Arial"/>
            </a:endParaRPr>
          </a:p>
        </p:txBody>
      </p:sp>
      <p:sp>
        <p:nvSpPr>
          <p:cNvPr id="834" name="Google Shape;834;p38"/>
          <p:cNvSpPr txBox="1"/>
          <p:nvPr/>
        </p:nvSpPr>
        <p:spPr>
          <a:xfrm>
            <a:off x="600304" y="3919576"/>
            <a:ext cx="1727759" cy="190653"/>
          </a:xfrm>
          <a:prstGeom prst="rect">
            <a:avLst/>
          </a:prstGeom>
          <a:noFill/>
          <a:ln>
            <a:noFill/>
          </a:ln>
        </p:spPr>
        <p:txBody>
          <a:bodyPr spcFirstLastPara="1" wrap="square" lIns="0" tIns="0" rIns="0" bIns="0" anchor="ctr" anchorCtr="0">
            <a:noAutofit/>
          </a:bodyPr>
          <a:lstStyle/>
          <a:p>
            <a:pPr>
              <a:buClr>
                <a:srgbClr val="EDEDEC"/>
              </a:buClr>
              <a:buSzPts val="2850"/>
            </a:pPr>
            <a:r>
              <a:rPr lang="en-US" sz="1425" b="1">
                <a:solidFill>
                  <a:srgbClr val="EDEDEC"/>
                </a:solidFill>
                <a:latin typeface="Arial"/>
                <a:ea typeface="Arial"/>
                <a:cs typeface="Arial"/>
                <a:sym typeface="Arial"/>
              </a:rPr>
              <a:t>4.38 M </a:t>
            </a:r>
            <a:r>
              <a:rPr lang="en-US" sz="675" b="1">
                <a:solidFill>
                  <a:srgbClr val="EEEEEE"/>
                </a:solidFill>
                <a:latin typeface="Arial"/>
                <a:ea typeface="Arial"/>
                <a:cs typeface="Arial"/>
                <a:sym typeface="Arial"/>
              </a:rPr>
              <a:t>peak QPS</a:t>
            </a:r>
            <a:endParaRPr sz="1425">
              <a:solidFill>
                <a:schemeClr val="dk1"/>
              </a:solidFill>
              <a:latin typeface="Arial"/>
              <a:ea typeface="Arial"/>
              <a:cs typeface="Arial"/>
              <a:sym typeface="Arial"/>
            </a:endParaRPr>
          </a:p>
        </p:txBody>
      </p:sp>
      <p:sp>
        <p:nvSpPr>
          <p:cNvPr id="835" name="Google Shape;835;p38"/>
          <p:cNvSpPr txBox="1"/>
          <p:nvPr/>
        </p:nvSpPr>
        <p:spPr>
          <a:xfrm>
            <a:off x="600304" y="4165092"/>
            <a:ext cx="1619403" cy="301752"/>
          </a:xfrm>
          <a:prstGeom prst="rect">
            <a:avLst/>
          </a:prstGeom>
          <a:noFill/>
          <a:ln>
            <a:noFill/>
          </a:ln>
        </p:spPr>
        <p:txBody>
          <a:bodyPr spcFirstLastPara="1" wrap="square" lIns="0" tIns="0" rIns="0" bIns="0" anchor="t" anchorCtr="0">
            <a:noAutofit/>
          </a:bodyPr>
          <a:lstStyle/>
          <a:p>
            <a:pPr>
              <a:lnSpc>
                <a:spcPct val="154974"/>
              </a:lnSpc>
              <a:buClr>
                <a:srgbClr val="EDEDEC"/>
              </a:buClr>
              <a:buSzPts val="975"/>
            </a:pPr>
            <a:r>
              <a:rPr lang="en-US" sz="488">
                <a:solidFill>
                  <a:srgbClr val="EDEDEC"/>
                </a:solidFill>
                <a:latin typeface="Arial"/>
                <a:ea typeface="Arial"/>
                <a:cs typeface="Arial"/>
                <a:sym typeface="IBM Plex Mono"/>
              </a:rPr>
              <a:t>mode:</a:t>
            </a:r>
            <a:r>
              <a:rPr lang="en-US" sz="488">
                <a:solidFill>
                  <a:srgbClr val="EEEEEE"/>
                </a:solidFill>
                <a:latin typeface="Arial"/>
                <a:ea typeface="Arial"/>
                <a:cs typeface="Arial"/>
                <a:sym typeface="IBM Plex Mono"/>
              </a:rPr>
              <a:t> deep cache, query logging off</a:t>
            </a:r>
            <a:endParaRPr sz="488">
              <a:solidFill>
                <a:schemeClr val="dk1"/>
              </a:solidFill>
              <a:latin typeface="Arial"/>
              <a:ea typeface="Arial"/>
              <a:cs typeface="Arial"/>
              <a:sym typeface="Arial"/>
            </a:endParaRPr>
          </a:p>
          <a:p>
            <a:pPr>
              <a:lnSpc>
                <a:spcPct val="154974"/>
              </a:lnSpc>
              <a:buClr>
                <a:srgbClr val="EDEDEC"/>
              </a:buClr>
              <a:buSzPts val="975"/>
            </a:pPr>
            <a:r>
              <a:rPr lang="en-US" sz="488">
                <a:solidFill>
                  <a:srgbClr val="EDEDEC"/>
                </a:solidFill>
                <a:latin typeface="Arial"/>
                <a:ea typeface="Arial"/>
                <a:cs typeface="Arial"/>
                <a:sym typeface="IBM Plex Mono"/>
              </a:rPr>
              <a:t>shards:</a:t>
            </a:r>
            <a:r>
              <a:rPr lang="en-US" sz="488">
                <a:solidFill>
                  <a:srgbClr val="EEEEEE"/>
                </a:solidFill>
                <a:latin typeface="Arial"/>
                <a:ea typeface="Arial"/>
                <a:cs typeface="Arial"/>
                <a:sym typeface="IBM Plex Mono"/>
              </a:rPr>
              <a:t> 24 runtime shards</a:t>
            </a:r>
            <a:endParaRPr sz="488">
              <a:solidFill>
                <a:schemeClr val="dk1"/>
              </a:solidFill>
              <a:latin typeface="Arial"/>
              <a:ea typeface="Arial"/>
              <a:cs typeface="Arial"/>
              <a:sym typeface="Arial"/>
            </a:endParaRPr>
          </a:p>
          <a:p>
            <a:pPr>
              <a:lnSpc>
                <a:spcPct val="154974"/>
              </a:lnSpc>
              <a:buClr>
                <a:srgbClr val="EDEDEC"/>
              </a:buClr>
              <a:buSzPts val="975"/>
            </a:pPr>
            <a:r>
              <a:rPr lang="en-US" sz="488">
                <a:solidFill>
                  <a:srgbClr val="EDEDEC"/>
                </a:solidFill>
                <a:latin typeface="Arial"/>
                <a:ea typeface="Arial"/>
                <a:cs typeface="Arial"/>
                <a:sym typeface="IBM Plex Mono"/>
              </a:rPr>
              <a:t>workload:</a:t>
            </a:r>
            <a:r>
              <a:rPr lang="en-US" sz="488">
                <a:solidFill>
                  <a:srgbClr val="EEEEEE"/>
                </a:solidFill>
                <a:latin typeface="Arial"/>
                <a:ea typeface="Arial"/>
                <a:cs typeface="Arial"/>
                <a:sym typeface="IBM Plex Mono"/>
              </a:rPr>
              <a:t> point lookup, MySQL wire</a:t>
            </a:r>
            <a:endParaRPr sz="488">
              <a:solidFill>
                <a:schemeClr val="dk1"/>
              </a:solidFill>
              <a:latin typeface="Arial"/>
              <a:ea typeface="Arial"/>
              <a:cs typeface="Arial"/>
              <a:sym typeface="Arial"/>
            </a:endParaRPr>
          </a:p>
        </p:txBody>
      </p:sp>
      <p:sp>
        <p:nvSpPr>
          <p:cNvPr id="836" name="Google Shape;836;p38"/>
          <p:cNvSpPr txBox="1"/>
          <p:nvPr/>
        </p:nvSpPr>
        <p:spPr>
          <a:xfrm>
            <a:off x="2600554" y="3800704"/>
            <a:ext cx="161940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02 · PostgreSQL 16</a:t>
            </a:r>
            <a:endParaRPr sz="488">
              <a:solidFill>
                <a:schemeClr val="dk1"/>
              </a:solidFill>
              <a:latin typeface="Arial"/>
              <a:ea typeface="Arial"/>
              <a:cs typeface="Arial"/>
              <a:sym typeface="Arial"/>
            </a:endParaRPr>
          </a:p>
        </p:txBody>
      </p:sp>
      <p:sp>
        <p:nvSpPr>
          <p:cNvPr id="837" name="Google Shape;837;p38"/>
          <p:cNvSpPr txBox="1"/>
          <p:nvPr/>
        </p:nvSpPr>
        <p:spPr>
          <a:xfrm>
            <a:off x="2600554" y="3919576"/>
            <a:ext cx="1727759" cy="190653"/>
          </a:xfrm>
          <a:prstGeom prst="rect">
            <a:avLst/>
          </a:prstGeom>
          <a:noFill/>
          <a:ln>
            <a:noFill/>
          </a:ln>
        </p:spPr>
        <p:txBody>
          <a:bodyPr spcFirstLastPara="1" wrap="square" lIns="0" tIns="0" rIns="0" bIns="0" anchor="ctr" anchorCtr="0">
            <a:noAutofit/>
          </a:bodyPr>
          <a:lstStyle/>
          <a:p>
            <a:pPr>
              <a:buClr>
                <a:srgbClr val="161615"/>
              </a:buClr>
              <a:buSzPts val="2850"/>
            </a:pPr>
            <a:r>
              <a:rPr lang="en-US" sz="1425" b="1">
                <a:solidFill>
                  <a:srgbClr val="161615"/>
                </a:solidFill>
                <a:latin typeface="Arial"/>
                <a:ea typeface="Arial"/>
                <a:cs typeface="Arial"/>
                <a:sym typeface="Arial"/>
              </a:rPr>
              <a:t>2.18 M </a:t>
            </a:r>
            <a:r>
              <a:rPr lang="en-US" sz="675" b="1">
                <a:solidFill>
                  <a:srgbClr val="706E6C"/>
                </a:solidFill>
                <a:latin typeface="Arial"/>
                <a:ea typeface="Arial"/>
                <a:cs typeface="Arial"/>
                <a:sym typeface="Arial"/>
              </a:rPr>
              <a:t>peak QPS</a:t>
            </a:r>
            <a:endParaRPr sz="1425">
              <a:solidFill>
                <a:schemeClr val="dk1"/>
              </a:solidFill>
              <a:latin typeface="Arial"/>
              <a:ea typeface="Arial"/>
              <a:cs typeface="Arial"/>
              <a:sym typeface="Arial"/>
            </a:endParaRPr>
          </a:p>
        </p:txBody>
      </p:sp>
      <p:sp>
        <p:nvSpPr>
          <p:cNvPr id="838" name="Google Shape;838;p38"/>
          <p:cNvSpPr txBox="1"/>
          <p:nvPr/>
        </p:nvSpPr>
        <p:spPr>
          <a:xfrm>
            <a:off x="2600554" y="4165092"/>
            <a:ext cx="1619403" cy="396850"/>
          </a:xfrm>
          <a:prstGeom prst="rect">
            <a:avLst/>
          </a:prstGeom>
          <a:noFill/>
          <a:ln>
            <a:noFill/>
          </a:ln>
        </p:spPr>
        <p:txBody>
          <a:bodyPr spcFirstLastPara="1" wrap="square" lIns="0" tIns="0" rIns="0" bIns="0" anchor="t" anchorCtr="0">
            <a:noAutofit/>
          </a:bodyPr>
          <a:lstStyle/>
          <a:p>
            <a:pPr>
              <a:lnSpc>
                <a:spcPct val="154974"/>
              </a:lnSpc>
              <a:buClr>
                <a:srgbClr val="161615"/>
              </a:buClr>
              <a:buSzPts val="975"/>
            </a:pPr>
            <a:r>
              <a:rPr lang="en-US" sz="488">
                <a:solidFill>
                  <a:srgbClr val="161615"/>
                </a:solidFill>
                <a:latin typeface="Arial"/>
                <a:ea typeface="Arial"/>
                <a:cs typeface="Arial"/>
                <a:sym typeface="IBM Plex Mono"/>
              </a:rPr>
              <a:t>max_connections:</a:t>
            </a:r>
            <a:r>
              <a:rPr lang="en-US" sz="488">
                <a:solidFill>
                  <a:srgbClr val="706E6C"/>
                </a:solidFill>
                <a:latin typeface="Arial"/>
                <a:ea typeface="Arial"/>
                <a:cs typeface="Arial"/>
                <a:sym typeface="IBM Plex Mono"/>
              </a:rPr>
              <a:t> 10,000</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shared_buffers:</a:t>
            </a:r>
            <a:r>
              <a:rPr lang="en-US" sz="488">
                <a:solidFill>
                  <a:srgbClr val="706E6C"/>
                </a:solidFill>
                <a:latin typeface="Arial"/>
                <a:ea typeface="Arial"/>
                <a:cs typeface="Arial"/>
                <a:sym typeface="IBM Plex Mono"/>
              </a:rPr>
              <a:t> 8 GiB</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model:</a:t>
            </a:r>
            <a:r>
              <a:rPr lang="en-US" sz="488">
                <a:solidFill>
                  <a:srgbClr val="706E6C"/>
                </a:solidFill>
                <a:latin typeface="Arial"/>
                <a:ea typeface="Arial"/>
                <a:cs typeface="Arial"/>
                <a:sym typeface="IBM Plex Mono"/>
              </a:rPr>
              <a:t> one backend / conn · JIT &amp; parallel off</a:t>
            </a:r>
            <a:endParaRPr sz="488">
              <a:solidFill>
                <a:schemeClr val="dk1"/>
              </a:solidFill>
              <a:latin typeface="Arial"/>
              <a:ea typeface="Arial"/>
              <a:cs typeface="Arial"/>
              <a:sym typeface="Arial"/>
            </a:endParaRPr>
          </a:p>
        </p:txBody>
      </p:sp>
      <p:sp>
        <p:nvSpPr>
          <p:cNvPr id="839" name="Google Shape;839;p38"/>
          <p:cNvSpPr txBox="1"/>
          <p:nvPr/>
        </p:nvSpPr>
        <p:spPr>
          <a:xfrm>
            <a:off x="4600804" y="3800704"/>
            <a:ext cx="1619403"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03 · PostgreSQL + pgbouncer</a:t>
            </a:r>
            <a:endParaRPr sz="488">
              <a:solidFill>
                <a:schemeClr val="dk1"/>
              </a:solidFill>
              <a:latin typeface="Arial"/>
              <a:ea typeface="Arial"/>
              <a:cs typeface="Arial"/>
              <a:sym typeface="Arial"/>
            </a:endParaRPr>
          </a:p>
        </p:txBody>
      </p:sp>
      <p:sp>
        <p:nvSpPr>
          <p:cNvPr id="840" name="Google Shape;840;p38"/>
          <p:cNvSpPr txBox="1"/>
          <p:nvPr/>
        </p:nvSpPr>
        <p:spPr>
          <a:xfrm>
            <a:off x="4600804" y="3919576"/>
            <a:ext cx="1727759" cy="190653"/>
          </a:xfrm>
          <a:prstGeom prst="rect">
            <a:avLst/>
          </a:prstGeom>
          <a:noFill/>
          <a:ln>
            <a:noFill/>
          </a:ln>
        </p:spPr>
        <p:txBody>
          <a:bodyPr spcFirstLastPara="1" wrap="square" lIns="0" tIns="0" rIns="0" bIns="0" anchor="ctr" anchorCtr="0">
            <a:noAutofit/>
          </a:bodyPr>
          <a:lstStyle/>
          <a:p>
            <a:pPr>
              <a:buClr>
                <a:srgbClr val="161615"/>
              </a:buClr>
              <a:buSzPts val="2850"/>
            </a:pPr>
            <a:r>
              <a:rPr lang="en-US" sz="1425" b="1">
                <a:solidFill>
                  <a:srgbClr val="161615"/>
                </a:solidFill>
                <a:latin typeface="Arial"/>
                <a:ea typeface="Arial"/>
                <a:cs typeface="Arial"/>
                <a:sym typeface="Arial"/>
              </a:rPr>
              <a:t>1.80 M </a:t>
            </a:r>
            <a:r>
              <a:rPr lang="en-US" sz="675" b="1">
                <a:solidFill>
                  <a:srgbClr val="706E6C"/>
                </a:solidFill>
                <a:latin typeface="Arial"/>
                <a:ea typeface="Arial"/>
                <a:cs typeface="Arial"/>
                <a:sym typeface="Arial"/>
              </a:rPr>
              <a:t>peak QPS</a:t>
            </a:r>
            <a:endParaRPr sz="1425">
              <a:solidFill>
                <a:schemeClr val="dk1"/>
              </a:solidFill>
              <a:latin typeface="Arial"/>
              <a:ea typeface="Arial"/>
              <a:cs typeface="Arial"/>
              <a:sym typeface="Arial"/>
            </a:endParaRPr>
          </a:p>
        </p:txBody>
      </p:sp>
      <p:sp>
        <p:nvSpPr>
          <p:cNvPr id="841" name="Google Shape;841;p38"/>
          <p:cNvSpPr txBox="1"/>
          <p:nvPr/>
        </p:nvSpPr>
        <p:spPr>
          <a:xfrm>
            <a:off x="4600804" y="4165092"/>
            <a:ext cx="1619403" cy="396850"/>
          </a:xfrm>
          <a:prstGeom prst="rect">
            <a:avLst/>
          </a:prstGeom>
          <a:noFill/>
          <a:ln>
            <a:noFill/>
          </a:ln>
        </p:spPr>
        <p:txBody>
          <a:bodyPr spcFirstLastPara="1" wrap="square" lIns="0" tIns="0" rIns="0" bIns="0" anchor="t" anchorCtr="0">
            <a:noAutofit/>
          </a:bodyPr>
          <a:lstStyle/>
          <a:p>
            <a:pPr>
              <a:lnSpc>
                <a:spcPct val="154974"/>
              </a:lnSpc>
              <a:buClr>
                <a:srgbClr val="161615"/>
              </a:buClr>
              <a:buSzPts val="975"/>
            </a:pPr>
            <a:r>
              <a:rPr lang="en-US" sz="488">
                <a:solidFill>
                  <a:srgbClr val="161615"/>
                </a:solidFill>
                <a:latin typeface="Arial"/>
                <a:ea typeface="Arial"/>
                <a:cs typeface="Arial"/>
                <a:sym typeface="IBM Plex Mono"/>
              </a:rPr>
              <a:t>mode:</a:t>
            </a:r>
            <a:r>
              <a:rPr lang="en-US" sz="488">
                <a:solidFill>
                  <a:srgbClr val="706E6C"/>
                </a:solidFill>
                <a:latin typeface="Arial"/>
                <a:ea typeface="Arial"/>
                <a:cs typeface="Arial"/>
                <a:sym typeface="IBM Plex Mono"/>
              </a:rPr>
              <a:t> transaction pool · 6 instances</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prepared:</a:t>
            </a:r>
            <a:r>
              <a:rPr lang="en-US" sz="488">
                <a:solidFill>
                  <a:srgbClr val="706E6C"/>
                </a:solidFill>
                <a:latin typeface="Arial"/>
                <a:ea typeface="Arial"/>
                <a:cs typeface="Arial"/>
                <a:sym typeface="IBM Plex Mono"/>
              </a:rPr>
              <a:t> max_prepared_statements 200</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pool:</a:t>
            </a:r>
            <a:r>
              <a:rPr lang="en-US" sz="488">
                <a:solidFill>
                  <a:srgbClr val="706E6C"/>
                </a:solidFill>
                <a:latin typeface="Arial"/>
                <a:ea typeface="Arial"/>
                <a:cs typeface="Arial"/>
                <a:sym typeface="IBM Plex Mono"/>
              </a:rPr>
              <a:t> default_pool_size 5 → fixed 1,050 conns</a:t>
            </a:r>
            <a:endParaRPr sz="488">
              <a:solidFill>
                <a:schemeClr val="dk1"/>
              </a:solidFill>
              <a:latin typeface="Arial"/>
              <a:ea typeface="Arial"/>
              <a:cs typeface="Arial"/>
              <a:sym typeface="Arial"/>
            </a:endParaRPr>
          </a:p>
        </p:txBody>
      </p:sp>
      <p:sp>
        <p:nvSpPr>
          <p:cNvPr id="842" name="Google Shape;842;p38"/>
          <p:cNvSpPr txBox="1"/>
          <p:nvPr/>
        </p:nvSpPr>
        <p:spPr>
          <a:xfrm>
            <a:off x="6601054" y="3800704"/>
            <a:ext cx="1714500" cy="81382"/>
          </a:xfrm>
          <a:prstGeom prst="rect">
            <a:avLst/>
          </a:prstGeom>
          <a:noFill/>
          <a:ln>
            <a:noFill/>
          </a:ln>
        </p:spPr>
        <p:txBody>
          <a:bodyPr spcFirstLastPara="1" wrap="square" lIns="0" tIns="0" rIns="0" bIns="0" anchor="ctr" anchorCtr="0">
            <a:noAutofit/>
          </a:bodyPr>
          <a:lstStyle/>
          <a:p>
            <a:pPr>
              <a:buClr>
                <a:srgbClr val="555555"/>
              </a:buClr>
              <a:buSzPts val="975"/>
            </a:pPr>
            <a:r>
              <a:rPr lang="en-US" sz="488">
                <a:solidFill>
                  <a:srgbClr val="555555"/>
                </a:solidFill>
                <a:latin typeface="Arial"/>
                <a:ea typeface="Arial"/>
                <a:cs typeface="Arial"/>
                <a:sym typeface="IBM Plex Mono"/>
              </a:rPr>
              <a:t>04 · Percona MySQL 8.4</a:t>
            </a:r>
            <a:endParaRPr sz="488">
              <a:solidFill>
                <a:schemeClr val="dk1"/>
              </a:solidFill>
              <a:latin typeface="Arial"/>
              <a:ea typeface="Arial"/>
              <a:cs typeface="Arial"/>
              <a:sym typeface="Arial"/>
            </a:endParaRPr>
          </a:p>
        </p:txBody>
      </p:sp>
      <p:sp>
        <p:nvSpPr>
          <p:cNvPr id="843" name="Google Shape;843;p38"/>
          <p:cNvSpPr txBox="1"/>
          <p:nvPr/>
        </p:nvSpPr>
        <p:spPr>
          <a:xfrm>
            <a:off x="6601054" y="3919576"/>
            <a:ext cx="1714500" cy="190653"/>
          </a:xfrm>
          <a:prstGeom prst="rect">
            <a:avLst/>
          </a:prstGeom>
          <a:noFill/>
          <a:ln>
            <a:noFill/>
          </a:ln>
        </p:spPr>
        <p:txBody>
          <a:bodyPr spcFirstLastPara="1" wrap="square" lIns="0" tIns="0" rIns="0" bIns="0" anchor="ctr" anchorCtr="0">
            <a:noAutofit/>
          </a:bodyPr>
          <a:lstStyle/>
          <a:p>
            <a:pPr>
              <a:buClr>
                <a:srgbClr val="161615"/>
              </a:buClr>
              <a:buSzPts val="2850"/>
            </a:pPr>
            <a:r>
              <a:rPr lang="en-US" sz="1425" b="1">
                <a:solidFill>
                  <a:srgbClr val="161615"/>
                </a:solidFill>
                <a:latin typeface="Arial"/>
                <a:ea typeface="Arial"/>
                <a:cs typeface="Arial"/>
                <a:sym typeface="Arial"/>
              </a:rPr>
              <a:t>1.57 M </a:t>
            </a:r>
            <a:r>
              <a:rPr lang="en-US" sz="675" b="1">
                <a:solidFill>
                  <a:srgbClr val="706E6C"/>
                </a:solidFill>
                <a:latin typeface="Arial"/>
                <a:ea typeface="Arial"/>
                <a:cs typeface="Arial"/>
                <a:sym typeface="Arial"/>
              </a:rPr>
              <a:t>peak QPS</a:t>
            </a:r>
            <a:endParaRPr sz="1425">
              <a:solidFill>
                <a:schemeClr val="dk1"/>
              </a:solidFill>
              <a:latin typeface="Arial"/>
              <a:ea typeface="Arial"/>
              <a:cs typeface="Arial"/>
              <a:sym typeface="Arial"/>
            </a:endParaRPr>
          </a:p>
        </p:txBody>
      </p:sp>
      <p:sp>
        <p:nvSpPr>
          <p:cNvPr id="844" name="Google Shape;844;p38"/>
          <p:cNvSpPr txBox="1"/>
          <p:nvPr/>
        </p:nvSpPr>
        <p:spPr>
          <a:xfrm>
            <a:off x="6601054" y="4165092"/>
            <a:ext cx="1714500" cy="301752"/>
          </a:xfrm>
          <a:prstGeom prst="rect">
            <a:avLst/>
          </a:prstGeom>
          <a:noFill/>
          <a:ln>
            <a:noFill/>
          </a:ln>
        </p:spPr>
        <p:txBody>
          <a:bodyPr spcFirstLastPara="1" wrap="square" lIns="0" tIns="0" rIns="0" bIns="0" anchor="t" anchorCtr="0">
            <a:noAutofit/>
          </a:bodyPr>
          <a:lstStyle/>
          <a:p>
            <a:pPr>
              <a:lnSpc>
                <a:spcPct val="154974"/>
              </a:lnSpc>
              <a:buClr>
                <a:srgbClr val="161615"/>
              </a:buClr>
              <a:buSzPts val="975"/>
            </a:pPr>
            <a:r>
              <a:rPr lang="en-US" sz="488">
                <a:solidFill>
                  <a:srgbClr val="161615"/>
                </a:solidFill>
                <a:latin typeface="Arial"/>
                <a:ea typeface="Arial"/>
                <a:cs typeface="Arial"/>
                <a:sym typeface="IBM Plex Mono"/>
              </a:rPr>
              <a:t>thread handling:</a:t>
            </a:r>
            <a:r>
              <a:rPr lang="en-US" sz="488">
                <a:solidFill>
                  <a:srgbClr val="706E6C"/>
                </a:solidFill>
                <a:latin typeface="Arial"/>
                <a:ea typeface="Arial"/>
                <a:cs typeface="Arial"/>
                <a:sym typeface="IBM Plex Mono"/>
              </a:rPr>
              <a:t> pool-of-threads</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thread_pool_size:</a:t>
            </a:r>
            <a:r>
              <a:rPr lang="en-US" sz="488">
                <a:solidFill>
                  <a:srgbClr val="706E6C"/>
                </a:solidFill>
                <a:latin typeface="Arial"/>
                <a:ea typeface="Arial"/>
                <a:cs typeface="Arial"/>
                <a:sym typeface="IBM Plex Mono"/>
              </a:rPr>
              <a:t> 96</a:t>
            </a:r>
            <a:endParaRPr sz="488">
              <a:solidFill>
                <a:schemeClr val="dk1"/>
              </a:solidFill>
              <a:latin typeface="Arial"/>
              <a:ea typeface="Arial"/>
              <a:cs typeface="Arial"/>
              <a:sym typeface="Arial"/>
            </a:endParaRPr>
          </a:p>
          <a:p>
            <a:pPr>
              <a:lnSpc>
                <a:spcPct val="154974"/>
              </a:lnSpc>
              <a:buClr>
                <a:srgbClr val="161615"/>
              </a:buClr>
              <a:buSzPts val="975"/>
            </a:pPr>
            <a:r>
              <a:rPr lang="en-US" sz="488">
                <a:solidFill>
                  <a:srgbClr val="161615"/>
                </a:solidFill>
                <a:latin typeface="Arial"/>
                <a:ea typeface="Arial"/>
                <a:cs typeface="Arial"/>
                <a:sym typeface="IBM Plex Mono"/>
              </a:rPr>
              <a:t>buffer_pool:</a:t>
            </a:r>
            <a:r>
              <a:rPr lang="en-US" sz="488">
                <a:solidFill>
                  <a:srgbClr val="706E6C"/>
                </a:solidFill>
                <a:latin typeface="Arial"/>
                <a:ea typeface="Arial"/>
                <a:cs typeface="Arial"/>
                <a:sym typeface="IBM Plex Mono"/>
              </a:rPr>
              <a:t> 8 GiB · conns multiplexed</a:t>
            </a:r>
            <a:endParaRPr sz="488">
              <a:solidFill>
                <a:schemeClr val="dk1"/>
              </a:solidFill>
              <a:latin typeface="Arial"/>
              <a:ea typeface="Arial"/>
              <a:cs typeface="Arial"/>
              <a:sym typeface="Arial"/>
            </a:endParaRPr>
          </a:p>
        </p:txBody>
      </p:sp>
      <p:pic>
        <p:nvPicPr>
          <p:cNvPr id="9040" name="Readyset standard logo 40"/>
          <p:cNvPicPr>
            <a:picLocks noChangeAspect="1"/>
          </p:cNvPicPr>
          <p:nvPr/>
        </p:nvPicPr>
        <p:blipFill>
          <a:blip r:embed="rId4"/>
          <a:stretch/>
        </p:blipFill>
        <p:spPr>
          <a:xfrm>
            <a:off x="457200" y="239275"/>
            <a:ext cx="952500" cy="216776"/>
          </a:xfrm>
          <a:prstGeom prst="rect">
            <a:avLst/>
          </a:prstGeom>
        </p:spPr>
      </p:pic>
      <p:sp>
        <p:nvSpPr>
          <p:cNvPr id="9540"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71616"/>
        </a:solidFill>
        <a:effectLst/>
      </p:bgPr>
    </p:bg>
    <p:spTree>
      <p:nvGrpSpPr>
        <p:cNvPr id="1" name=""/>
        <p:cNvGrpSpPr/>
        <p:nvPr/>
      </p:nvGrpSpPr>
      <p:grpSpPr>
        <a:xfrm>
          <a:off x="0" y="0"/>
          <a:ext cx="0" cy="0"/>
          <a:chOff x="0" y="0"/>
          <a:chExt cx="0" cy="0"/>
        </a:xfrm>
      </p:grpSpPr>
      <p:pic>
        <p:nvPicPr>
          <p:cNvPr id="8" name="Readyset logo" descr="Readyset logo"/>
          <p:cNvPicPr>
            <a:picLocks noChangeAspect="1"/>
          </p:cNvPicPr>
          <p:nvPr/>
        </p:nvPicPr>
        <p:blipFill>
          <a:blip r:embed="rId3"/>
          <a:stretch/>
        </p:blipFill>
        <p:spPr>
          <a:xfrm>
            <a:off x="457200" y="238132"/>
            <a:ext cx="952500" cy="216776"/>
          </a:xfrm>
          <a:prstGeom prst="rect">
            <a:avLst/>
          </a:prstGeom>
        </p:spPr>
      </p:pic>
      <p:sp>
        <p:nvSpPr>
          <p:cNvPr id="3" name="Slide title">
            <a:extLst>
              <a:ext uri="{FF2B5EF4-FFF2-40B4-BE49-F238E27FC236}">
                <a16:creationId xmlns:a16="http://schemas.microsoft.com/office/drawing/2014/main" id="{CF55EE50-5693-4069-BFA2-A6232EDADFFA}"/>
              </a:ext>
            </a:extLst>
          </p:cNvPr>
          <p:cNvSpPr>
            <a:spLocks noGrp="1"/>
          </p:cNvSpPr>
          <p:nvPr/>
        </p:nvSpPr>
        <p:spPr>
          <a:xfrm>
            <a:off x="457200" y="1295400"/>
            <a:ext cx="8096250" cy="971550"/>
          </a:xfrm>
          <a:prstGeom prst="rect">
            <a:avLst/>
          </a:prstGeom>
          <a:noFill/>
          <a:ln w="0">
            <a:noFill/>
          </a:ln>
        </p:spPr>
        <p:txBody>
          <a:bodyPr wrap="none" lIns="0" tIns="0" rIns="0" bIns="0">
            <a:noAutofit/>
          </a:bodyPr>
          <a:lstStyle/>
          <a:p>
            <a:pPr>
              <a:lnSpc>
                <a:spcPct val="110000"/>
              </a:lnSpc>
              <a:buNone/>
              <a:defRPr sz="5700" b="1">
                <a:solidFill>
                  <a:srgbClr val="EDEDEC"/>
                </a:solidFill>
                <a:latin typeface="Arial"/>
                <a:ea typeface="Arial"/>
                <a:cs typeface="Arial"/>
              </a:defRPr>
            </a:pPr>
            <a:r>
              <a:rPr sz="5700" b="1">
                <a:solidFill>
                  <a:srgbClr val="EDEDEC"/>
                </a:solidFill>
                <a:latin typeface="Arial"/>
                <a:ea typeface="Arial"/>
                <a:cs typeface="Arial"/>
              </a:rPr>
              <a:t>Thank you.</a:t>
            </a:r>
          </a:p>
        </p:txBody>
      </p:sp>
      <p:sp>
        <p:nvSpPr>
          <p:cNvPr id="4" name="text-32">
            <a:extLst>
              <a:ext uri="{FF2B5EF4-FFF2-40B4-BE49-F238E27FC236}">
                <a16:creationId xmlns:a16="http://schemas.microsoft.com/office/drawing/2014/main" id="{E4810960-23E2-421F-A9B9-B538FD40DDA5}"/>
              </a:ext>
            </a:extLst>
          </p:cNvPr>
          <p:cNvSpPr>
            <a:spLocks noGrp="1"/>
          </p:cNvSpPr>
          <p:nvPr/>
        </p:nvSpPr>
        <p:spPr>
          <a:xfrm>
            <a:off x="495300" y="2457450"/>
            <a:ext cx="7810500" cy="609600"/>
          </a:xfrm>
          <a:prstGeom prst="rect">
            <a:avLst/>
          </a:prstGeom>
          <a:noFill/>
          <a:ln w="0">
            <a:noFill/>
          </a:ln>
        </p:spPr>
        <p:txBody>
          <a:bodyPr wrap="none" lIns="0" tIns="0" rIns="0" bIns="0">
            <a:noAutofit/>
          </a:bodyPr>
          <a:lstStyle/>
          <a:p>
            <a:pPr>
              <a:lnSpc>
                <a:spcPct val="110000"/>
              </a:lnSpc>
              <a:buNone/>
              <a:defRPr sz="3450" b="0">
                <a:solidFill>
                  <a:srgbClr val="F4F4F4"/>
                </a:solidFill>
                <a:latin typeface="Arial"/>
                <a:ea typeface="Arial"/>
                <a:cs typeface="Arial"/>
              </a:defRPr>
            </a:pPr>
            <a:r>
              <a:rPr sz="3450" b="0">
                <a:solidFill>
                  <a:srgbClr val="F4F4F4"/>
                </a:solidFill>
                <a:latin typeface="Arial"/>
                <a:ea typeface="Arial"/>
                <a:cs typeface="Arial"/>
              </a:rPr>
              <a:t>Questions?</a:t>
            </a:r>
          </a:p>
        </p:txBody>
      </p:sp>
      <p:sp>
        <p:nvSpPr>
          <p:cNvPr id="5" name="text-33">
            <a:extLst>
              <a:ext uri="{FF2B5EF4-FFF2-40B4-BE49-F238E27FC236}">
                <a16:creationId xmlns:a16="http://schemas.microsoft.com/office/drawing/2014/main" id="{5885917F-6C8A-4642-BA52-8C09EE33FDA2}"/>
              </a:ext>
            </a:extLst>
          </p:cNvPr>
          <p:cNvSpPr>
            <a:spLocks noGrp="1"/>
          </p:cNvSpPr>
          <p:nvPr/>
        </p:nvSpPr>
        <p:spPr>
          <a:xfrm>
            <a:off x="495300" y="3476625"/>
            <a:ext cx="7810500" cy="361950"/>
          </a:xfrm>
          <a:prstGeom prst="rect">
            <a:avLst/>
          </a:prstGeom>
          <a:noFill/>
          <a:ln w="0">
            <a:noFill/>
          </a:ln>
        </p:spPr>
        <p:txBody>
          <a:bodyPr wrap="none" lIns="0" tIns="0" rIns="0" bIns="0">
            <a:noAutofit/>
          </a:bodyPr>
          <a:lstStyle/>
          <a:p>
            <a:pPr>
              <a:lnSpc>
                <a:spcPct val="110000"/>
              </a:lnSpc>
              <a:buNone/>
              <a:defRPr sz="2100" b="0">
                <a:solidFill>
                  <a:srgbClr val="EDEDEC"/>
                </a:solidFill>
                <a:latin typeface="Arial"/>
                <a:ea typeface="Arial"/>
                <a:cs typeface="Arial"/>
              </a:defRPr>
            </a:pPr>
            <a:r>
              <a:rPr sz="2100" b="0" dirty="0" err="1">
                <a:solidFill>
                  <a:srgbClr val="EDEDEC"/>
                </a:solidFill>
                <a:latin typeface="Arial"/>
                <a:ea typeface="Arial"/>
                <a:cs typeface="Arial"/>
              </a:rPr>
              <a:t>readyset.io</a:t>
            </a:r>
            <a:endParaRPr sz="2100" b="0" dirty="0">
              <a:solidFill>
                <a:srgbClr val="EDEDEC"/>
              </a:solidFill>
              <a:latin typeface="Arial"/>
              <a:ea typeface="Arial"/>
              <a:cs typeface="Arial"/>
            </a:endParaRPr>
          </a:p>
        </p:txBody>
      </p:sp>
      <p:sp>
        <p:nvSpPr>
          <p:cNvPr id="6" name="text-34">
            <a:extLst>
              <a:ext uri="{FF2B5EF4-FFF2-40B4-BE49-F238E27FC236}">
                <a16:creationId xmlns:a16="http://schemas.microsoft.com/office/drawing/2014/main" id="{F7C1AE75-BF09-4783-AFD7-0A04C84C1ED8}"/>
              </a:ext>
            </a:extLst>
          </p:cNvPr>
          <p:cNvSpPr>
            <a:spLocks noGrp="1"/>
          </p:cNvSpPr>
          <p:nvPr/>
        </p:nvSpPr>
        <p:spPr>
          <a:xfrm>
            <a:off x="495300" y="3905250"/>
            <a:ext cx="7810500" cy="266700"/>
          </a:xfrm>
          <a:prstGeom prst="rect">
            <a:avLst/>
          </a:prstGeom>
          <a:noFill/>
          <a:ln w="0">
            <a:noFill/>
          </a:ln>
        </p:spPr>
        <p:txBody>
          <a:bodyPr wrap="none" lIns="0" tIns="0" rIns="0" bIns="0">
            <a:noAutofit/>
          </a:bodyPr>
          <a:lstStyle/>
          <a:p>
            <a:pPr>
              <a:lnSpc>
                <a:spcPct val="110000"/>
              </a:lnSpc>
              <a:buNone/>
              <a:defRPr sz="1725" b="0">
                <a:solidFill>
                  <a:srgbClr val="EDEDEC"/>
                </a:solidFill>
                <a:latin typeface="Arial"/>
                <a:ea typeface="Arial"/>
                <a:cs typeface="Arial"/>
              </a:defRPr>
            </a:pPr>
            <a:r>
              <a:rPr lang="en-BR" sz="1725" dirty="0">
                <a:solidFill>
                  <a:srgbClr val="EDEDEC"/>
                </a:solidFill>
                <a:latin typeface="Arial"/>
                <a:ea typeface="Arial"/>
                <a:cs typeface="Arial"/>
              </a:rPr>
              <a:t>vinicius@readyset.io</a:t>
            </a:r>
            <a:br>
              <a:rPr lang="en-BR" sz="1725" dirty="0">
                <a:solidFill>
                  <a:srgbClr val="EDEDEC"/>
                </a:solidFill>
                <a:latin typeface="Arial"/>
                <a:ea typeface="Arial"/>
                <a:cs typeface="Arial"/>
              </a:rPr>
            </a:br>
            <a:r>
              <a:rPr lang="en-BR" sz="1725" dirty="0">
                <a:solidFill>
                  <a:srgbClr val="EDEDEC"/>
                </a:solidFill>
                <a:latin typeface="Arial"/>
                <a:ea typeface="Arial"/>
                <a:cs typeface="Arial"/>
              </a:rPr>
              <a:t>marcelo@readyset.io</a:t>
            </a:r>
            <a:endParaRPr sz="1725" b="0" dirty="0">
              <a:solidFill>
                <a:srgbClr val="EDEDEC"/>
              </a:solidFill>
              <a:latin typeface="Arial"/>
              <a:ea typeface="Arial"/>
              <a:cs typeface="Arial"/>
            </a:endParaRPr>
          </a:p>
        </p:txBody>
      </p:sp>
      <p:sp>
        <p:nvSpPr>
          <p:cNvPr id="9541" name="Page number">
            <a:extLst>
              <a:ext uri="{FF2B5EF4-FFF2-40B4-BE49-F238E27FC236}">
                <a16:creationId xmlns:a16="http://schemas.microsoft.com/office/drawing/2014/main" id="{EF057CFF-B2B3-473D-923A-454C53CB744D}"/>
              </a:ext>
            </a:extLst>
          </p:cNvPr>
          <p:cNvSpPr>
            <a:spLocks noGrp="1"/>
          </p:cNvSpPr>
          <p:nvPr/>
        </p:nvSpPr>
        <p:spPr>
          <a:xfrm>
            <a:off x="8353425" y="4838700"/>
            <a:ext cx="333375" cy="203835"/>
          </a:xfrm>
          <a:prstGeom prst="rect">
            <a:avLst/>
          </a:prstGeom>
          <a:noFill/>
          <a:ln w="0">
            <a:noFill/>
          </a:ln>
        </p:spPr>
        <p:txBody>
          <a:bodyPr wrap="square" lIns="0" tIns="0" rIns="0" bIns="0" anchor="t">
            <a:noAutofit/>
          </a:bodyPr>
          <a:lstStyle/>
          <a:p>
            <a:pPr algn="l">
              <a:buNone/>
              <a:defRPr sz="900" b="0">
                <a:solidFill>
                  <a:srgbClr val="777777"/>
                </a:solidFill>
                <a:latin typeface="Arial"/>
                <a:ea typeface="Arial"/>
                <a:cs typeface="Arial"/>
              </a:defRPr>
            </a:pPr>
            <a:r>
              <a:rPr sz="900" b="0">
                <a:solidFill>
                  <a:srgbClr val="777777"/>
                </a:solidFill>
                <a:latin typeface="Arial"/>
                <a:ea typeface="Arial"/>
                <a:cs typeface="Arial"/>
              </a:rPr>
              <a:t>41</a:t>
            </a:r>
          </a:p>
        </p:txBody>
      </p:sp>
    </p:spTree>
    <p:extLst>
      <p:ext uri="{BB962C8B-B14F-4D97-AF65-F5344CB8AC3E}">
        <p14:creationId xmlns:p14="http://schemas.microsoft.com/office/powerpoint/2010/main" val="1213194415"/>
      </p:ext>
    </p:extLst>
  </p:cSld>
  <p:clrMapOvr>
    <a:masterClrMapping/>
  </p:clrMapOvr>
  <p:transition>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Calibri Light"/>
        <a:cs typeface="Calibri Light"/>
      </a:majorFont>
      <a:minorFont>
        <a:latin typeface="Arial"/>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Calibri Light"/>
        <a:cs typeface="Calibri Light"/>
      </a:majorFont>
      <a:minorFont>
        <a:latin typeface="Arial"/>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2359</TotalTime>
  <Words>9401</Words>
  <Application>Microsoft Macintosh PowerPoint</Application>
  <DocSecurity>0</DocSecurity>
  <PresentationFormat>On-screen Show (16:9)</PresentationFormat>
  <Paragraphs>923</Paragraphs>
  <Slides>41</Slides>
  <Notes>41</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Inter</vt:lpstr>
      <vt:lpstr>ChatGPT</vt:lpstr>
      <vt:lpstr>PowerPoint Presentation</vt:lpstr>
      <vt:lpstr>About 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Vinicius Grippa</cp:lastModifiedBy>
  <cp:revision>8</cp:revision>
  <dcterms:created xsi:type="dcterms:W3CDTF">2026-09-23T22:36:57Z</dcterms:created>
  <dcterms:modified xsi:type="dcterms:W3CDTF">2026-09-30T13:04:15Z</dcterms:modified>
</cp:coreProperties>
</file>